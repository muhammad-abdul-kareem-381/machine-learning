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880" r:id="rId3"/>
    <p:sldId id="881" r:id="rId4"/>
    <p:sldId id="882" r:id="rId5"/>
    <p:sldId id="778" r:id="rId6"/>
    <p:sldId id="832" r:id="rId7"/>
    <p:sldId id="777" r:id="rId8"/>
    <p:sldId id="833" r:id="rId9"/>
    <p:sldId id="779" r:id="rId10"/>
    <p:sldId id="883" r:id="rId11"/>
    <p:sldId id="884" r:id="rId12"/>
    <p:sldId id="780" r:id="rId13"/>
    <p:sldId id="885" r:id="rId14"/>
    <p:sldId id="886" r:id="rId15"/>
    <p:sldId id="887" r:id="rId16"/>
    <p:sldId id="888" r:id="rId17"/>
    <p:sldId id="834" r:id="rId18"/>
    <p:sldId id="835" r:id="rId19"/>
    <p:sldId id="836" r:id="rId20"/>
    <p:sldId id="83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7T06:38:53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1516.99072" units="1/cm"/>
          <inkml:channelProperty channel="Y" name="resolution" value="2427.18506" units="1/cm"/>
          <inkml:channelProperty channel="F" name="resolution" value="2.84167" units="1/cm"/>
        </inkml:channelProperties>
      </inkml:inkSource>
      <inkml:timestamp xml:id="ts0" timeString="2020-04-19T18:35:13.8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4221 9824 90,'10'-9'56,"-7"0"-55,12-3 2,9-6 10,-6 5-10,1 10-3,-5 0-1,4-2-32,4 6-36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D70C-DE1D-BBAB-9361-ADEA33E2C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66D9A-8CBB-FA6A-78ED-42085BACF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FB215-3082-058F-BEE3-E5711A0F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2942-0DAF-B478-5306-8EF3F865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A99C-B3FC-62C7-E645-6B2CE9EE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DED7-3485-65DC-CA25-3C316238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3FBB-D99D-7BE7-3B6E-05867CD4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6F8F-B9B2-EFCE-29B2-213E4204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FD73-26F5-823A-04DF-7872E066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86F6-497C-603F-160F-6C0420AB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6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C48D-87B4-AEF5-C6F0-D0D6BB6D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952F-1ECD-CCEF-FC90-8CD159CF4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E934A-6126-77E0-D600-E6372940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EE73-4219-159F-8F58-819D6195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C883-2069-169C-D55A-C10F920B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31D1-CF01-8231-C80D-F89A1AFF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2C2C-DC35-AAF3-DA8D-F09BA7E96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A6F5-82B4-1C22-1AE9-237C7D237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6576-AECE-73AE-2C87-ADADD695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F6015-7D5B-B10E-6E77-7D49ADA1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30CF3-39E6-C462-FFB3-0D7EF467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88CC-EA4E-28D6-5FB3-57DC76E1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39EA-F84C-068F-D748-7F49093B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C6A66-5E05-F672-3724-CB7727D93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BB2BC-4600-8BA9-AFCC-B5087BA4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C9557-4595-3FC5-3F66-76FAB4C3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BAE91-F961-7F27-B9A8-C9FDAC76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A114-4E71-5941-39F8-E70CD2D1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4F39-9C59-CFF4-D732-FA89796A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07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2163-CF26-680A-4798-5D7BAC68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EC3A6-8FAA-C613-0E3B-3C11AD88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E8510-2BE0-94EC-32FF-E2E70C69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D2DC9-DCF9-6C20-82C2-4A331733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9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8C64F-9258-546D-F012-52C1CC9A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44758-693C-0EA4-5B5F-2FE865E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8911-32B3-0A7F-6EF3-1D811CB1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C985-FA94-CB44-F143-E8D4C88E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7E56-FF49-9942-0608-73E0C05D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C53DB-443C-0446-CD80-3248D970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A8F9E-AED1-2CD2-4E5A-70C31B5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20489-AF86-B721-B798-83D74C0A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EDABA-90A6-6550-3A60-72D1B509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3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E4B0-598D-CBBA-632D-5AB7BA62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02C20-C7F2-80FB-2FFB-D7412BD11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63B59-D802-924C-79D5-0D25EA29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9C810-C6B9-4F78-97F1-0502AFF6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D8317-D489-62E4-6449-06004FB2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C758B-33F5-BCB6-0064-522FBA1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F58C-CC75-BED8-15B2-D0CEE264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9A298-D4BE-2106-7DE7-0DDE0933C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29D38-471A-608B-CA36-8A563CE7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5565-3CBD-2F72-F8F4-0B2F60D8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FB3B-7E5B-3128-D06E-2E0AA41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9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F26EB-C4D9-3D58-B086-6964A9CB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28E8B-3E52-7152-9041-7B590CB98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0856-A738-15B9-1645-B1759572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FC79F-3F61-B1D0-5739-F19B5E7F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F06A-5077-53D5-70EE-203DC37A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8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404B3-A0E9-8153-01DC-DDD79C33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BDFA-1EE3-CC75-CA51-9400E5DA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E30E8-888A-E885-B12A-9137AEEBE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0E5E-E653-4B41-AFA5-CC5D140B1F8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D570D-E04A-3378-7309-BC9A6E72D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BA85-964F-9374-DB91-1FF72226E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8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4233-1EBC-CED6-E691-DBFF0DDF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2195"/>
            <a:ext cx="9144000" cy="2387600"/>
          </a:xfrm>
        </p:spPr>
        <p:txBody>
          <a:bodyPr/>
          <a:lstStyle/>
          <a:p>
            <a:r>
              <a:rPr lang="en-US"/>
              <a:t>Machine Learning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ED69C-495E-33A8-8972-479097975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38266"/>
            <a:ext cx="9144000" cy="707203"/>
          </a:xfrm>
        </p:spPr>
        <p:txBody>
          <a:bodyPr>
            <a:normAutofit/>
          </a:bodyPr>
          <a:lstStyle/>
          <a:p>
            <a:r>
              <a:rPr lang="en-US" sz="3200" dirty="0"/>
              <a:t>Lecture 05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14:cNvPr>
              <p14:cNvContentPartPr/>
              <p14:nvPr/>
            </p14:nvContentPartPr>
            <p14:xfrm>
              <a:off x="6158876" y="4119257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9876" y="411025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66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0F98-94A6-3930-7135-55CA6E7E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Gradient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E0323-FE70-AD8A-74D2-972A9E7E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Batch Gradient Descent</a:t>
            </a:r>
          </a:p>
          <a:p>
            <a:r>
              <a:rPr lang="en-GB" dirty="0"/>
              <a:t>Batch gradient descent updates the model’s parameters using the gradient of the entire training set. </a:t>
            </a:r>
          </a:p>
          <a:p>
            <a:r>
              <a:rPr lang="en-GB" dirty="0"/>
              <a:t>It calculates the average gradient of the cost function for all the training examples and updates the parameters in the opposite direction. </a:t>
            </a:r>
          </a:p>
          <a:p>
            <a:r>
              <a:rPr lang="en-GB" dirty="0"/>
              <a:t>Batch gradient descent guarantees convergence to the global minimum but can be computationally expensive and slow for large datasets.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0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D769-6FC3-E82D-CE25-2EE1474E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Gradient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841D-80CB-7B29-77E5-EC120A90D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Stochastic Gradient Descent </a:t>
            </a:r>
          </a:p>
          <a:p>
            <a:r>
              <a:rPr lang="en-GB" dirty="0"/>
              <a:t>Stochastic gradient descent updates the model’s parameters using the gradient of one training example at a time. It randomly selects a training dataset example, computes the gradient of the cost function for that example, and updates the parameters in the opposite direction. </a:t>
            </a:r>
          </a:p>
          <a:p>
            <a:r>
              <a:rPr lang="en-GB" dirty="0"/>
              <a:t>Stochastic gradient descent is computationally efficient and can converge faster than batch gradient descent. </a:t>
            </a:r>
          </a:p>
          <a:p>
            <a:r>
              <a:rPr lang="en-GB" dirty="0"/>
              <a:t>However, it can be noisy and may not converge to the global minimum.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3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D8A3-D6B3-3363-818A-17B97345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Gradient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8D389-1E74-9998-3005-0D4BED649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Mini-batch Gradient Descent </a:t>
            </a:r>
          </a:p>
          <a:p>
            <a:r>
              <a:rPr lang="en-GB" dirty="0"/>
              <a:t>Mini-batch gradient descent updates the model’s parameters using the gradient of a small batch size of the training dataset, known as a mini-batch. </a:t>
            </a:r>
          </a:p>
          <a:p>
            <a:r>
              <a:rPr lang="en-GB" dirty="0"/>
              <a:t>It calculates the average gradient of the cost function for the mini-batch and updates the parameters in the opposite direction. </a:t>
            </a:r>
          </a:p>
          <a:p>
            <a:r>
              <a:rPr lang="en-GB" dirty="0"/>
              <a:t>The mini-batch gradient descent algorithm combines the advantages of batch and stochastic gradient descent. </a:t>
            </a:r>
          </a:p>
          <a:p>
            <a:r>
              <a:rPr lang="en-GB" dirty="0"/>
              <a:t>It is the most commonly used method in practice. It is computationally efficient and less noisy than stochastic gradient descent while still being able to converge to a good solution.</a:t>
            </a:r>
          </a:p>
        </p:txBody>
      </p:sp>
    </p:spTree>
    <p:extLst>
      <p:ext uri="{BB962C8B-B14F-4D97-AF65-F5344CB8AC3E}">
        <p14:creationId xmlns:p14="http://schemas.microsoft.com/office/powerpoint/2010/main" val="134024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3FDB-1D69-858A-2156-AF83EE8F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Multiple Features</a:t>
            </a:r>
            <a:endParaRPr lang="de-D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D55CD1-4691-C2C9-6BD9-6B24B9A941A5}"/>
              </a:ext>
            </a:extLst>
          </p:cNvPr>
          <p:cNvGraphicFramePr>
            <a:graphicFrameLocks noGrp="1"/>
          </p:cNvGraphicFramePr>
          <p:nvPr/>
        </p:nvGraphicFramePr>
        <p:xfrm>
          <a:off x="1567543" y="2250169"/>
          <a:ext cx="81198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75756865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704040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378587004"/>
                    </a:ext>
                  </a:extLst>
                </a:gridCol>
                <a:gridCol w="2205446">
                  <a:extLst>
                    <a:ext uri="{9D8B030D-6E8A-4147-A177-3AD203B41FA5}">
                      <a16:colId xmlns:a16="http://schemas.microsoft.com/office/drawing/2014/main" val="4174281742"/>
                    </a:ext>
                  </a:extLst>
                </a:gridCol>
                <a:gridCol w="1250986">
                  <a:extLst>
                    <a:ext uri="{9D8B030D-6E8A-4147-A177-3AD203B41FA5}">
                      <a16:colId xmlns:a16="http://schemas.microsoft.com/office/drawing/2014/main" val="208550018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of Plot</a:t>
                      </a:r>
                    </a:p>
                    <a:p>
                      <a:pPr algn="ctr"/>
                      <a:r>
                        <a:rPr lang="en-US" b="0" dirty="0"/>
                        <a:t>x</a:t>
                      </a:r>
                      <a:r>
                        <a:rPr lang="en-US" b="0" baseline="-25000" dirty="0"/>
                        <a:t>1</a:t>
                      </a:r>
                      <a:endParaRPr lang="de-DE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Locality Value</a:t>
                      </a:r>
                    </a:p>
                    <a:p>
                      <a:pPr algn="ctr"/>
                      <a:r>
                        <a:rPr lang="en-US" b="0" dirty="0"/>
                        <a:t>x</a:t>
                      </a:r>
                      <a:r>
                        <a:rPr lang="en-US" b="0" baseline="-25000" dirty="0"/>
                        <a:t>2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Facing Park</a:t>
                      </a:r>
                    </a:p>
                    <a:p>
                      <a:pPr algn="ctr"/>
                      <a:r>
                        <a:rPr lang="en-US" b="0" dirty="0"/>
                        <a:t>x</a:t>
                      </a:r>
                      <a:r>
                        <a:rPr lang="en-US" b="0" baseline="-25000" dirty="0"/>
                        <a:t>3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Distance from School</a:t>
                      </a:r>
                    </a:p>
                    <a:p>
                      <a:pPr algn="ctr"/>
                      <a:r>
                        <a:rPr lang="en-US" b="0" dirty="0"/>
                        <a:t>x</a:t>
                      </a:r>
                      <a:r>
                        <a:rPr lang="en-US" b="0" baseline="-25000" dirty="0"/>
                        <a:t>4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  <a:p>
                      <a:pPr algn="ctr"/>
                      <a:r>
                        <a:rPr lang="en-US" b="0" dirty="0"/>
                        <a:t>y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4739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de-DE" sz="2800" b="0" i="0" dirty="0">
                          <a:solidFill>
                            <a:srgbClr val="21212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1.0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27303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de-DE" sz="2800" b="0" i="0" dirty="0">
                          <a:solidFill>
                            <a:srgbClr val="21212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0.9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2.5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20461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de-DE" sz="2800" b="0" i="0" dirty="0">
                          <a:solidFill>
                            <a:srgbClr val="21212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1.9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35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5919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de-DE" sz="2800" b="0" i="0" dirty="0">
                          <a:solidFill>
                            <a:srgbClr val="21212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…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…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…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b="0" i="0" dirty="0">
                          <a:solidFill>
                            <a:srgbClr val="21212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69084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4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10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5</a:t>
                      </a:r>
                      <a:endParaRPr lang="de-DE" sz="2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17803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C04A339-45FE-19ED-6054-9E1C0755C6A8}"/>
              </a:ext>
            </a:extLst>
          </p:cNvPr>
          <p:cNvGrpSpPr/>
          <p:nvPr/>
        </p:nvGrpSpPr>
        <p:grpSpPr>
          <a:xfrm>
            <a:off x="9786257" y="2873829"/>
            <a:ext cx="838200" cy="555171"/>
            <a:chOff x="9797143" y="2873829"/>
            <a:chExt cx="827314" cy="55517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8FA41AC3-A7C2-8E51-8A8D-21C3C01D4C37}"/>
                </a:ext>
              </a:extLst>
            </p:cNvPr>
            <p:cNvSpPr/>
            <p:nvPr/>
          </p:nvSpPr>
          <p:spPr>
            <a:xfrm>
              <a:off x="9797143" y="2873829"/>
              <a:ext cx="76200" cy="555171"/>
            </a:xfrm>
            <a:prstGeom prst="righ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FD3164-5A4F-79C2-2C24-3A8628D14B38}"/>
                </a:ext>
              </a:extLst>
            </p:cNvPr>
            <p:cNvSpPr txBox="1"/>
            <p:nvPr/>
          </p:nvSpPr>
          <p:spPr>
            <a:xfrm>
              <a:off x="10003971" y="2873829"/>
              <a:ext cx="620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x</a:t>
              </a:r>
              <a:r>
                <a:rPr lang="en-US" sz="2400" b="1" baseline="30000" dirty="0"/>
                <a:t>(1)</a:t>
              </a:r>
              <a:endParaRPr lang="de-DE" sz="2400" b="1" baseline="300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6358A-6021-1CE6-43B0-7D1F60135CB8}"/>
              </a:ext>
            </a:extLst>
          </p:cNvPr>
          <p:cNvGrpSpPr/>
          <p:nvPr/>
        </p:nvGrpSpPr>
        <p:grpSpPr>
          <a:xfrm>
            <a:off x="9797144" y="5127169"/>
            <a:ext cx="1023255" cy="555171"/>
            <a:chOff x="9797143" y="2873829"/>
            <a:chExt cx="827314" cy="55517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FFBC0EC5-3675-C7DD-54AF-45C8B62166EB}"/>
                </a:ext>
              </a:extLst>
            </p:cNvPr>
            <p:cNvSpPr/>
            <p:nvPr/>
          </p:nvSpPr>
          <p:spPr>
            <a:xfrm>
              <a:off x="9797143" y="2873829"/>
              <a:ext cx="76200" cy="555171"/>
            </a:xfrm>
            <a:prstGeom prst="righ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0190AE-AED4-08D3-39A9-C5572532BB0F}"/>
                </a:ext>
              </a:extLst>
            </p:cNvPr>
            <p:cNvSpPr txBox="1"/>
            <p:nvPr/>
          </p:nvSpPr>
          <p:spPr>
            <a:xfrm>
              <a:off x="10003971" y="2873829"/>
              <a:ext cx="620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x</a:t>
              </a:r>
              <a:r>
                <a:rPr lang="en-US" sz="2400" b="1" baseline="30000" dirty="0"/>
                <a:t>(m)</a:t>
              </a:r>
              <a:endParaRPr lang="de-DE" sz="2400" b="1" baseline="300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81F664-E6E2-57C5-FEBE-C8CD2037EE0E}"/>
              </a:ext>
            </a:extLst>
          </p:cNvPr>
          <p:cNvGrpSpPr/>
          <p:nvPr/>
        </p:nvGrpSpPr>
        <p:grpSpPr>
          <a:xfrm>
            <a:off x="1676400" y="5704115"/>
            <a:ext cx="6596742" cy="551963"/>
            <a:chOff x="1676400" y="5704115"/>
            <a:chExt cx="6596742" cy="55196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F19CE911-1541-CEC5-4486-6B5CA8BC8AC0}"/>
                </a:ext>
              </a:extLst>
            </p:cNvPr>
            <p:cNvSpPr/>
            <p:nvPr/>
          </p:nvSpPr>
          <p:spPr>
            <a:xfrm rot="5400000">
              <a:off x="4814206" y="2566309"/>
              <a:ext cx="321130" cy="6596742"/>
            </a:xfrm>
            <a:prstGeom prst="righ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B4475F-9979-C2E7-6E69-6E181F118578}"/>
                </a:ext>
              </a:extLst>
            </p:cNvPr>
            <p:cNvSpPr txBox="1"/>
            <p:nvPr/>
          </p:nvSpPr>
          <p:spPr>
            <a:xfrm>
              <a:off x="5072743" y="5794413"/>
              <a:ext cx="33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</a:t>
              </a:r>
              <a:endParaRPr lang="de-D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096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92D2-CC25-0431-9A0B-5B1852D7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Linear Regression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5C44-F765-7533-2F0F-71E759343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Hypothesis Function (Uni-variate)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b="1" i="1" dirty="0"/>
              <a:t>	</a:t>
            </a:r>
            <a:r>
              <a:rPr lang="en-US" i="1" dirty="0"/>
              <a:t>y’ </a:t>
            </a:r>
            <a:r>
              <a:rPr lang="en-US" dirty="0"/>
              <a:t>= </a:t>
            </a:r>
            <a:r>
              <a:rPr lang="en-US" i="1" dirty="0"/>
              <a:t>h</a:t>
            </a:r>
            <a:r>
              <a:rPr lang="el-GR" i="1" baseline="-25000" dirty="0"/>
              <a:t>θ</a:t>
            </a:r>
            <a:r>
              <a:rPr lang="el-GR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l-GR" i="1" dirty="0"/>
              <a:t>θ</a:t>
            </a:r>
            <a:r>
              <a:rPr lang="el-GR" baseline="-25000" dirty="0"/>
              <a:t>0</a:t>
            </a:r>
            <a:r>
              <a:rPr lang="en-US" dirty="0"/>
              <a:t> </a:t>
            </a:r>
            <a:r>
              <a:rPr lang="el-GR" dirty="0"/>
              <a:t>+</a:t>
            </a:r>
            <a:r>
              <a:rPr lang="en-US" dirty="0"/>
              <a:t> </a:t>
            </a:r>
            <a:r>
              <a:rPr lang="el-GR" i="1" dirty="0"/>
              <a:t>θ</a:t>
            </a:r>
            <a:r>
              <a:rPr lang="el-GR" baseline="-25000" dirty="0"/>
              <a:t>1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</a:p>
          <a:p>
            <a:pPr algn="just"/>
            <a:r>
              <a:rPr lang="en-US" b="1" dirty="0"/>
              <a:t>Hypothesis Function (multivariate)</a:t>
            </a:r>
          </a:p>
          <a:p>
            <a:pPr marL="457200" lvl="1" indent="0">
              <a:buNone/>
            </a:pPr>
            <a:r>
              <a:rPr lang="en-US" sz="2800" i="1" dirty="0"/>
              <a:t>y’ </a:t>
            </a:r>
            <a:r>
              <a:rPr lang="en-US" sz="2800" dirty="0"/>
              <a:t>= </a:t>
            </a:r>
            <a:r>
              <a:rPr lang="en-US" sz="2800" i="1" dirty="0"/>
              <a:t>h</a:t>
            </a:r>
            <a:r>
              <a:rPr lang="el-GR" sz="2800" i="1" baseline="-25000" dirty="0"/>
              <a:t>θ</a:t>
            </a:r>
            <a:r>
              <a:rPr lang="el-GR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l-GR" sz="2800" i="1" dirty="0"/>
              <a:t>θ</a:t>
            </a:r>
            <a:r>
              <a:rPr lang="el-GR" sz="2800" baseline="-25000" dirty="0"/>
              <a:t>0</a:t>
            </a:r>
            <a:r>
              <a:rPr lang="en-US" sz="2800" dirty="0"/>
              <a:t> </a:t>
            </a:r>
            <a:r>
              <a:rPr lang="el-GR" sz="2800" dirty="0"/>
              <a:t>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l-GR" sz="2800" baseline="-25000" dirty="0"/>
              <a:t>1</a:t>
            </a:r>
            <a:r>
              <a:rPr lang="en-US" sz="2800" i="1" dirty="0"/>
              <a:t>x</a:t>
            </a:r>
            <a:r>
              <a:rPr lang="en-US" sz="2800" i="1" baseline="-25000" dirty="0"/>
              <a:t>1 </a:t>
            </a:r>
            <a:r>
              <a:rPr lang="el-GR" sz="2800" dirty="0"/>
              <a:t>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n-US" sz="2800" baseline="-25000" dirty="0"/>
              <a:t>2</a:t>
            </a:r>
            <a:r>
              <a:rPr lang="en-US" sz="2800" i="1" dirty="0"/>
              <a:t>x</a:t>
            </a:r>
            <a:r>
              <a:rPr lang="en-US" sz="2800" i="1" baseline="-25000" dirty="0"/>
              <a:t>2 </a:t>
            </a:r>
            <a:r>
              <a:rPr lang="el-GR" sz="2800" dirty="0"/>
              <a:t>+</a:t>
            </a:r>
            <a:r>
              <a:rPr lang="en-US" sz="2800" dirty="0"/>
              <a:t> … </a:t>
            </a:r>
            <a:r>
              <a:rPr lang="el-GR" sz="2800" dirty="0"/>
              <a:t>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n-US" sz="2800" baseline="-25000" dirty="0" err="1"/>
              <a:t>n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n</a:t>
            </a:r>
            <a:endParaRPr lang="en-US" sz="2800" i="1" baseline="-25000" dirty="0"/>
          </a:p>
          <a:p>
            <a:pPr marL="457200" lvl="1" indent="0">
              <a:buNone/>
            </a:pPr>
            <a:r>
              <a:rPr lang="en-US" i="1" dirty="0"/>
              <a:t>	where,		</a:t>
            </a:r>
            <a:r>
              <a:rPr lang="en-US" i="1" dirty="0" err="1"/>
              <a:t>x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i="1" dirty="0"/>
              <a:t>is </a:t>
            </a:r>
            <a:r>
              <a:rPr lang="en-US" i="1" dirty="0" err="1"/>
              <a:t>jth</a:t>
            </a:r>
            <a:r>
              <a:rPr lang="en-US" i="1" dirty="0"/>
              <a:t> feature</a:t>
            </a:r>
          </a:p>
          <a:p>
            <a:pPr marL="457200" lvl="1" indent="0">
              <a:buNone/>
            </a:pPr>
            <a:r>
              <a:rPr lang="en-US" i="1" dirty="0"/>
              <a:t>			n is the number of features</a:t>
            </a:r>
          </a:p>
          <a:p>
            <a:pPr marL="457200" lvl="1" indent="0">
              <a:buNone/>
            </a:pPr>
            <a:r>
              <a:rPr lang="en-US" sz="2800" i="1" dirty="0"/>
              <a:t>y’ </a:t>
            </a:r>
            <a:r>
              <a:rPr lang="en-US" sz="2800" dirty="0"/>
              <a:t>= </a:t>
            </a:r>
            <a:r>
              <a:rPr lang="en-US" sz="2800" i="1" dirty="0"/>
              <a:t>h</a:t>
            </a:r>
            <a:r>
              <a:rPr lang="el-GR" sz="2800" i="1" baseline="-25000" dirty="0"/>
              <a:t>θ</a:t>
            </a:r>
            <a:r>
              <a:rPr lang="el-GR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l-GR" sz="2800" i="1" dirty="0"/>
              <a:t>θ</a:t>
            </a:r>
            <a:r>
              <a:rPr lang="en-US" sz="2800" baseline="-25000" dirty="0"/>
              <a:t>0</a:t>
            </a:r>
            <a:r>
              <a:rPr lang="en-US" sz="2800" i="1" dirty="0"/>
              <a:t>x</a:t>
            </a:r>
            <a:r>
              <a:rPr lang="en-US" sz="2800" i="1" baseline="-25000" dirty="0"/>
              <a:t>0</a:t>
            </a:r>
            <a:r>
              <a:rPr lang="en-US" sz="2800" dirty="0"/>
              <a:t> </a:t>
            </a:r>
            <a:r>
              <a:rPr lang="el-GR" sz="2800" dirty="0"/>
              <a:t>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l-GR" sz="2800" baseline="-25000" dirty="0"/>
              <a:t>1</a:t>
            </a:r>
            <a:r>
              <a:rPr lang="en-US" sz="2800" i="1" dirty="0"/>
              <a:t>x</a:t>
            </a:r>
            <a:r>
              <a:rPr lang="en-US" sz="2800" i="1" baseline="-25000" dirty="0"/>
              <a:t>1</a:t>
            </a:r>
            <a:r>
              <a:rPr lang="el-GR" sz="2800" dirty="0"/>
              <a:t> 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n-US" sz="2800" baseline="-25000" dirty="0"/>
              <a:t>2</a:t>
            </a:r>
            <a:r>
              <a:rPr lang="en-US" sz="2800" i="1" dirty="0"/>
              <a:t>x</a:t>
            </a:r>
            <a:r>
              <a:rPr lang="en-US" sz="2800" i="1" baseline="-25000" dirty="0"/>
              <a:t>2 </a:t>
            </a:r>
            <a:r>
              <a:rPr lang="el-GR" sz="2800" dirty="0"/>
              <a:t>+</a:t>
            </a:r>
            <a:r>
              <a:rPr lang="en-US" sz="2800" dirty="0"/>
              <a:t> … </a:t>
            </a:r>
            <a:r>
              <a:rPr lang="el-GR" sz="2800" dirty="0"/>
              <a:t>+</a:t>
            </a:r>
            <a:r>
              <a:rPr lang="en-US" sz="2800" dirty="0"/>
              <a:t> </a:t>
            </a:r>
            <a:r>
              <a:rPr lang="el-GR" sz="2800" i="1" dirty="0"/>
              <a:t>θ</a:t>
            </a:r>
            <a:r>
              <a:rPr lang="en-US" sz="2800" baseline="-25000" dirty="0" err="1"/>
              <a:t>n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n</a:t>
            </a:r>
            <a:r>
              <a:rPr lang="en-US" sz="2800" i="1" baseline="-25000" dirty="0"/>
              <a:t>  </a:t>
            </a:r>
            <a:r>
              <a:rPr lang="en-US" sz="2800" i="1" dirty="0"/>
              <a:t>where x</a:t>
            </a:r>
            <a:r>
              <a:rPr lang="en-US" sz="2800" i="1" baseline="-25000" dirty="0"/>
              <a:t>0 </a:t>
            </a:r>
            <a:r>
              <a:rPr lang="en-US" sz="2800" i="1" dirty="0"/>
              <a:t>= 1</a:t>
            </a:r>
          </a:p>
          <a:p>
            <a:pPr marL="457200" lvl="1" indent="0">
              <a:buNone/>
            </a:pPr>
            <a:r>
              <a:rPr lang="el-GR" sz="2800" b="1" dirty="0"/>
              <a:t>θ</a:t>
            </a:r>
            <a:r>
              <a:rPr lang="en-US" sz="2800" baseline="30000" dirty="0"/>
              <a:t>T </a:t>
            </a:r>
            <a:r>
              <a:rPr lang="en-US" sz="2800" dirty="0"/>
              <a:t>= [</a:t>
            </a:r>
            <a:r>
              <a:rPr lang="el-GR" sz="2800" i="1" dirty="0"/>
              <a:t>θ</a:t>
            </a:r>
            <a:r>
              <a:rPr lang="el-GR" sz="2800" baseline="-25000" dirty="0"/>
              <a:t>0</a:t>
            </a:r>
            <a:r>
              <a:rPr lang="en-US" sz="2800" dirty="0"/>
              <a:t>, </a:t>
            </a:r>
            <a:r>
              <a:rPr lang="el-GR" sz="2800" i="1" dirty="0"/>
              <a:t>θ</a:t>
            </a:r>
            <a:r>
              <a:rPr lang="el-GR" sz="2800" baseline="-25000" dirty="0"/>
              <a:t>1</a:t>
            </a:r>
            <a:r>
              <a:rPr lang="en-US" sz="2800" dirty="0"/>
              <a:t>, </a:t>
            </a:r>
            <a:r>
              <a:rPr lang="el-GR" sz="2800" i="1" dirty="0"/>
              <a:t>θ</a:t>
            </a:r>
            <a:r>
              <a:rPr lang="en-US" sz="2800" baseline="-25000" dirty="0"/>
              <a:t>2</a:t>
            </a:r>
            <a:r>
              <a:rPr lang="en-US" sz="2800" dirty="0"/>
              <a:t>, …, </a:t>
            </a:r>
            <a:r>
              <a:rPr lang="el-GR" sz="2800" i="1" dirty="0"/>
              <a:t>θ</a:t>
            </a:r>
            <a:r>
              <a:rPr lang="en-US" sz="2800" baseline="-25000" dirty="0"/>
              <a:t>n</a:t>
            </a:r>
            <a:r>
              <a:rPr lang="en-US" sz="2800" dirty="0"/>
              <a:t>]</a:t>
            </a:r>
            <a:r>
              <a:rPr lang="en-US" sz="2800" baseline="30000" dirty="0"/>
              <a:t>T</a:t>
            </a:r>
            <a:r>
              <a:rPr lang="en-US" sz="2800" dirty="0"/>
              <a:t>,		</a:t>
            </a:r>
            <a:r>
              <a:rPr lang="en-US" sz="2800" b="1" dirty="0" err="1"/>
              <a:t>x</a:t>
            </a:r>
            <a:r>
              <a:rPr lang="en-US" sz="2800" baseline="30000" dirty="0" err="1"/>
              <a:t>T</a:t>
            </a:r>
            <a:r>
              <a:rPr lang="en-US" sz="2800" dirty="0"/>
              <a:t> = [</a:t>
            </a:r>
            <a:r>
              <a:rPr lang="en-US" sz="2800" i="1" dirty="0"/>
              <a:t>x</a:t>
            </a:r>
            <a:r>
              <a:rPr lang="en-US" sz="2800" i="1" baseline="-25000" dirty="0"/>
              <a:t>0 </a:t>
            </a:r>
            <a:r>
              <a:rPr lang="en-US" sz="2800" dirty="0"/>
              <a:t>,  </a:t>
            </a:r>
            <a:r>
              <a:rPr lang="en-US" sz="2800" i="1" dirty="0"/>
              <a:t>x</a:t>
            </a:r>
            <a:r>
              <a:rPr lang="en-US" sz="2800" i="1" baseline="-25000" dirty="0"/>
              <a:t>1</a:t>
            </a:r>
            <a:r>
              <a:rPr lang="el-GR" sz="2800" dirty="0"/>
              <a:t> 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i="1" baseline="-25000" dirty="0"/>
              <a:t>2 </a:t>
            </a:r>
            <a:r>
              <a:rPr lang="en-US" sz="2800" dirty="0"/>
              <a:t>, … ,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n</a:t>
            </a:r>
            <a:r>
              <a:rPr lang="en-US" sz="2800" dirty="0"/>
              <a:t>]</a:t>
            </a:r>
            <a:r>
              <a:rPr lang="en-US" sz="2800" baseline="30000" dirty="0"/>
              <a:t> T</a:t>
            </a:r>
            <a:endParaRPr lang="en-US" sz="2800" i="1" dirty="0"/>
          </a:p>
          <a:p>
            <a:pPr marL="457200" lvl="1" indent="0">
              <a:buNone/>
            </a:pPr>
            <a:r>
              <a:rPr lang="en-US" sz="2800" i="1" dirty="0"/>
              <a:t>y’ </a:t>
            </a:r>
            <a:r>
              <a:rPr lang="en-US" sz="2800" dirty="0"/>
              <a:t>= </a:t>
            </a:r>
            <a:r>
              <a:rPr lang="en-US" sz="2800" i="1" dirty="0"/>
              <a:t>h</a:t>
            </a:r>
            <a:r>
              <a:rPr lang="el-GR" sz="2800" i="1" baseline="-25000" dirty="0"/>
              <a:t>θ</a:t>
            </a:r>
            <a:r>
              <a:rPr lang="el-GR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l-GR" sz="2800" b="1" dirty="0"/>
              <a:t>θ</a:t>
            </a:r>
            <a:r>
              <a:rPr lang="en-US" sz="2800" baseline="30000" dirty="0"/>
              <a:t>T</a:t>
            </a:r>
            <a:r>
              <a:rPr lang="en-US" sz="2800" b="1" dirty="0"/>
              <a:t>x</a:t>
            </a:r>
          </a:p>
          <a:p>
            <a:pPr marL="457200" lvl="1" indent="0">
              <a:buNone/>
            </a:pPr>
            <a:endParaRPr lang="en-US" sz="2800" i="1" dirty="0"/>
          </a:p>
          <a:p>
            <a:pPr marL="457200" lvl="1" indent="0">
              <a:buNone/>
            </a:pPr>
            <a:endParaRPr lang="en-US" sz="2800" i="1" dirty="0"/>
          </a:p>
          <a:p>
            <a:pPr marL="457200" lvl="1" indent="0">
              <a:buNone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72845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92D2-CC25-0431-9A0B-5B1852D7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Gradient Descent For Multivariate Linear Regression</a:t>
            </a:r>
            <a:endParaRPr lang="de-D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35C44-F765-7533-2F0F-71E759343C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b="1" dirty="0"/>
                  <a:t>Hypothesis Function</a:t>
                </a:r>
              </a:p>
              <a:p>
                <a:pPr marL="457200" lvl="1" indent="0">
                  <a:buNone/>
                </a:pPr>
                <a:r>
                  <a:rPr lang="en-US" sz="2800" i="1" dirty="0"/>
                  <a:t>y’ </a:t>
                </a:r>
                <a:r>
                  <a:rPr lang="en-US" sz="2800" dirty="0"/>
                  <a:t>= </a:t>
                </a:r>
                <a:r>
                  <a:rPr lang="en-US" sz="2800" i="1" dirty="0"/>
                  <a:t>h</a:t>
                </a:r>
                <a:r>
                  <a:rPr lang="el-GR" sz="2800" i="1" baseline="-25000" dirty="0"/>
                  <a:t>θ</a:t>
                </a:r>
                <a:r>
                  <a:rPr lang="el-GR" sz="2800" dirty="0"/>
                  <a:t>(</a:t>
                </a:r>
                <a:r>
                  <a:rPr lang="en-US" sz="2800" i="1" dirty="0"/>
                  <a:t>x</a:t>
                </a:r>
                <a:r>
                  <a:rPr lang="en-US" sz="2800" dirty="0"/>
                  <a:t>) = </a:t>
                </a:r>
                <a:r>
                  <a:rPr lang="el-GR" sz="2800" b="1" dirty="0"/>
                  <a:t>θ</a:t>
                </a:r>
                <a:r>
                  <a:rPr lang="en-US" sz="2800" baseline="30000" dirty="0"/>
                  <a:t>T</a:t>
                </a:r>
                <a:r>
                  <a:rPr lang="en-US" sz="2800" b="1" dirty="0"/>
                  <a:t>x</a:t>
                </a:r>
                <a:r>
                  <a:rPr lang="en-US" sz="2800" dirty="0"/>
                  <a:t>  = </a:t>
                </a:r>
                <a:r>
                  <a:rPr lang="el-GR" sz="2800" i="1" dirty="0"/>
                  <a:t>θ</a:t>
                </a:r>
                <a:r>
                  <a:rPr lang="en-US" sz="2800" baseline="-25000" dirty="0"/>
                  <a:t>0</a:t>
                </a:r>
                <a:r>
                  <a:rPr lang="en-US" sz="2800" i="1" dirty="0"/>
                  <a:t>x</a:t>
                </a:r>
                <a:r>
                  <a:rPr lang="en-US" sz="2800" i="1" baseline="-25000" dirty="0"/>
                  <a:t>0</a:t>
                </a:r>
                <a:r>
                  <a:rPr lang="en-US" sz="2800" dirty="0"/>
                  <a:t> </a:t>
                </a:r>
                <a:r>
                  <a:rPr lang="el-GR" sz="2800" dirty="0"/>
                  <a:t>+</a:t>
                </a:r>
                <a:r>
                  <a:rPr lang="en-US" sz="2800" dirty="0"/>
                  <a:t> </a:t>
                </a:r>
                <a:r>
                  <a:rPr lang="el-GR" sz="2800" i="1" dirty="0"/>
                  <a:t>θ</a:t>
                </a:r>
                <a:r>
                  <a:rPr lang="el-GR" sz="2800" baseline="-25000" dirty="0"/>
                  <a:t>1</a:t>
                </a:r>
                <a:r>
                  <a:rPr lang="en-US" sz="2800" i="1" dirty="0"/>
                  <a:t>x</a:t>
                </a:r>
                <a:r>
                  <a:rPr lang="en-US" sz="2800" i="1" baseline="-25000" dirty="0"/>
                  <a:t>1</a:t>
                </a:r>
                <a:r>
                  <a:rPr lang="el-GR" sz="2800" dirty="0"/>
                  <a:t> +</a:t>
                </a:r>
                <a:r>
                  <a:rPr lang="en-US" sz="2800" dirty="0"/>
                  <a:t> </a:t>
                </a:r>
                <a:r>
                  <a:rPr lang="el-GR" sz="2800" i="1" dirty="0"/>
                  <a:t>θ</a:t>
                </a:r>
                <a:r>
                  <a:rPr lang="en-US" sz="2800" baseline="-25000" dirty="0"/>
                  <a:t>2</a:t>
                </a:r>
                <a:r>
                  <a:rPr lang="en-US" sz="2800" i="1" dirty="0"/>
                  <a:t>x</a:t>
                </a:r>
                <a:r>
                  <a:rPr lang="en-US" sz="2800" i="1" baseline="-25000" dirty="0"/>
                  <a:t>2 </a:t>
                </a:r>
                <a:r>
                  <a:rPr lang="el-GR" sz="2800" dirty="0"/>
                  <a:t>+</a:t>
                </a:r>
                <a:r>
                  <a:rPr lang="en-US" sz="2800" dirty="0"/>
                  <a:t> … </a:t>
                </a:r>
                <a:r>
                  <a:rPr lang="el-GR" sz="2800" dirty="0"/>
                  <a:t>+</a:t>
                </a:r>
                <a:r>
                  <a:rPr lang="en-US" sz="2800" dirty="0"/>
                  <a:t> </a:t>
                </a:r>
                <a:r>
                  <a:rPr lang="el-GR" sz="2800" i="1" dirty="0"/>
                  <a:t>θ</a:t>
                </a:r>
                <a:r>
                  <a:rPr lang="en-US" sz="2800" baseline="-25000" dirty="0" err="1"/>
                  <a:t>n</a:t>
                </a:r>
                <a:r>
                  <a:rPr lang="en-US" sz="2800" i="1" dirty="0" err="1"/>
                  <a:t>x</a:t>
                </a:r>
                <a:r>
                  <a:rPr lang="en-US" sz="2800" i="1" baseline="-25000" dirty="0" err="1"/>
                  <a:t>n</a:t>
                </a:r>
                <a:r>
                  <a:rPr lang="en-US" sz="2800" i="1" baseline="-25000" dirty="0"/>
                  <a:t>  	</a:t>
                </a:r>
                <a:r>
                  <a:rPr lang="en-US" i="1" dirty="0"/>
                  <a:t>where x</a:t>
                </a:r>
                <a:r>
                  <a:rPr lang="en-US" i="1" baseline="-25000" dirty="0"/>
                  <a:t>0 </a:t>
                </a:r>
                <a:r>
                  <a:rPr lang="en-US" i="1" dirty="0"/>
                  <a:t>= 1</a:t>
                </a:r>
              </a:p>
              <a:p>
                <a:pPr marL="457200" lvl="1" indent="0">
                  <a:buNone/>
                </a:pPr>
                <a:r>
                  <a:rPr lang="en-US" sz="2800" i="1" dirty="0"/>
                  <a:t>Parameters = </a:t>
                </a:r>
                <a:r>
                  <a:rPr lang="el-GR" sz="2800" i="1" dirty="0"/>
                  <a:t>θ</a:t>
                </a:r>
                <a:r>
                  <a:rPr lang="en-US" sz="2800" baseline="-25000" dirty="0"/>
                  <a:t>0</a:t>
                </a:r>
                <a:r>
                  <a:rPr lang="en-US" sz="2800" dirty="0"/>
                  <a:t> , </a:t>
                </a:r>
                <a:r>
                  <a:rPr lang="el-GR" sz="2800" i="1" dirty="0"/>
                  <a:t>θ</a:t>
                </a:r>
                <a:r>
                  <a:rPr lang="el-GR" sz="2800" baseline="-25000" dirty="0"/>
                  <a:t>1</a:t>
                </a:r>
                <a:r>
                  <a:rPr lang="el-GR" sz="2800" dirty="0"/>
                  <a:t> </a:t>
                </a:r>
                <a:r>
                  <a:rPr lang="en-US" sz="2800" dirty="0"/>
                  <a:t>, </a:t>
                </a:r>
                <a:r>
                  <a:rPr lang="el-GR" sz="2800" i="1" dirty="0"/>
                  <a:t>θ</a:t>
                </a:r>
                <a:r>
                  <a:rPr lang="en-US" sz="2800" baseline="-25000" dirty="0"/>
                  <a:t>2</a:t>
                </a:r>
                <a:r>
                  <a:rPr lang="en-US" sz="2800" i="1" baseline="-25000" dirty="0"/>
                  <a:t> </a:t>
                </a:r>
                <a:r>
                  <a:rPr lang="en-US" sz="2800" dirty="0"/>
                  <a:t>, … , </a:t>
                </a:r>
                <a:r>
                  <a:rPr lang="el-GR" sz="2800" i="1" dirty="0"/>
                  <a:t>θ</a:t>
                </a:r>
                <a:r>
                  <a:rPr lang="en-US" sz="2800" baseline="-25000" dirty="0"/>
                  <a:t>n </a:t>
                </a:r>
                <a:r>
                  <a:rPr lang="en-US" sz="2800" dirty="0"/>
                  <a:t>= </a:t>
                </a:r>
                <a:r>
                  <a:rPr lang="el-GR" sz="2800" b="1" dirty="0"/>
                  <a:t>θ</a:t>
                </a:r>
                <a:r>
                  <a:rPr lang="en-US" sz="2800" dirty="0"/>
                  <a:t> 		</a:t>
                </a:r>
                <a:r>
                  <a:rPr lang="en-US" i="1" dirty="0"/>
                  <a:t>n+1 feature vector</a:t>
                </a:r>
                <a:r>
                  <a:rPr lang="en-US" sz="2800" b="1" dirty="0"/>
                  <a:t> 	</a:t>
                </a:r>
                <a:endParaRPr lang="en-US" sz="2800" i="1" dirty="0"/>
              </a:p>
              <a:p>
                <a:pPr algn="just"/>
                <a:r>
                  <a:rPr lang="en-US" b="1" dirty="0"/>
                  <a:t>Cost 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l-GR" sz="2800" i="1" baseline="-25000" dirty="0"/>
                            <m:t>0</m:t>
                          </m:r>
                          <m:r>
                            <m:rPr>
                              <m:nor/>
                            </m:rPr>
                            <a:rPr lang="en-US" sz="2800" i="1" dirty="0"/>
                            <m:t>,</m:t>
                          </m:r>
                          <m:r>
                            <m:rPr>
                              <m:nor/>
                            </m:rPr>
                            <a:rPr lang="el-GR" sz="2800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l-GR" sz="2800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US" sz="2800" b="0" i="1" dirty="0" smtClean="0"/>
                            <m:t>,</m:t>
                          </m:r>
                          <m:r>
                            <m:rPr>
                              <m:nor/>
                            </m:rPr>
                            <a:rPr lang="el-GR" sz="2800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n-US" sz="2800" b="0" i="1" baseline="-25000" dirty="0" smtClean="0"/>
                            <m:t>2</m:t>
                          </m:r>
                          <m:r>
                            <m:rPr>
                              <m:nor/>
                            </m:rPr>
                            <a:rPr lang="en-US" sz="2800" i="1" dirty="0"/>
                            <m:t>,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r>
                            <m:rPr>
                              <m:nor/>
                            </m:rPr>
                            <a:rPr lang="el-GR" sz="2800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n-US" sz="2800" b="0" i="1" baseline="-25000" dirty="0" smtClean="0"/>
                            <m:t>n</m:t>
                          </m:r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  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dirty="0"/>
                                    <m:t>h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2800" baseline="-25000" dirty="0"/>
                                    <m:t>θ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2800" dirty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dirty="0"/>
                                    <m:t>x</m:t>
                                  </m:r>
                                </m:e>
                                <m:sup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) −  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400" b="1" dirty="0"/>
                            <m:t>θ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 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dirty="0"/>
                                    <m:t>h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2400" baseline="-25000" dirty="0"/>
                                    <m:t>θ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2400" dirty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/>
                                    <m:t>x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 − 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i="1" dirty="0"/>
              </a:p>
              <a:p>
                <a:pPr algn="just"/>
                <a:r>
                  <a:rPr lang="en-US" b="1" dirty="0"/>
                  <a:t>Gradient Descent</a:t>
                </a:r>
              </a:p>
              <a:p>
                <a:pPr marL="457200" lvl="1" indent="0" algn="just">
                  <a:buNone/>
                </a:pPr>
                <a:r>
                  <a:rPr lang="en-US" b="1" dirty="0"/>
                  <a:t>Repeat until convergence:</a:t>
                </a:r>
              </a:p>
              <a:p>
                <a:pPr marL="457200" lvl="1" indent="0">
                  <a:buNone/>
                </a:pPr>
                <a:r>
                  <a:rPr lang="en-US" sz="2800" dirty="0"/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 smtClean="0"/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j</m:t>
                    </m:r>
                    <m:r>
                      <a:rPr lang="el-G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/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j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  −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l-GR" sz="2800" dirty="0"/>
                      <m:t>α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l-GR" sz="2800" i="1" dirty="0"/>
                          <m:t>θ</m:t>
                        </m:r>
                        <m:r>
                          <m:rPr>
                            <m:nor/>
                          </m:rPr>
                          <a:rPr lang="en-US" sz="2800" b="0" i="1" baseline="-25000" dirty="0" smtClean="0"/>
                          <m:t>j</m:t>
                        </m:r>
                      </m:den>
                    </m:f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l-GR" sz="2800" i="1" dirty="0"/>
                      <m:t>θ</m:t>
                    </m:r>
                    <m:r>
                      <m:rPr>
                        <m:nor/>
                      </m:rPr>
                      <a:rPr lang="el-GR" sz="2800" i="1" baseline="-25000" dirty="0"/>
                      <m:t>0</m:t>
                    </m:r>
                    <m:r>
                      <m:rPr>
                        <m:nor/>
                      </m:rPr>
                      <a:rPr lang="en-US" sz="2800" baseline="-25000" dirty="0"/>
                      <m:t>,</m:t>
                    </m:r>
                    <m:r>
                      <m:rPr>
                        <m:nor/>
                      </m:rPr>
                      <a:rPr lang="el-GR" sz="2800" i="1" dirty="0"/>
                      <m:t>θ</m:t>
                    </m:r>
                    <m:r>
                      <m:rPr>
                        <m:nor/>
                      </m:rPr>
                      <a:rPr lang="el-GR" sz="2800" i="1" baseline="-25000" dirty="0"/>
                      <m:t>1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, 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m:rPr>
                        <m:nor/>
                      </m:rPr>
                      <a:rPr lang="el-GR" sz="2800" i="1" dirty="0"/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n</m:t>
                    </m:r>
                  </m:oMath>
                </a14:m>
                <a:r>
                  <a:rPr lang="en-US" sz="2800" dirty="0"/>
                  <a:t>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/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j</m:t>
                    </m:r>
                    <m:r>
                      <m:rPr>
                        <m:nor/>
                      </m:rPr>
                      <a:rPr lang="en-US" sz="2800" b="0" i="1" baseline="-25000" dirty="0" smtClean="0"/>
                      <m:t>  −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l-GR" sz="2800" dirty="0"/>
                      <m:t>α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l-GR" sz="2800" i="1" dirty="0"/>
                          <m:t>θ</m:t>
                        </m:r>
                        <m:r>
                          <m:rPr>
                            <m:nor/>
                          </m:rPr>
                          <a:rPr lang="en-US" sz="2800" b="0" i="1" baseline="-25000" dirty="0" smtClean="0"/>
                          <m:t>j</m:t>
                        </m:r>
                      </m:den>
                    </m:f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l-GR" sz="2800" b="1" dirty="0"/>
                      <m:t>θ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457200" lvl="1" indent="0">
                  <a:buNone/>
                </a:pPr>
                <a:endParaRPr lang="de-DE" sz="2800" dirty="0"/>
              </a:p>
              <a:p>
                <a:pPr marL="457200" lvl="1" indent="0">
                  <a:buNone/>
                </a:pPr>
                <a:r>
                  <a:rPr lang="de-DE" sz="2800" dirty="0"/>
                  <a:t>			</a:t>
                </a:r>
                <a:r>
                  <a:rPr lang="de-DE" sz="2800" dirty="0" err="1"/>
                  <a:t>Simultaneous</a:t>
                </a:r>
                <a:r>
                  <a:rPr lang="de-DE" sz="2800" dirty="0"/>
                  <a:t> update </a:t>
                </a:r>
                <a:r>
                  <a:rPr lang="de-DE" sz="2800" dirty="0" err="1"/>
                  <a:t>for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each</a:t>
                </a:r>
                <a:r>
                  <a:rPr lang="de-DE" sz="2800" dirty="0"/>
                  <a:t> </a:t>
                </a:r>
                <a:r>
                  <a:rPr lang="de-DE" sz="2800" i="1" dirty="0"/>
                  <a:t>j = 0, 1, 2, …, n</a:t>
                </a:r>
                <a:endParaRPr lang="en-US" sz="2400" i="1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i="1" dirty="0"/>
              </a:p>
              <a:p>
                <a:pPr marL="457200" lvl="1" indent="0">
                  <a:buNone/>
                </a:pPr>
                <a:endParaRPr lang="de-DE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35C44-F765-7533-2F0F-71E759343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79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1879-97C7-DBFC-BB4D-34DA82B8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for Multivariate Regression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75EDA7-521E-1F10-F4DF-E059B4F994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3329"/>
                <a:ext cx="10515600" cy="461363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Repeat until </a:t>
                </a:r>
                <a:r>
                  <a:rPr lang="en-US" b="1" dirty="0"/>
                  <a:t>converge </a:t>
                </a:r>
                <a:r>
                  <a:rPr lang="en-US" dirty="0"/>
                  <a:t>(for n = 1) {</a:t>
                </a:r>
              </a:p>
              <a:p>
                <a:pPr marL="457200" lvl="1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 smtClean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2800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2800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i="1" dirty="0">
                            <a:solidFill>
                              <a:schemeClr val="tx1"/>
                            </a:solidFill>
                          </a:rPr>
                          <m:t>x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e-DE" dirty="0"/>
                  <a:t>}</a:t>
                </a:r>
              </a:p>
              <a:p>
                <a:pPr marL="0" indent="0">
                  <a:buNone/>
                </a:pPr>
                <a:r>
                  <a:rPr lang="en-US" b="1" dirty="0"/>
                  <a:t>Gradient Descent for multivariate regression:</a:t>
                </a:r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b="1" i="1" dirty="0"/>
                      <m:t>θ</m:t>
                    </m:r>
                    <m:r>
                      <m:rPr>
                        <m:nor/>
                      </m:rPr>
                      <a:rPr lang="en-US" b="1" i="1" baseline="-25000" dirty="0"/>
                      <m:t>j</m:t>
                    </m:r>
                    <m:r>
                      <a:rPr lang="el-GR" b="1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b="1" i="1" dirty="0"/>
                      <m:t>θ</m:t>
                    </m:r>
                    <m:r>
                      <m:rPr>
                        <m:nor/>
                      </m:rPr>
                      <a:rPr lang="en-US" b="1" i="1" baseline="-25000" dirty="0"/>
                      <m:t>j</m:t>
                    </m:r>
                    <m:r>
                      <m:rPr>
                        <m:nor/>
                      </m:rPr>
                      <a:rPr lang="en-US" b="1" i="1" baseline="-25000" dirty="0"/>
                      <m:t>  −</m:t>
                    </m:r>
                    <m:r>
                      <m:rPr>
                        <m:nor/>
                      </m:rPr>
                      <a:rPr lang="en-US" b="1" dirty="0"/>
                      <m:t> </m:t>
                    </m:r>
                    <m:r>
                      <m:rPr>
                        <m:nor/>
                      </m:rPr>
                      <a:rPr lang="el-GR" b="1" dirty="0"/>
                      <m:t>α</m:t>
                    </m:r>
                    <m:r>
                      <a:rPr lang="el-GR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b="1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en-US" dirty="0"/>
                  <a:t>Repeat until </a:t>
                </a:r>
                <a:r>
                  <a:rPr lang="en-US" b="1" dirty="0"/>
                  <a:t>converge </a:t>
                </a:r>
                <a:r>
                  <a:rPr lang="en-US" dirty="0"/>
                  <a:t>(for n &gt;= 1) {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j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j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1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i="1" dirty="0" smtClean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i="1" dirty="0"/>
                              <m:t>θ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e-DE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75EDA7-521E-1F10-F4DF-E059B4F99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3329"/>
                <a:ext cx="10515600" cy="4613634"/>
              </a:xfrm>
              <a:blipFill>
                <a:blip r:embed="rId2"/>
                <a:stretch>
                  <a:fillRect l="-638" t="-5416" b="-4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28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1879-97C7-DBFC-BB4D-34DA82B8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EDA7-521E-1F10-F4DF-E059B4F9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features are not on equal footings (e.g. income and age) then, algorithm may give undue weight to features with larger numerical ranges which will lead to skewed results. </a:t>
            </a:r>
          </a:p>
          <a:p>
            <a:r>
              <a:rPr lang="en-US" dirty="0"/>
              <a:t>Feature scaling is the process of transforming features to a common scale. </a:t>
            </a:r>
          </a:p>
          <a:p>
            <a:r>
              <a:rPr lang="en-US" dirty="0"/>
              <a:t>Gradient descent converge faster when the input features are on a similar scale. </a:t>
            </a:r>
          </a:p>
          <a:p>
            <a:r>
              <a:rPr lang="en-US" dirty="0"/>
              <a:t>Different Strategies can be used, normalization, Standardization, Maximum Absolute Scaling etc.</a:t>
            </a:r>
            <a:endParaRPr lang="en-US" sz="2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0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E75B-3AA0-5764-5374-E9341731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338CD-C288-B77E-85C2-F436D5932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215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MaxAbs (Maximum Absolute Scaling)</a:t>
                </a:r>
              </a:p>
              <a:p>
                <a:pPr lvl="1"/>
                <a:r>
                  <a:rPr lang="en-US" dirty="0"/>
                  <a:t>Normalizes using maximum value.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Maintains the relationships between data points. </a:t>
                </a:r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Min-Max Normalization </a:t>
                </a:r>
              </a:p>
              <a:p>
                <a:pPr lvl="1"/>
                <a:r>
                  <a:rPr lang="en-US" dirty="0"/>
                  <a:t>Normalizes value to a fixed range, usually [0, 1].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Maintains the relationship between data points, but sensitive to outliers. </a:t>
                </a:r>
              </a:p>
              <a:p>
                <a:pPr lvl="1"/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338CD-C288-B77E-85C2-F436D5932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2156"/>
              </a:xfrm>
              <a:blipFill>
                <a:blip r:embed="rId2"/>
                <a:stretch>
                  <a:fillRect l="-1043"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33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10258F-71A2-B42B-31DC-14083F9A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Feature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9323ED3-87FC-A039-0626-9CACA44B0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215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Mean Normalization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b="1" dirty="0"/>
                  <a:t>Standardization (Z-score Normalization)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less affected by outliers and suitable for algorithms assuming </a:t>
                </a:r>
                <a:r>
                  <a:rPr lang="en-US" dirty="0" err="1"/>
                  <a:t>Guassian</a:t>
                </a:r>
                <a:r>
                  <a:rPr lang="en-US" dirty="0"/>
                  <a:t> distribution.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9323ED3-87FC-A039-0626-9CACA44B0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2156"/>
              </a:xfrm>
              <a:blipFill>
                <a:blip r:embed="rId2"/>
                <a:stretch>
                  <a:fillRect l="-1043" t="-2051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194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D10E-862A-5E95-2B00-2254BDED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Learning Rate 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1B649-A1B2-61EA-B88C-7D0A29118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038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Gradient Descent works properly then the cost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sz="2800" b="1" dirty="0"/>
                          <m:t>θ</m:t>
                        </m:r>
                      </m:e>
                    </m:d>
                    <m:r>
                      <a:rPr lang="el-GR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should decrease </a:t>
                </a:r>
                <a:r>
                  <a:rPr lang="en-US" sz="2800" dirty="0"/>
                  <a:t>after every iteration.</a:t>
                </a:r>
              </a:p>
              <a:p>
                <a:r>
                  <a:rPr lang="en-US" sz="2800" dirty="0"/>
                  <a:t>A model is assumed to be converged if it decreases the cost less than a threshold value in subsequent iterations.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1B649-A1B2-61EA-B88C-7D0A29118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038600" cy="4351338"/>
              </a:xfrm>
              <a:blipFill>
                <a:blip r:embed="rId2"/>
                <a:stretch>
                  <a:fillRect l="-2719" t="-2241" r="-3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70F879A-7ABF-4E58-E1AD-10DB7489F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389" y="1524000"/>
            <a:ext cx="7184362" cy="519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6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C3C8AA-3430-FC81-C2FF-E3B88410B6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choose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C3C8AA-3430-FC81-C2FF-E3B88410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BE0B-50D1-D73A-DACC-702D4E90E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doesn’t work properly if cost increases or fluctuates in subsequent iterations. </a:t>
            </a:r>
          </a:p>
          <a:p>
            <a:pPr lvl="1"/>
            <a:r>
              <a:rPr lang="en-US" dirty="0"/>
              <a:t>Solution: try a smaller learning rate.</a:t>
            </a:r>
          </a:p>
          <a:p>
            <a:r>
              <a:rPr lang="en-US" dirty="0"/>
              <a:t>If learning rate is too small: slow convergence</a:t>
            </a:r>
          </a:p>
          <a:p>
            <a:r>
              <a:rPr lang="en-US" dirty="0"/>
              <a:t>If learning rate is too large: Gradient descent might not converge</a:t>
            </a:r>
          </a:p>
          <a:p>
            <a:r>
              <a:rPr lang="en-US" dirty="0"/>
              <a:t>Solution: Try a range of values for the learning rate and then pick the best.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54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39BE-2E40-09E6-A76C-E44C379D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FC01A-B5DE-E3D0-EFA8-66F7352D5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Update Rule </a:t>
                </a:r>
              </a:p>
              <a:p>
                <a:pPr lvl="1"/>
                <a:r>
                  <a:rPr lang="en-US" dirty="0"/>
                  <a:t>Choose a small initial value. Say,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="0" i="0" dirty="0" smtClean="0"/>
                      <m:t> = 0.001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 for roughly 3 fold increase or 10 fold increase etc. </a:t>
                </a:r>
              </a:p>
              <a:p>
                <a:r>
                  <a:rPr lang="en-US"/>
                  <a:t>Debugging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FC01A-B5DE-E3D0-EFA8-66F7352D5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19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0F98-94A6-3930-7135-55CA6E7E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E0323-FE70-AD8A-74D2-972A9E7E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Feature engineering is the process of transforming raw data into meaningful, informative, and actionable inputs (features) for machine learning models, often using domain knowledge. </a:t>
            </a:r>
          </a:p>
          <a:p>
            <a:r>
              <a:rPr lang="en-GB" dirty="0"/>
              <a:t>It involves selecting, manipulating, and creating new variables to enhance model accuracy, reduce complexity, and improve performance. </a:t>
            </a:r>
          </a:p>
          <a:p>
            <a:r>
              <a:rPr lang="en-GB" b="1" dirty="0"/>
              <a:t>Purpose:</a:t>
            </a:r>
            <a:r>
              <a:rPr lang="en-GB" dirty="0"/>
              <a:t> The primary goal is to improve model accuracy and, in many cases, make it easier for algorithms to learn patterns, such as transforming non-linear relationships to linear ones.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3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D769-6FC3-E82D-CE25-2EE1474E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Techniques of 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841D-80CB-7B29-77E5-EC120A90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Imputation: </a:t>
            </a:r>
            <a:r>
              <a:rPr lang="en-GB" dirty="0"/>
              <a:t>Filling in missing values (e.g., mean, median, mode).</a:t>
            </a:r>
          </a:p>
          <a:p>
            <a:r>
              <a:rPr lang="en-GB" b="1" dirty="0"/>
              <a:t>Encoding: </a:t>
            </a:r>
            <a:r>
              <a:rPr lang="en-GB" dirty="0"/>
              <a:t>Converting categorical data (e.g., "Red", "Blue") into numerical values using techniques like One-Hot Encoding.</a:t>
            </a:r>
          </a:p>
          <a:p>
            <a:r>
              <a:rPr lang="en-GB" b="1" dirty="0"/>
              <a:t>Feature Transformation: </a:t>
            </a:r>
            <a:r>
              <a:rPr lang="en-GB" dirty="0"/>
              <a:t>Applying mathematical operations like logs or square roots to fix skewness.</a:t>
            </a:r>
          </a:p>
          <a:p>
            <a:r>
              <a:rPr lang="en-GB" b="1" dirty="0"/>
              <a:t>Feature Scaling: </a:t>
            </a:r>
            <a:r>
              <a:rPr lang="en-GB" dirty="0"/>
              <a:t> Scaling up or down the feature to a consistent range. After a scaling operation, the continuous features become similar in terms of range. </a:t>
            </a:r>
            <a:endParaRPr lang="en-GB" b="1" dirty="0"/>
          </a:p>
          <a:p>
            <a:r>
              <a:rPr lang="en-GB" b="1" dirty="0"/>
              <a:t>Feature Creation: </a:t>
            </a:r>
            <a:r>
              <a:rPr lang="en-GB" dirty="0"/>
              <a:t>Generating new features from existing ones, such as extracting "Day of Week" from a timestamp or calculating "Area" from "Length" and "Width".</a:t>
            </a:r>
          </a:p>
          <a:p>
            <a:r>
              <a:rPr lang="en-GB" b="1" dirty="0"/>
              <a:t>Handling Outliers: </a:t>
            </a:r>
            <a:r>
              <a:rPr lang="en-GB" dirty="0"/>
              <a:t>Removing or capping extreme values that can skew model training. The outliers could be handled as missing values and replaced with suitable imputation.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88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F20E-90D3-0BE0-7AEE-2CBF35D3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CAE5C-84C5-73DA-0BED-E65CA987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7"/>
            <a:ext cx="10515600" cy="4351338"/>
          </a:xfrm>
        </p:spPr>
        <p:txBody>
          <a:bodyPr/>
          <a:lstStyle/>
          <a:p>
            <a:r>
              <a:rPr lang="en-US" dirty="0"/>
              <a:t>If the relationship between data is not linear: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y’ </a:t>
            </a:r>
            <a:r>
              <a:rPr lang="en-US" dirty="0"/>
              <a:t>= </a:t>
            </a:r>
            <a:r>
              <a:rPr lang="en-US" i="1" dirty="0"/>
              <a:t>h</a:t>
            </a:r>
            <a:r>
              <a:rPr lang="el-GR" i="1" baseline="-25000" dirty="0"/>
              <a:t>θ</a:t>
            </a:r>
            <a:r>
              <a:rPr lang="el-GR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l-GR" i="1" dirty="0"/>
              <a:t>θ</a:t>
            </a:r>
            <a:r>
              <a:rPr lang="el-GR" baseline="-25000" dirty="0"/>
              <a:t>0</a:t>
            </a:r>
            <a:r>
              <a:rPr lang="en-US" dirty="0"/>
              <a:t> </a:t>
            </a:r>
            <a:r>
              <a:rPr lang="el-GR" dirty="0"/>
              <a:t>+</a:t>
            </a:r>
            <a:r>
              <a:rPr lang="en-US" dirty="0"/>
              <a:t> </a:t>
            </a:r>
            <a:r>
              <a:rPr lang="el-GR" i="1" dirty="0"/>
              <a:t>θ</a:t>
            </a:r>
            <a:r>
              <a:rPr lang="el-GR" baseline="-25000" dirty="0"/>
              <a:t>1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l-GR" dirty="0"/>
              <a:t>+</a:t>
            </a:r>
            <a:r>
              <a:rPr lang="en-US" dirty="0"/>
              <a:t> </a:t>
            </a:r>
            <a:r>
              <a:rPr lang="el-GR" i="1" dirty="0"/>
              <a:t>θ</a:t>
            </a:r>
            <a:r>
              <a:rPr lang="en-US" baseline="-25000" dirty="0"/>
              <a:t>2</a:t>
            </a:r>
            <a:r>
              <a:rPr lang="en-US" i="1" dirty="0"/>
              <a:t>x</a:t>
            </a:r>
            <a:r>
              <a:rPr lang="en-US" i="1" baseline="-25000" dirty="0"/>
              <a:t>2</a:t>
            </a:r>
            <a:r>
              <a:rPr lang="en-US" i="1" baseline="30000" dirty="0"/>
              <a:t>2 </a:t>
            </a:r>
            <a:r>
              <a:rPr lang="el-GR" dirty="0"/>
              <a:t>+</a:t>
            </a:r>
            <a:r>
              <a:rPr lang="en-US" dirty="0"/>
              <a:t> </a:t>
            </a:r>
            <a:r>
              <a:rPr lang="el-GR" i="1" dirty="0"/>
              <a:t>θ</a:t>
            </a:r>
            <a:r>
              <a:rPr lang="en-US" baseline="-25000" dirty="0"/>
              <a:t>3</a:t>
            </a:r>
            <a:r>
              <a:rPr lang="en-US" i="1" dirty="0"/>
              <a:t>x</a:t>
            </a:r>
            <a:r>
              <a:rPr lang="en-US" i="1" baseline="-25000" dirty="0"/>
              <a:t>3</a:t>
            </a:r>
            <a:r>
              <a:rPr lang="en-US" i="1" baseline="30000" dirty="0"/>
              <a:t>3</a:t>
            </a:r>
            <a:endParaRPr lang="de-DE" baseline="30000" dirty="0"/>
          </a:p>
        </p:txBody>
      </p:sp>
      <p:pic>
        <p:nvPicPr>
          <p:cNvPr id="1030" name="Picture 6" descr="Polynomial Regression visualize data">
            <a:extLst>
              <a:ext uri="{FF2B5EF4-FFF2-40B4-BE49-F238E27FC236}">
                <a16:creationId xmlns:a16="http://schemas.microsoft.com/office/drawing/2014/main" id="{73A0AF96-F465-543F-3B3E-343C816E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15" y="2464253"/>
            <a:ext cx="3638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imple linear regression">
            <a:extLst>
              <a:ext uri="{FF2B5EF4-FFF2-40B4-BE49-F238E27FC236}">
                <a16:creationId xmlns:a16="http://schemas.microsoft.com/office/drawing/2014/main" id="{8F9EA3F9-B967-602C-24B5-088CA81AC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87" y="2464253"/>
            <a:ext cx="3638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lynomial Regression plot">
            <a:extLst>
              <a:ext uri="{FF2B5EF4-FFF2-40B4-BE49-F238E27FC236}">
                <a16:creationId xmlns:a16="http://schemas.microsoft.com/office/drawing/2014/main" id="{AE147DDF-A96D-A7E4-C299-040D500C5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959" y="2464253"/>
            <a:ext cx="3638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34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010D-5B05-8810-358C-57B29289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Equation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567A1-662B-4ECB-8632-1DFF9625F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Method to solve for </a:t>
                </a:r>
                <a:r>
                  <a:rPr lang="el-GR" dirty="0"/>
                  <a:t>θ</a:t>
                </a:r>
                <a:r>
                  <a:rPr lang="en-US" baseline="-25000" dirty="0"/>
                  <a:t> </a:t>
                </a:r>
                <a:r>
                  <a:rPr lang="en-US" dirty="0"/>
                  <a:t>analytically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567A1-662B-4ECB-8632-1DFF9625F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67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CB55-3B78-F23E-B806-A756E7F6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Comparison of Gradient Descent and Normal Equation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1E25-7BB9-F20F-C0FA-99D3DD790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486" y="1690688"/>
            <a:ext cx="52578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Normal Equation</a:t>
            </a:r>
          </a:p>
          <a:p>
            <a:r>
              <a:rPr lang="de-DE" dirty="0" err="1"/>
              <a:t>No</a:t>
            </a:r>
            <a:r>
              <a:rPr lang="de-DE" dirty="0"/>
              <a:t> Need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rate</a:t>
            </a:r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iterations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7B524B-1B3F-80F4-1089-E4FF4FE006FF}"/>
              </a:ext>
            </a:extLst>
          </p:cNvPr>
          <p:cNvSpPr txBox="1">
            <a:spLocks/>
          </p:cNvSpPr>
          <p:nvPr/>
        </p:nvSpPr>
        <p:spPr>
          <a:xfrm>
            <a:off x="95795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dirty="0"/>
              <a:t>Gradient Descent</a:t>
            </a:r>
          </a:p>
          <a:p>
            <a:r>
              <a:rPr lang="de-DE" dirty="0"/>
              <a:t>Need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rate</a:t>
            </a:r>
          </a:p>
          <a:p>
            <a:r>
              <a:rPr lang="de-DE" dirty="0"/>
              <a:t>Need many iterations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18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urve Fitting with Linear and Nonlinear Reg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0194"/>
            <a:ext cx="6096000" cy="523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502"/>
            <a:ext cx="12192000" cy="681643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chemeClr val="bg1"/>
                </a:solidFill>
              </a:rPr>
              <a:t>Quadratic Model</a:t>
            </a:r>
          </a:p>
        </p:txBody>
      </p:sp>
      <p:pic>
        <p:nvPicPr>
          <p:cNvPr id="50178" name="Picture 2" descr="Curve Fitting with Linear and Nonlinear Regres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10193"/>
            <a:ext cx="6096000" cy="523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519560" y="3510720"/>
              <a:ext cx="51840" cy="262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8280" y="839160"/>
                <a:ext cx="10968840" cy="59083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5AC5E28-8104-EE4E-5443-F87369F02098}"/>
              </a:ext>
            </a:extLst>
          </p:cNvPr>
          <p:cNvSpPr txBox="1">
            <a:spLocks/>
          </p:cNvSpPr>
          <p:nvPr/>
        </p:nvSpPr>
        <p:spPr>
          <a:xfrm>
            <a:off x="511628" y="1410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Quadratic Model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542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1299</Words>
  <Application>Microsoft Office PowerPoint</Application>
  <PresentationFormat>Widescreen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Machine Learning</vt:lpstr>
      <vt:lpstr>Types of Gradient Descent </vt:lpstr>
      <vt:lpstr>Types of Gradient Descent </vt:lpstr>
      <vt:lpstr>Types of Gradient Descent </vt:lpstr>
      <vt:lpstr>Linear Regression with Multiple Features</vt:lpstr>
      <vt:lpstr>Multivariate Linear Regression</vt:lpstr>
      <vt:lpstr>Gradient Descent For Multivariate Linear Regression</vt:lpstr>
      <vt:lpstr>Gradient Descent for Multivariate Regression</vt:lpstr>
      <vt:lpstr>Feature Scaling</vt:lpstr>
      <vt:lpstr>Feature Scaling</vt:lpstr>
      <vt:lpstr>Feature Scaling</vt:lpstr>
      <vt:lpstr>Selection of Learning Rate </vt:lpstr>
      <vt:lpstr>How to choose "α"</vt:lpstr>
      <vt:lpstr>PowerPoint Presentation</vt:lpstr>
      <vt:lpstr>Feature Engineering </vt:lpstr>
      <vt:lpstr>Common Techniques of Feature Engineering </vt:lpstr>
      <vt:lpstr>Polynomial Regression</vt:lpstr>
      <vt:lpstr>Normal Equation</vt:lpstr>
      <vt:lpstr>Comparison of Gradient Descent and Normal Equation</vt:lpstr>
      <vt:lpstr>Quadratic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Dr.Mahdiha Khalid</dc:creator>
  <cp:lastModifiedBy>Dr.Mahdiha Khalid</cp:lastModifiedBy>
  <cp:revision>34</cp:revision>
  <dcterms:created xsi:type="dcterms:W3CDTF">2026-02-17T10:11:18Z</dcterms:created>
  <dcterms:modified xsi:type="dcterms:W3CDTF">2026-02-28T07:28:15Z</dcterms:modified>
</cp:coreProperties>
</file>