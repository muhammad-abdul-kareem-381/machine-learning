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685" r:id="rId3"/>
    <p:sldId id="677" r:id="rId4"/>
    <p:sldId id="638" r:id="rId5"/>
    <p:sldId id="831" r:id="rId6"/>
    <p:sldId id="832" r:id="rId7"/>
    <p:sldId id="864" r:id="rId8"/>
    <p:sldId id="847" r:id="rId9"/>
    <p:sldId id="848" r:id="rId10"/>
    <p:sldId id="849" r:id="rId11"/>
    <p:sldId id="866" r:id="rId12"/>
    <p:sldId id="851" r:id="rId13"/>
    <p:sldId id="402" r:id="rId14"/>
    <p:sldId id="403" r:id="rId15"/>
    <p:sldId id="876" r:id="rId16"/>
    <p:sldId id="852" r:id="rId17"/>
    <p:sldId id="853" r:id="rId18"/>
    <p:sldId id="855" r:id="rId19"/>
    <p:sldId id="867" r:id="rId20"/>
    <p:sldId id="868" r:id="rId21"/>
    <p:sldId id="8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17T06:38:53.11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DB5F2-4CC0-43A0-A2FE-A90F536E1B32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461B3-CF0D-4DDA-A8D9-1209A72FF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58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li.thegreenplace.net/2016/the-softmax-function-and-its-derivative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286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808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679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04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315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077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our correct answer 'y' is 0, then the cost function will be 0 if our hypothesis function also outputs 0. If our hypothesis approaches 1, then the cost function will approach infinity.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our correct answer 'y' is 1, then the cost function will be 0 if our hypothesis function outputs 1. If our hypothesis approaches 0, then the cost function will approach infinity.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Note that writing the cost function in this way guarantees that J(θ) is convex for logistic regression.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37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65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14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https://eli.thegreenplace.net/2016/the-softmax-function-and-its-derivative/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07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2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D70C-DE1D-BBAB-9361-ADEA33E2C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66D9A-8CBB-FA6A-78ED-42085BACF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FB215-3082-058F-BEE3-E5711A0F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2942-0DAF-B478-5306-8EF3F865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5A99C-B3FC-62C7-E645-6B2CE9EE3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DED7-3485-65DC-CA25-3C3162388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33FBB-D99D-7BE7-3B6E-05867CD45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B6F8F-B9B2-EFCE-29B2-213E4204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5FD73-26F5-823A-04DF-7872E066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86F6-497C-603F-160F-6C0420AB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6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4C48D-87B4-AEF5-C6F0-D0D6BB6D1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0952F-1ECD-CCEF-FC90-8CD159CF4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E934A-6126-77E0-D600-E6372940B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EE73-4219-159F-8F58-819D6195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2C883-2069-169C-D55A-C10F920B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7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31D1-CF01-8231-C80D-F89A1AFF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92C2C-DC35-AAF3-DA8D-F09BA7E96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5A6F5-82B4-1C22-1AE9-237C7D237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8A6576-AECE-73AE-2C87-ADADD6950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F6015-7D5B-B10E-6E77-7D49ADA1A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30CF3-39E6-C462-FFB3-0D7EF467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8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088CC-EA4E-28D6-5FB3-57DC76E1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B39EA-F84C-068F-D748-7F49093B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C6A66-5E05-F672-3724-CB7727D93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BB2BC-4600-8BA9-AFCC-B5087BA443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9C9557-4595-3FC5-3F66-76FAB4C30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8BAE91-F961-7F27-B9A8-C9FDAC763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2BA114-4E71-5941-39F8-E70CD2D19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64F39-9C59-CFF4-D732-FA89796A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07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22163-CF26-680A-4798-5D7BAC68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5EC3A6-8FAA-C613-0E3B-3C11AD88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E8510-2BE0-94EC-32FF-E2E70C69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D2DC9-DCF9-6C20-82C2-4A3317338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9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08C64F-9258-546D-F012-52C1CC9A4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44758-693C-0EA4-5B5F-2FE865E3A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68911-32B3-0A7F-6EF3-1D811CB1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6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EC985-FA94-CB44-F143-E8D4C88E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7E56-FF49-9942-0608-73E0C05D5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C53DB-443C-0446-CD80-3248D970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A8F9E-AED1-2CD2-4E5A-70C31B5C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20489-AF86-B721-B798-83D74C0A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EDABA-90A6-6550-3A60-72D1B509D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130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7E4B0-598D-CBBA-632D-5AB7BA62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02C20-C7F2-80FB-2FFB-D7412BD11D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E63B59-D802-924C-79D5-0D25EA295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9C810-C6B9-4F78-97F1-0502AFF60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D8317-D489-62E4-6449-06004FB2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C758B-33F5-BCB6-0064-522FBA1CA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61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F58C-CC75-BED8-15B2-D0CEE2644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49A298-D4BE-2106-7DE7-0DDE0933C7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29D38-471A-608B-CA36-8A563CE7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35565-3CBD-2F72-F8F4-0B2F60D87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FB3B-7E5B-3128-D06E-2E0AA416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9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1F26EB-C4D9-3D58-B086-6964A9CB5F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28E8B-3E52-7152-9041-7B590CB98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70856-A738-15B9-1645-B1759572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FC79F-3F61-B1D0-5739-F19B5E7F8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CF06A-5077-53D5-70EE-203DC37A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88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9BB15-74D3-4169-92C6-91CB4977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3483" y="63694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105CA3-1FD5-40C3-BDA4-52DBB315E262}" type="datetime1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782F-1918-4E94-8A8B-9112C402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Data Science in Practice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7E0F-6662-4191-AE81-1BC4D02F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0965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D50A3D7C-70F1-4B51-BC20-2772D1CDE1B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FE3AFD7C-355B-42C6-870B-89721533F5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66502"/>
            <a:ext cx="12192000" cy="681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3258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0313-D65E-48C4-A3A6-34119A1AE1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93483" y="636941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EE30DAA-7065-4890-9212-BDE130B87FA8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C75F9-346B-4BC5-B94F-9855FA34A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Science in Practice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F3D9E-7353-49E1-9D01-B7CC9A5BE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0965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D50A3D7C-70F1-4B51-BC20-2772D1CDE1B2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64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0404B3-A0E9-8153-01DC-DDD79C33E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BDFA-1EE3-CC75-CA51-9400E5DAF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E30E8-888A-E885-B12A-9137AEEBE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40E5E-E653-4B41-AFA5-CC5D140B1F8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D570D-E04A-3378-7309-BC9A6E72D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3BA85-964F-9374-DB91-1FF72226E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3654F-8035-40FD-8A9A-F26333DDB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8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tags" Target="../tags/tag3.xml"/><Relationship Id="rId7" Type="http://schemas.openxmlformats.org/officeDocument/2006/relationships/image" Target="../media/image21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tags" Target="../tags/tag6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25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image" Target="../media/image24.png"/><Relationship Id="rId5" Type="http://schemas.openxmlformats.org/officeDocument/2006/relationships/tags" Target="../tags/tag8.xml"/><Relationship Id="rId10" Type="http://schemas.openxmlformats.org/officeDocument/2006/relationships/image" Target="../media/image20.png"/><Relationship Id="rId4" Type="http://schemas.openxmlformats.org/officeDocument/2006/relationships/tags" Target="../tags/tag7.xml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4233-1EBC-CED6-E691-DBFF0DDF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2195"/>
            <a:ext cx="9144000" cy="2387600"/>
          </a:xfrm>
        </p:spPr>
        <p:txBody>
          <a:bodyPr/>
          <a:lstStyle/>
          <a:p>
            <a:r>
              <a:rPr lang="en-US"/>
              <a:t>Machine Learning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ED69C-495E-33A8-8972-479097975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38266"/>
            <a:ext cx="9144000" cy="707203"/>
          </a:xfrm>
        </p:spPr>
        <p:txBody>
          <a:bodyPr>
            <a:normAutofit/>
          </a:bodyPr>
          <a:lstStyle/>
          <a:p>
            <a:r>
              <a:rPr lang="en-US" sz="3200" dirty="0"/>
              <a:t>Lecture 08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14:cNvPr>
              <p14:cNvContentPartPr/>
              <p14:nvPr/>
            </p14:nvContentPartPr>
            <p14:xfrm>
              <a:off x="6158876" y="4119257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7581A9B-0DD0-281E-AC5B-4335A0E992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9876" y="4110257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3668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Machine Learning Basics with Examples — Part 2 Supervised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106" y="1144588"/>
            <a:ext cx="5581650" cy="3252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51" y="4267200"/>
            <a:ext cx="5581650" cy="259080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E5F28F62-81A7-5355-520F-B5CB9A97B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106" y="58736"/>
            <a:ext cx="9947787" cy="1325563"/>
          </a:xfrm>
        </p:spPr>
        <p:txBody>
          <a:bodyPr/>
          <a:lstStyle/>
          <a:p>
            <a:r>
              <a:rPr lang="en-US" dirty="0"/>
              <a:t>Classification</a:t>
            </a:r>
            <a:endParaRPr lang="de-DE" dirty="0"/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35B43F1F-CD41-2D59-D468-16B5A162AF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293" y="2035404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7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598692" y="959330"/>
            <a:ext cx="11593308" cy="577520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Classification algorithms are used when the output variable is categorical, which means there are two or more classes.</a:t>
            </a:r>
            <a:endParaRPr lang="en-US" sz="3600" dirty="0"/>
          </a:p>
          <a:p>
            <a:r>
              <a:rPr lang="en-US" sz="4000" dirty="0"/>
              <a:t>Algorithms</a:t>
            </a:r>
          </a:p>
          <a:p>
            <a:pPr lvl="1"/>
            <a:r>
              <a:rPr lang="en-US" sz="3600" dirty="0"/>
              <a:t>Logistic Regression</a:t>
            </a:r>
          </a:p>
          <a:p>
            <a:pPr lvl="1"/>
            <a:r>
              <a:rPr lang="en-US" sz="3600" dirty="0"/>
              <a:t>Naïve Bayes</a:t>
            </a:r>
          </a:p>
          <a:p>
            <a:pPr lvl="1"/>
            <a:r>
              <a:rPr lang="en-US" sz="3600" dirty="0"/>
              <a:t>Support vector Machines</a:t>
            </a:r>
          </a:p>
          <a:p>
            <a:pPr lvl="1"/>
            <a:r>
              <a:rPr lang="en-US" sz="3600" dirty="0"/>
              <a:t>Random Forest</a:t>
            </a:r>
          </a:p>
          <a:p>
            <a:pPr lvl="1"/>
            <a:r>
              <a:rPr lang="en-US" sz="3600" dirty="0"/>
              <a:t>Decision Trees</a:t>
            </a:r>
          </a:p>
          <a:p>
            <a:pPr marL="457189" indent="-457189" defTabSz="1219170">
              <a:defRPr/>
            </a:pPr>
            <a:endParaRPr lang="en-US" sz="4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1B6B83-18A9-11FB-F537-A9FFB338D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Algorithms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4484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Perform Classification </a:t>
            </a:r>
            <a:endParaRPr lang="en-US" b="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5759" y="1143700"/>
            <a:ext cx="10515600" cy="5071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Training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Testing Data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88" y="761314"/>
            <a:ext cx="9548524" cy="49407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954" y="6065812"/>
            <a:ext cx="1913026" cy="600075"/>
          </a:xfrm>
          <a:prstGeom prst="rect">
            <a:avLst/>
          </a:prstGeom>
        </p:spPr>
      </p:pic>
      <p:pic>
        <p:nvPicPr>
          <p:cNvPr id="10" name="Picture 2" descr="Difference Between Assessment and Evaluation (with Comparison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407" y="5553085"/>
            <a:ext cx="2076235" cy="132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Down Arrow 10"/>
          <p:cNvSpPr/>
          <p:nvPr/>
        </p:nvSpPr>
        <p:spPr>
          <a:xfrm rot="3714745">
            <a:off x="10509718" y="4941244"/>
            <a:ext cx="375259" cy="14086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4912963" y="6295717"/>
            <a:ext cx="2851688" cy="2892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1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249280"/>
            <a:ext cx="11214376" cy="1179720"/>
          </a:xfrm>
        </p:spPr>
        <p:txBody>
          <a:bodyPr/>
          <a:lstStyle/>
          <a:p>
            <a:pPr algn="ctr"/>
            <a:r>
              <a:rPr lang="en-US" dirty="0"/>
              <a:t>Logistic Regression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6415774" y="6341495"/>
            <a:ext cx="56304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Source: https://www.coursera.org/learn/machine-learning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37425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442453" y="912388"/>
            <a:ext cx="11749547" cy="578136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Supervised Machine Learning algorithm</a:t>
            </a:r>
          </a:p>
          <a:p>
            <a:r>
              <a:rPr lang="en-US" dirty="0"/>
              <a:t>Binary Classification Algorithm</a:t>
            </a:r>
          </a:p>
          <a:p>
            <a:r>
              <a:rPr lang="en-US" dirty="0"/>
              <a:t>Don't be confused by the name "Logistic Regression“.</a:t>
            </a:r>
          </a:p>
          <a:p>
            <a:r>
              <a:rPr lang="en-US" dirty="0"/>
              <a:t>It is named that way for historical reasons and is actually an approach to classification problems, not regression problems</a:t>
            </a:r>
          </a:p>
          <a:p>
            <a:r>
              <a:rPr lang="en-US" dirty="0"/>
              <a:t>Instead of our output vector y being a continuous range of values, it will only be 0 or 1. y∈{0,1}</a:t>
            </a:r>
          </a:p>
          <a:p>
            <a:r>
              <a:rPr lang="en-US" dirty="0"/>
              <a:t>Where 0 is usually taken as the "negative class" and 1 as the "positive class", but you are free to assign any representation to it.</a:t>
            </a:r>
          </a:p>
          <a:p>
            <a:r>
              <a:rPr lang="en-US" dirty="0"/>
              <a:t>One method is to use linear regression and map all predictions greater than 0.5 as a 1 and all less than 0.5 as a 0. </a:t>
            </a:r>
          </a:p>
          <a:p>
            <a:r>
              <a:rPr lang="en-US" dirty="0"/>
              <a:t>This method doesn't work well because classification is not actually a linear function.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3913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36B74-1F37-3488-B5BA-A6A21A43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  <a:endParaRPr lang="de-DE" dirty="0"/>
          </a:p>
        </p:txBody>
      </p:sp>
      <p:pic>
        <p:nvPicPr>
          <p:cNvPr id="4" name="Picture 3" descr="A picture containing drawing, sketch, clipart, cartoon&#10;&#10;Description automatically generated">
            <a:extLst>
              <a:ext uri="{FF2B5EF4-FFF2-40B4-BE49-F238E27FC236}">
                <a16:creationId xmlns:a16="http://schemas.microsoft.com/office/drawing/2014/main" id="{DB52F1FE-6250-E533-69BD-E4C24D82D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753" y="849184"/>
            <a:ext cx="3707936" cy="2400000"/>
          </a:xfrm>
          <a:prstGeom prst="rect">
            <a:avLst/>
          </a:prstGeom>
        </p:spPr>
      </p:pic>
      <p:pic>
        <p:nvPicPr>
          <p:cNvPr id="6" name="Picture 5" descr="A picture containing text, font, handwriting, line&#10;&#10;Description automatically generated">
            <a:extLst>
              <a:ext uri="{FF2B5EF4-FFF2-40B4-BE49-F238E27FC236}">
                <a16:creationId xmlns:a16="http://schemas.microsoft.com/office/drawing/2014/main" id="{04B74900-FD6B-092C-37D1-66BD3CAD7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74" y="3249184"/>
            <a:ext cx="4990476" cy="3200000"/>
          </a:xfrm>
          <a:prstGeom prst="rect">
            <a:avLst/>
          </a:prstGeom>
        </p:spPr>
      </p:pic>
      <p:pic>
        <p:nvPicPr>
          <p:cNvPr id="8" name="Picture 7" descr="A picture containing text, font, handwriting, diagram&#10;&#10;Description automatically generated">
            <a:extLst>
              <a:ext uri="{FF2B5EF4-FFF2-40B4-BE49-F238E27FC236}">
                <a16:creationId xmlns:a16="http://schemas.microsoft.com/office/drawing/2014/main" id="{65853169-22D4-188F-A532-E422F21AC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266797"/>
            <a:ext cx="4990476" cy="320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61C43B-B6A8-A61F-521B-5AFB0BDF2DE8}"/>
              </a:ext>
            </a:extLst>
          </p:cNvPr>
          <p:cNvSpPr txBox="1"/>
          <p:nvPr/>
        </p:nvSpPr>
        <p:spPr>
          <a:xfrm>
            <a:off x="10521537" y="6299744"/>
            <a:ext cx="84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Adit.io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830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Hypothesis function: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’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Our hypothesis should satisfy:</a:t>
                </a:r>
              </a:p>
              <a:p>
                <a:pPr lvl="1"/>
                <a:r>
                  <a:rPr lang="en-US" sz="2800" dirty="0"/>
                  <a:t>0 ≤ </a:t>
                </a:r>
                <a:r>
                  <a:rPr lang="en-US" sz="2800" i="1" dirty="0" err="1"/>
                  <a:t>hθ</a:t>
                </a:r>
                <a:r>
                  <a:rPr lang="en-US" sz="2800" dirty="0"/>
                  <a:t>​(</a:t>
                </a:r>
                <a:r>
                  <a:rPr lang="en-US" sz="2800" i="1" dirty="0"/>
                  <a:t>x</a:t>
                </a:r>
                <a:r>
                  <a:rPr lang="en-US" sz="2800" dirty="0"/>
                  <a:t>) ≤1</a:t>
                </a:r>
              </a:p>
              <a:p>
                <a:r>
                  <a:rPr lang="en-US" dirty="0"/>
                  <a:t>Our new form uses the "Sigmoid Function" also called the "Logistic Function”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= </a:t>
                </a:r>
                <a:r>
                  <a:rPr lang="en-US" i="1" dirty="0"/>
                  <a:t>g </a:t>
                </a:r>
                <a:r>
                  <a:rPr lang="en-US" dirty="0"/>
                  <a:t>(</a:t>
                </a:r>
                <a:r>
                  <a:rPr lang="el-GR" dirty="0"/>
                  <a:t>θ</a:t>
                </a:r>
                <a:r>
                  <a:rPr lang="en-US" baseline="30000" dirty="0"/>
                  <a:t>T</a:t>
                </a:r>
                <a:r>
                  <a:rPr lang="en-US" dirty="0"/>
                  <a:t>x)</a:t>
                </a:r>
              </a:p>
              <a:p>
                <a:pPr lvl="1"/>
                <a:r>
                  <a:rPr lang="en-US" i="1" dirty="0"/>
                  <a:t>z </a:t>
                </a:r>
                <a:r>
                  <a:rPr lang="en-US" dirty="0"/>
                  <a:t>= </a:t>
                </a:r>
                <a:r>
                  <a:rPr lang="el-GR" dirty="0"/>
                  <a:t>θ</a:t>
                </a:r>
                <a:r>
                  <a:rPr lang="en-US" baseline="30000" dirty="0"/>
                  <a:t>T</a:t>
                </a:r>
                <a:r>
                  <a:rPr lang="en-US" dirty="0"/>
                  <a:t>x</a:t>
                </a:r>
              </a:p>
              <a:p>
                <a:pPr lvl="1"/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z</a:t>
                </a:r>
                <a:r>
                  <a:rPr lang="en-US" dirty="0"/>
                  <a:t>) = 1 / ( 1+</a:t>
                </a:r>
                <a:r>
                  <a:rPr lang="en-US" i="1" dirty="0"/>
                  <a:t>e</a:t>
                </a:r>
                <a:r>
                  <a:rPr lang="en-US" baseline="30000" dirty="0"/>
                  <a:t>−</a:t>
                </a:r>
                <a:r>
                  <a:rPr lang="en-US" i="1" baseline="30000" dirty="0"/>
                  <a:t>z </a:t>
                </a:r>
                <a:r>
                  <a:rPr lang="en-US" i="1" dirty="0"/>
                  <a:t>)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  <a:blipFill>
                <a:blip r:embed="rId3"/>
                <a:stretch>
                  <a:fillRect l="-934" t="-17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154" name="Picture 2" descr="https://d3c33hcgiwev3.cloudfront.net/imageAssetProxy.v1/1WFqZHntEead-BJkoDOYOw_2413fbec8ff9fa1f19aaf78265b8a33b_Logistic_function.png?expiry=1613779200000&amp;hmac=wNaiXEeNEGGaNXqUXdm5-8fAEfGXV4AefCvPuhTao7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404" y="3954580"/>
            <a:ext cx="7867650" cy="290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265410" y="3021330"/>
          <a:ext cx="1423670" cy="3457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z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sig(z)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-2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-1.5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0.27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0.38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0.62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0.73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0.82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0.88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0.92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913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442453" y="912388"/>
            <a:ext cx="11749547" cy="57813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start with our old hypothesis (linear regression), except that we want to restrict the range to 0 and 1. </a:t>
            </a:r>
          </a:p>
          <a:p>
            <a:r>
              <a:rPr lang="en-US" dirty="0"/>
              <a:t>This is accomplished by plugging </a:t>
            </a:r>
            <a:r>
              <a:rPr lang="en-US" i="1" dirty="0" err="1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dirty="0"/>
              <a:t> into the Logistic Function.</a:t>
            </a:r>
          </a:p>
          <a:p>
            <a:r>
              <a:rPr lang="en-US" i="1" dirty="0" err="1"/>
              <a:t>hθ</a:t>
            </a:r>
            <a:r>
              <a:rPr lang="en-US" dirty="0"/>
              <a:t>​ will give us the </a:t>
            </a:r>
            <a:r>
              <a:rPr lang="en-US" b="1" dirty="0"/>
              <a:t>probability</a:t>
            </a:r>
            <a:r>
              <a:rPr lang="en-US" dirty="0"/>
              <a:t> that our output is 1. </a:t>
            </a:r>
          </a:p>
          <a:p>
            <a:r>
              <a:rPr lang="en-US" dirty="0"/>
              <a:t>For example, </a:t>
            </a:r>
            <a:r>
              <a:rPr lang="en-US" i="1" dirty="0" err="1"/>
              <a:t>hθ</a:t>
            </a:r>
            <a:r>
              <a:rPr lang="en-US" dirty="0"/>
              <a:t>​(</a:t>
            </a:r>
            <a:r>
              <a:rPr lang="en-US" i="1" dirty="0"/>
              <a:t>x</a:t>
            </a:r>
            <a:r>
              <a:rPr lang="en-US" dirty="0"/>
              <a:t>)=0.7 gives us the probability of 70% that our output is 1.</a:t>
            </a:r>
          </a:p>
          <a:p>
            <a:pPr lvl="1"/>
            <a:r>
              <a:rPr lang="es-ES" i="1" dirty="0" err="1"/>
              <a:t>hθ</a:t>
            </a:r>
            <a:r>
              <a:rPr lang="es-ES" dirty="0"/>
              <a:t>(</a:t>
            </a:r>
            <a:r>
              <a:rPr lang="es-ES" i="1" dirty="0"/>
              <a:t>x</a:t>
            </a:r>
            <a:r>
              <a:rPr lang="es-ES" dirty="0"/>
              <a:t>) = </a:t>
            </a:r>
            <a:r>
              <a:rPr lang="es-ES" i="1" dirty="0"/>
              <a:t>P</a:t>
            </a:r>
            <a:r>
              <a:rPr lang="es-ES" dirty="0"/>
              <a:t>(</a:t>
            </a:r>
            <a:r>
              <a:rPr lang="es-ES" i="1" dirty="0"/>
              <a:t>y</a:t>
            </a:r>
            <a:r>
              <a:rPr lang="es-ES" dirty="0"/>
              <a:t>=1|</a:t>
            </a:r>
            <a:r>
              <a:rPr lang="es-ES" i="1" dirty="0"/>
              <a:t>x</a:t>
            </a:r>
            <a:r>
              <a:rPr lang="es-ES" dirty="0"/>
              <a:t>;</a:t>
            </a:r>
            <a:r>
              <a:rPr lang="es-ES" i="1" dirty="0"/>
              <a:t>θ</a:t>
            </a:r>
            <a:r>
              <a:rPr lang="es-ES" dirty="0"/>
              <a:t>) = 1 − </a:t>
            </a:r>
            <a:r>
              <a:rPr lang="es-ES" i="1" dirty="0"/>
              <a:t>P</a:t>
            </a:r>
            <a:r>
              <a:rPr lang="es-ES" dirty="0"/>
              <a:t>(</a:t>
            </a:r>
            <a:r>
              <a:rPr lang="es-ES" i="1" dirty="0"/>
              <a:t>y</a:t>
            </a:r>
            <a:r>
              <a:rPr lang="es-ES" dirty="0"/>
              <a:t>=0|</a:t>
            </a:r>
            <a:r>
              <a:rPr lang="es-ES" i="1" dirty="0"/>
              <a:t>x</a:t>
            </a:r>
            <a:r>
              <a:rPr lang="es-ES" dirty="0"/>
              <a:t>;</a:t>
            </a:r>
            <a:r>
              <a:rPr lang="es-ES" i="1" dirty="0"/>
              <a:t>θ</a:t>
            </a:r>
            <a:r>
              <a:rPr lang="es-ES" dirty="0"/>
              <a:t>)</a:t>
            </a:r>
          </a:p>
          <a:p>
            <a:pPr lvl="1"/>
            <a:r>
              <a:rPr lang="es-ES" i="1" dirty="0"/>
              <a:t>P</a:t>
            </a:r>
            <a:r>
              <a:rPr lang="es-ES" dirty="0"/>
              <a:t>(</a:t>
            </a:r>
            <a:r>
              <a:rPr lang="es-ES" i="1" dirty="0"/>
              <a:t>y</a:t>
            </a:r>
            <a:r>
              <a:rPr lang="es-ES" dirty="0"/>
              <a:t>=0|</a:t>
            </a:r>
            <a:r>
              <a:rPr lang="es-ES" i="1" dirty="0"/>
              <a:t>x</a:t>
            </a:r>
            <a:r>
              <a:rPr lang="es-ES" dirty="0"/>
              <a:t>;</a:t>
            </a:r>
            <a:r>
              <a:rPr lang="es-ES" i="1" dirty="0"/>
              <a:t>θ</a:t>
            </a:r>
            <a:r>
              <a:rPr lang="es-ES" dirty="0"/>
              <a:t>) + </a:t>
            </a:r>
            <a:r>
              <a:rPr lang="es-ES" i="1" dirty="0"/>
              <a:t>P</a:t>
            </a:r>
            <a:r>
              <a:rPr lang="es-ES" dirty="0"/>
              <a:t>(</a:t>
            </a:r>
            <a:r>
              <a:rPr lang="es-ES" i="1" dirty="0"/>
              <a:t>y</a:t>
            </a:r>
            <a:r>
              <a:rPr lang="es-ES" dirty="0"/>
              <a:t>=1|</a:t>
            </a:r>
            <a:r>
              <a:rPr lang="es-ES" i="1" dirty="0"/>
              <a:t>x</a:t>
            </a:r>
            <a:r>
              <a:rPr lang="es-ES" dirty="0"/>
              <a:t>;</a:t>
            </a:r>
            <a:r>
              <a:rPr lang="es-ES" i="1" dirty="0"/>
              <a:t>θ</a:t>
            </a:r>
            <a:r>
              <a:rPr lang="es-ES" dirty="0"/>
              <a:t>) = 1</a:t>
            </a:r>
          </a:p>
          <a:p>
            <a:r>
              <a:rPr lang="en-US" dirty="0"/>
              <a:t>Our probability that our prediction is 0 is just the complement of our probability that it is 1 (e.g. if probability that it is 1 is 70%, then the probability that it is 0 is 30%).</a:t>
            </a:r>
            <a:br>
              <a:rPr lang="es-ES" dirty="0"/>
            </a:br>
            <a:endParaRPr lang="en-US" dirty="0"/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4625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Logistic Regression (Decision Boundary)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442453" y="912388"/>
            <a:ext cx="11749547" cy="578136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order to get our discrete 0 or 1 classification, we can translate the output of the hypothesis function as follows:</a:t>
            </a:r>
          </a:p>
          <a:p>
            <a:pPr lvl="1"/>
            <a:r>
              <a:rPr lang="en-US" i="1" dirty="0"/>
              <a:t>h</a:t>
            </a:r>
            <a:r>
              <a:rPr lang="el-GR" i="1" dirty="0"/>
              <a:t>θ</a:t>
            </a:r>
            <a:r>
              <a:rPr lang="el-GR" dirty="0"/>
              <a:t>(</a:t>
            </a:r>
            <a:r>
              <a:rPr lang="en-US" i="1" dirty="0"/>
              <a:t>x</a:t>
            </a:r>
            <a:r>
              <a:rPr lang="en-US" dirty="0"/>
              <a:t>) ≥ 0.5 → </a:t>
            </a:r>
            <a:r>
              <a:rPr lang="en-US" i="1" dirty="0"/>
              <a:t>y </a:t>
            </a:r>
            <a:r>
              <a:rPr lang="en-US" dirty="0"/>
              <a:t>= 1</a:t>
            </a:r>
          </a:p>
          <a:p>
            <a:pPr lvl="1"/>
            <a:r>
              <a:rPr lang="en-US" i="1" dirty="0"/>
              <a:t>h</a:t>
            </a:r>
            <a:r>
              <a:rPr lang="el-GR" i="1" dirty="0"/>
              <a:t>θ</a:t>
            </a:r>
            <a:r>
              <a:rPr lang="el-GR" dirty="0"/>
              <a:t>(</a:t>
            </a:r>
            <a:r>
              <a:rPr lang="en-US" i="1" dirty="0"/>
              <a:t>x</a:t>
            </a:r>
            <a:r>
              <a:rPr lang="en-US" dirty="0"/>
              <a:t>) &lt; 0.5 → </a:t>
            </a:r>
            <a:r>
              <a:rPr lang="en-US" i="1" dirty="0"/>
              <a:t>y </a:t>
            </a:r>
            <a:r>
              <a:rPr lang="en-US" dirty="0"/>
              <a:t>= 0</a:t>
            </a:r>
          </a:p>
          <a:p>
            <a:r>
              <a:rPr lang="en-US" dirty="0"/>
              <a:t>The way our logistic function g behaves is that when its input is greater than or equal to zero, its output is greater than or equal to 0.5:</a:t>
            </a:r>
          </a:p>
          <a:p>
            <a:pPr lvl="1"/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z</a:t>
            </a:r>
            <a:r>
              <a:rPr lang="en-US" dirty="0"/>
              <a:t>) ≥ 0.5 </a:t>
            </a:r>
            <a:r>
              <a:rPr lang="en-US" i="1" dirty="0"/>
              <a:t>when z </a:t>
            </a:r>
            <a:r>
              <a:rPr lang="en-US" dirty="0"/>
              <a:t>≥ 0</a:t>
            </a:r>
          </a:p>
          <a:p>
            <a:r>
              <a:rPr lang="en-US" dirty="0"/>
              <a:t>So if our input to g is </a:t>
            </a:r>
            <a:r>
              <a:rPr lang="en-US" i="1" dirty="0" err="1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dirty="0"/>
              <a:t>, then that means:</a:t>
            </a:r>
          </a:p>
          <a:p>
            <a:pPr lvl="1"/>
            <a:r>
              <a:rPr lang="en-US" i="1" dirty="0"/>
              <a:t>h</a:t>
            </a:r>
            <a:r>
              <a:rPr lang="el-GR" i="1" dirty="0"/>
              <a:t>θ</a:t>
            </a:r>
            <a:r>
              <a:rPr lang="el-GR" dirty="0"/>
              <a:t>(</a:t>
            </a:r>
            <a:r>
              <a:rPr lang="en-US" i="1" dirty="0"/>
              <a:t>x</a:t>
            </a:r>
            <a:r>
              <a:rPr lang="en-US" dirty="0"/>
              <a:t>)=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l-GR" i="1" dirty="0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dirty="0"/>
              <a:t>) ≥ 0.5 </a:t>
            </a:r>
            <a:r>
              <a:rPr lang="en-US" i="1" dirty="0"/>
              <a:t>when </a:t>
            </a:r>
            <a:r>
              <a:rPr lang="el-GR" i="1" dirty="0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i="1" dirty="0"/>
              <a:t> </a:t>
            </a:r>
            <a:r>
              <a:rPr lang="en-US" dirty="0"/>
              <a:t>≥ 0</a:t>
            </a:r>
          </a:p>
          <a:p>
            <a:r>
              <a:rPr lang="en-US" dirty="0"/>
              <a:t>From these statements we can now say:</a:t>
            </a:r>
            <a:endParaRPr lang="en-US" b="1" dirty="0"/>
          </a:p>
          <a:p>
            <a:pPr lvl="1"/>
            <a:r>
              <a:rPr lang="el-GR" i="1" dirty="0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i="1" dirty="0"/>
              <a:t> </a:t>
            </a:r>
            <a:r>
              <a:rPr lang="en-US" dirty="0"/>
              <a:t>≥ 0 ⇒ </a:t>
            </a:r>
            <a:r>
              <a:rPr lang="en-US" i="1" dirty="0"/>
              <a:t>y </a:t>
            </a:r>
            <a:r>
              <a:rPr lang="en-US" dirty="0"/>
              <a:t>= 1</a:t>
            </a:r>
          </a:p>
          <a:p>
            <a:pPr lvl="1"/>
            <a:r>
              <a:rPr lang="el-GR" i="1" dirty="0"/>
              <a:t>θ</a:t>
            </a:r>
            <a:r>
              <a:rPr lang="en-US" i="1" baseline="30000" dirty="0" err="1"/>
              <a:t>T</a:t>
            </a:r>
            <a:r>
              <a:rPr lang="en-US" i="1" dirty="0" err="1"/>
              <a:t>x</a:t>
            </a:r>
            <a:r>
              <a:rPr lang="en-US" i="1" dirty="0"/>
              <a:t> </a:t>
            </a:r>
            <a:r>
              <a:rPr lang="en-US" dirty="0"/>
              <a:t>&lt; 0 ⇒ </a:t>
            </a:r>
            <a:r>
              <a:rPr lang="en-US" i="1" dirty="0"/>
              <a:t>y </a:t>
            </a:r>
            <a:r>
              <a:rPr lang="en-US" dirty="0"/>
              <a:t>= 0</a:t>
            </a:r>
          </a:p>
          <a:p>
            <a:r>
              <a:rPr lang="en-US" dirty="0"/>
              <a:t>The </a:t>
            </a:r>
            <a:r>
              <a:rPr lang="en-US" b="1" dirty="0"/>
              <a:t>decision boundary</a:t>
            </a:r>
            <a:r>
              <a:rPr lang="en-US" dirty="0"/>
              <a:t> is the line that separates the area where y = 0 and where y = 1. It is created by our hypothesis function.	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  <p:pic>
        <p:nvPicPr>
          <p:cNvPr id="6" name="Picture 2" descr="https://d3c33hcgiwev3.cloudfront.net/imageAssetProxy.v1/1WFqZHntEead-BJkoDOYOw_2413fbec8ff9fa1f19aaf78265b8a33b_Logistic_function.png?expiry=1613779200000&amp;hmac=wNaiXEeNEGGaNXqUXdm5-8fAEfGXV4AefCvPuhTao7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160" y="3803072"/>
            <a:ext cx="4495800" cy="155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1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48EB-6F0D-C23E-2B3A-F7C703BE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de-DE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7C4735-977B-5C20-1133-30F9733F4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18" y="786679"/>
            <a:ext cx="568642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0A064E75-C45F-4F79-B31D-543FBE11B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27" y="3751487"/>
            <a:ext cx="233362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C6F112-BE2F-D557-2AC0-8FF63CAD1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115" y="3784112"/>
            <a:ext cx="2026726" cy="135675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9843D8-5FAB-9389-475C-4DE237AEC04A}"/>
              </a:ext>
            </a:extLst>
          </p:cNvPr>
          <p:cNvCxnSpPr/>
          <p:nvPr/>
        </p:nvCxnSpPr>
        <p:spPr>
          <a:xfrm>
            <a:off x="6261904" y="681643"/>
            <a:ext cx="0" cy="5742306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56" name="Picture 8">
            <a:extLst>
              <a:ext uri="{FF2B5EF4-FFF2-40B4-BE49-F238E27FC236}">
                <a16:creationId xmlns:a16="http://schemas.microsoft.com/office/drawing/2014/main" id="{99CB102C-5DAA-2E5E-CA0C-D5E386C56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02" y="5347479"/>
            <a:ext cx="28194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96A2EE41-C394-AEF4-40E1-53B822E82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559" y="349295"/>
            <a:ext cx="4990723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93F61B97-6FD4-3DB9-EF04-3BABE8C0F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752" y="4189620"/>
            <a:ext cx="4121909" cy="265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50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(Decision Boundary)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l-GR" i="1" dirty="0"/>
                  <a:t>Θ</a:t>
                </a:r>
                <a:r>
                  <a:rPr lang="en-US" i="1" dirty="0"/>
                  <a:t> </a:t>
                </a:r>
                <a:r>
                  <a:rPr lang="el-GR" dirty="0"/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i="1" dirty="0"/>
                  <a:t>y</a:t>
                </a:r>
                <a:r>
                  <a:rPr lang="en-US" dirty="0"/>
                  <a:t>=1 </a:t>
                </a:r>
                <a:r>
                  <a:rPr lang="en-US" i="1" dirty="0"/>
                  <a:t>if </a:t>
                </a:r>
                <a:r>
                  <a:rPr lang="en-US" dirty="0"/>
                  <a:t>5+ (−1) * 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 0 * </a:t>
                </a:r>
                <a:r>
                  <a:rPr lang="en-US" i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 ≥ 0 </a:t>
                </a:r>
              </a:p>
              <a:p>
                <a:pPr marL="0" indent="0">
                  <a:buNone/>
                </a:pPr>
                <a:r>
                  <a:rPr lang="en-US" dirty="0"/>
                  <a:t>5− 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≥ 0</a:t>
                </a:r>
              </a:p>
              <a:p>
                <a:pPr marL="0" indent="0">
                  <a:buNone/>
                </a:pPr>
                <a:r>
                  <a:rPr lang="en-US" dirty="0"/>
                  <a:t>−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≥ − 5</a:t>
                </a:r>
              </a:p>
              <a:p>
                <a:pPr marL="0" indent="0">
                  <a:buNone/>
                </a:pP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≤ 5</a:t>
                </a:r>
              </a:p>
              <a:p>
                <a:r>
                  <a:rPr lang="en-US" dirty="0"/>
                  <a:t>In this case, our decision boundary is a straight vertical line placed on the graph where x</a:t>
                </a:r>
                <a:r>
                  <a:rPr lang="en-US" baseline="-25000" dirty="0"/>
                  <a:t>1</a:t>
                </a:r>
                <a:r>
                  <a:rPr lang="en-US" dirty="0"/>
                  <a:t> = 5, and everything to the left of that denotes y = 1, while everything to the right denotes y = 0.</a:t>
                </a:r>
              </a:p>
              <a:p>
                <a:r>
                  <a:rPr lang="en-US" dirty="0"/>
                  <a:t>Again, the input to the sigmoid function g(z) (e.g. </a:t>
                </a:r>
                <a:r>
                  <a:rPr lang="en-US" i="1" dirty="0" err="1"/>
                  <a:t>θ</a:t>
                </a:r>
                <a:r>
                  <a:rPr lang="en-US" baseline="30000" dirty="0" err="1"/>
                  <a:t>T</a:t>
                </a:r>
                <a:r>
                  <a:rPr lang="en-US" i="1" dirty="0" err="1"/>
                  <a:t>X</a:t>
                </a:r>
                <a:r>
                  <a:rPr lang="en-US" dirty="0"/>
                  <a:t>) doesn't need to be linear, and could be a function that describes a circle (e.g. z = </a:t>
                </a:r>
                <a:r>
                  <a:rPr lang="en-US" i="1" dirty="0"/>
                  <a:t>θ</a:t>
                </a:r>
                <a:r>
                  <a:rPr lang="en-US" baseline="-25000" dirty="0"/>
                  <a:t>0</a:t>
                </a:r>
                <a:r>
                  <a:rPr lang="en-US" dirty="0"/>
                  <a:t>​ + </a:t>
                </a:r>
                <a:r>
                  <a:rPr lang="en-US" i="1" dirty="0"/>
                  <a:t>θ</a:t>
                </a:r>
                <a:r>
                  <a:rPr lang="en-US" baseline="-25000" dirty="0"/>
                  <a:t>1</a:t>
                </a:r>
                <a:r>
                  <a:rPr lang="en-US" dirty="0"/>
                  <a:t> ​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baseline="30000" dirty="0"/>
                  <a:t>2</a:t>
                </a:r>
                <a:r>
                  <a:rPr lang="en-US" dirty="0"/>
                  <a:t>​ + </a:t>
                </a:r>
                <a:r>
                  <a:rPr lang="en-US" i="1" dirty="0"/>
                  <a:t>θ</a:t>
                </a:r>
                <a:r>
                  <a:rPr lang="en-US" baseline="-25000" dirty="0"/>
                  <a:t>2</a:t>
                </a:r>
                <a:r>
                  <a:rPr lang="en-US" dirty="0"/>
                  <a:t>​</a:t>
                </a:r>
                <a:r>
                  <a:rPr lang="en-US" i="1" dirty="0"/>
                  <a:t>x</a:t>
                </a:r>
                <a:r>
                  <a:rPr lang="en-US" baseline="-25000" dirty="0"/>
                  <a:t>2</a:t>
                </a:r>
                <a:r>
                  <a:rPr lang="en-US" baseline="30000" dirty="0"/>
                  <a:t>2</a:t>
                </a:r>
                <a:r>
                  <a:rPr lang="en-US" dirty="0"/>
                  <a:t>​) or any shape to fit our data.</a:t>
                </a:r>
                <a:br>
                  <a:rPr lang="en-US" dirty="0"/>
                </a:b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  <a:blipFill>
                <a:blip r:embed="rId3"/>
                <a:stretch>
                  <a:fillRect l="-1090" t="-1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20249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653579" y="3387899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51" y="996553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388721" y="1193800"/>
            <a:ext cx="0" cy="226016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225864" y="3313377"/>
            <a:ext cx="233013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8000" y="381001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Calibri"/>
              </a:rPr>
              <a:t>Decision Boundary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1315670" y="2797475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322634" y="3316852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1324537" y="228248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1331501" y="2801864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325149" y="1763403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332113" y="2282780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 rot="16200000">
            <a:off x="2098777" y="2547565"/>
            <a:ext cx="140299" cy="1553449"/>
            <a:chOff x="1144375" y="1474952"/>
            <a:chExt cx="105224" cy="1165087"/>
          </a:xfrm>
        </p:grpSpPr>
        <p:cxnSp>
          <p:nvCxnSpPr>
            <p:cNvPr id="33" name="Straight Arrow Connector 32"/>
            <p:cNvCxnSpPr/>
            <p:nvPr/>
          </p:nvCxnSpPr>
          <p:spPr>
            <a:xfrm>
              <a:off x="1144375" y="2640039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151025" y="2253798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146261" y="1474952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151484" y="1864485"/>
              <a:ext cx="9811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1496155" y="1353493"/>
            <a:ext cx="1885301" cy="1900647"/>
            <a:chOff x="1122116" y="1015119"/>
            <a:chExt cx="1413976" cy="1425485"/>
          </a:xfrm>
        </p:grpSpPr>
        <p:sp>
          <p:nvSpPr>
            <p:cNvPr id="2" name="Oval 1"/>
            <p:cNvSpPr/>
            <p:nvPr/>
          </p:nvSpPr>
          <p:spPr>
            <a:xfrm>
              <a:off x="1122116" y="179522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1204609" y="202138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1127889" y="15427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84434" y="18888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348695" y="221637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537873" y="211444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123402" y="223185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" name="Cross 8"/>
            <p:cNvSpPr/>
            <p:nvPr/>
          </p:nvSpPr>
          <p:spPr>
            <a:xfrm rot="2734294">
              <a:off x="1839342" y="151042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" name="Cross 9"/>
            <p:cNvSpPr/>
            <p:nvPr/>
          </p:nvSpPr>
          <p:spPr>
            <a:xfrm rot="2734294">
              <a:off x="1496419" y="114771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1" name="Cross 10"/>
            <p:cNvSpPr/>
            <p:nvPr/>
          </p:nvSpPr>
          <p:spPr>
            <a:xfrm rot="2734294">
              <a:off x="1790032" y="128027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2" name="Cross 11"/>
            <p:cNvSpPr/>
            <p:nvPr/>
          </p:nvSpPr>
          <p:spPr>
            <a:xfrm rot="2734294">
              <a:off x="1718996" y="1030771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7" name="Cross 16"/>
            <p:cNvSpPr/>
            <p:nvPr/>
          </p:nvSpPr>
          <p:spPr>
            <a:xfrm rot="2734294">
              <a:off x="2099755" y="1232768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1681443" y="228716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39" name="Cross 38"/>
            <p:cNvSpPr/>
            <p:nvPr/>
          </p:nvSpPr>
          <p:spPr>
            <a:xfrm rot="2734294">
              <a:off x="2184711" y="149792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0" name="Cross 39"/>
            <p:cNvSpPr/>
            <p:nvPr/>
          </p:nvSpPr>
          <p:spPr>
            <a:xfrm rot="2734294">
              <a:off x="2066327" y="171826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1" name="Cross 40"/>
            <p:cNvSpPr/>
            <p:nvPr/>
          </p:nvSpPr>
          <p:spPr>
            <a:xfrm rot="2734294">
              <a:off x="2184616" y="196531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2" name="Cross 41"/>
            <p:cNvSpPr/>
            <p:nvPr/>
          </p:nvSpPr>
          <p:spPr>
            <a:xfrm rot="2734294">
              <a:off x="2382183" y="1703053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43" name="Cross 42"/>
            <p:cNvSpPr/>
            <p:nvPr/>
          </p:nvSpPr>
          <p:spPr>
            <a:xfrm rot="2734294">
              <a:off x="1948167" y="1015119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739956" y="3394439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1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255084" y="3394553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2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799538" y="3394553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3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49973" y="2593561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1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4129" y="2019240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2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3629" y="1533236"/>
            <a:ext cx="365697" cy="420564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2133" dirty="0">
                <a:solidFill>
                  <a:prstClr val="black"/>
                </a:solidFill>
                <a:latin typeface="Calibri"/>
              </a:rPr>
              <a:t>3</a:t>
            </a:r>
            <a:endParaRPr lang="en-US" sz="2133" baseline="-250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259" y="2236276"/>
            <a:ext cx="5714492" cy="47650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502581" y="2955164"/>
            <a:ext cx="72136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336" y="3129080"/>
            <a:ext cx="1066800" cy="412496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481" y="3815003"/>
            <a:ext cx="3534664" cy="3876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F84FC2-E73D-76D4-9281-D92A40E80785}"/>
                  </a:ext>
                </a:extLst>
              </p:cNvPr>
              <p:cNvSpPr txBox="1"/>
              <p:nvPr/>
            </p:nvSpPr>
            <p:spPr>
              <a:xfrm>
                <a:off x="4432045" y="662472"/>
                <a:ext cx="1801090" cy="12289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l-GR" sz="2800" i="1" dirty="0"/>
                  <a:t>Θ</a:t>
                </a:r>
                <a:r>
                  <a:rPr lang="en-US" sz="2800" i="1" dirty="0"/>
                  <a:t> </a:t>
                </a:r>
                <a:r>
                  <a:rPr lang="el-GR" sz="2800" dirty="0"/>
                  <a:t>=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de-DE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F84FC2-E73D-76D4-9281-D92A40E80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2045" y="662472"/>
                <a:ext cx="1801090" cy="1228926"/>
              </a:xfrm>
              <a:prstGeom prst="rect">
                <a:avLst/>
              </a:prstGeom>
              <a:blipFill>
                <a:blip r:embed="rId8"/>
                <a:stretch>
                  <a:fillRect l="-67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20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81000"/>
            <a:ext cx="721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Calibri"/>
              </a:rPr>
              <a:t>Non-linear decision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92576" y="2686193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9220" y="1003141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366988" y="1416288"/>
            <a:ext cx="0" cy="282551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988595" y="2878097"/>
            <a:ext cx="2691508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5465" y="1511300"/>
            <a:ext cx="5529580" cy="47650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954" y="2160247"/>
            <a:ext cx="2891028" cy="51206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828693" y="3429000"/>
            <a:ext cx="72136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>
                <a:solidFill>
                  <a:prstClr val="black"/>
                </a:solidFill>
                <a:latin typeface="Calibri"/>
              </a:rPr>
              <a:t>Predict “          “ if </a:t>
            </a:r>
          </a:p>
        </p:txBody>
      </p:sp>
      <p:pic>
        <p:nvPicPr>
          <p:cNvPr id="53" name="Picture 5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0448" y="3602916"/>
            <a:ext cx="1066800" cy="412496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784" y="3573933"/>
            <a:ext cx="3534664" cy="512064"/>
          </a:xfrm>
          <a:prstGeom prst="rect">
            <a:avLst/>
          </a:prstGeom>
        </p:spPr>
      </p:pic>
      <p:pic>
        <p:nvPicPr>
          <p:cNvPr id="64" name="Picture 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749" y="5229835"/>
            <a:ext cx="7023100" cy="5120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950408" y="5428155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63435" y="4039121"/>
            <a:ext cx="447558" cy="502766"/>
          </a:xfrm>
          <a:prstGeom prst="rect">
            <a:avLst/>
          </a:prstGeom>
          <a:noFill/>
          <a:ln w="19050">
            <a:noFill/>
          </a:ln>
        </p:spPr>
        <p:txBody>
          <a:bodyPr wrap="none" rtlCol="0">
            <a:spAutoFit/>
          </a:bodyPr>
          <a:lstStyle/>
          <a:p>
            <a:r>
              <a:rPr lang="en-US" sz="2667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US" sz="2667" baseline="-25000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1808627" y="4452268"/>
            <a:ext cx="12576" cy="224925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681906" y="5648652"/>
            <a:ext cx="230487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1" y="5863336"/>
            <a:ext cx="7037324" cy="512064"/>
          </a:xfrm>
          <a:prstGeom prst="rect">
            <a:avLst/>
          </a:prstGeom>
        </p:spPr>
      </p:pic>
      <p:grpSp>
        <p:nvGrpSpPr>
          <p:cNvPr id="101" name="Group 100"/>
          <p:cNvGrpSpPr/>
          <p:nvPr/>
        </p:nvGrpSpPr>
        <p:grpSpPr>
          <a:xfrm>
            <a:off x="1083808" y="1616428"/>
            <a:ext cx="2418705" cy="2439833"/>
            <a:chOff x="812855" y="1212320"/>
            <a:chExt cx="1814029" cy="1829875"/>
          </a:xfrm>
        </p:grpSpPr>
        <p:sp>
          <p:nvSpPr>
            <p:cNvPr id="77" name="Oval 76"/>
            <p:cNvSpPr/>
            <p:nvPr/>
          </p:nvSpPr>
          <p:spPr>
            <a:xfrm>
              <a:off x="1366477" y="2319308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1597322" y="2376201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1538039" y="214762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387791" y="182393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1704237" y="1791140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1531490" y="192751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3" name="Oval 82"/>
            <p:cNvSpPr/>
            <p:nvPr/>
          </p:nvSpPr>
          <p:spPr>
            <a:xfrm>
              <a:off x="1295400" y="2064623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4" name="Oval 83"/>
            <p:cNvSpPr/>
            <p:nvPr/>
          </p:nvSpPr>
          <p:spPr>
            <a:xfrm>
              <a:off x="1580767" y="168385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5" name="Cross 84"/>
            <p:cNvSpPr/>
            <p:nvPr/>
          </p:nvSpPr>
          <p:spPr>
            <a:xfrm rot="2734294">
              <a:off x="2472981" y="22371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6" name="Cross 85"/>
            <p:cNvSpPr/>
            <p:nvPr/>
          </p:nvSpPr>
          <p:spPr>
            <a:xfrm rot="2734294">
              <a:off x="1120341" y="2646737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7" name="Cross 86"/>
            <p:cNvSpPr/>
            <p:nvPr/>
          </p:nvSpPr>
          <p:spPr>
            <a:xfrm rot="2734294">
              <a:off x="1452062" y="284100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8" name="Cross 87"/>
            <p:cNvSpPr/>
            <p:nvPr/>
          </p:nvSpPr>
          <p:spPr>
            <a:xfrm rot="2734294">
              <a:off x="2271958" y="2670635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89" name="Cross 88"/>
            <p:cNvSpPr/>
            <p:nvPr/>
          </p:nvSpPr>
          <p:spPr>
            <a:xfrm rot="2734294">
              <a:off x="1853770" y="2888286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0" name="Cross 89"/>
            <p:cNvSpPr/>
            <p:nvPr/>
          </p:nvSpPr>
          <p:spPr>
            <a:xfrm rot="2734294">
              <a:off x="812855" y="2319072"/>
              <a:ext cx="153909" cy="153909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1" name="Oval 90"/>
            <p:cNvSpPr/>
            <p:nvPr/>
          </p:nvSpPr>
          <p:spPr>
            <a:xfrm>
              <a:off x="1848800" y="2070906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2" name="Oval 91"/>
            <p:cNvSpPr/>
            <p:nvPr/>
          </p:nvSpPr>
          <p:spPr>
            <a:xfrm>
              <a:off x="2045415" y="2224345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3" name="Oval 92"/>
            <p:cNvSpPr/>
            <p:nvPr/>
          </p:nvSpPr>
          <p:spPr>
            <a:xfrm>
              <a:off x="2026623" y="1882119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4" name="Oval 93"/>
            <p:cNvSpPr/>
            <p:nvPr/>
          </p:nvSpPr>
          <p:spPr>
            <a:xfrm>
              <a:off x="1848801" y="2428132"/>
              <a:ext cx="153439" cy="153439"/>
            </a:xfrm>
            <a:prstGeom prst="ellips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5" name="Cross 94"/>
            <p:cNvSpPr/>
            <p:nvPr/>
          </p:nvSpPr>
          <p:spPr>
            <a:xfrm rot="2734294">
              <a:off x="2472982" y="1734874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6" name="Cross 95"/>
            <p:cNvSpPr/>
            <p:nvPr/>
          </p:nvSpPr>
          <p:spPr>
            <a:xfrm rot="2734294">
              <a:off x="2292182" y="1410890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7" name="Cross 96"/>
            <p:cNvSpPr/>
            <p:nvPr/>
          </p:nvSpPr>
          <p:spPr>
            <a:xfrm rot="2734294">
              <a:off x="1902299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8" name="Cross 97"/>
            <p:cNvSpPr/>
            <p:nvPr/>
          </p:nvSpPr>
          <p:spPr>
            <a:xfrm rot="2734294">
              <a:off x="1433225" y="1211552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99" name="Cross 98"/>
            <p:cNvSpPr/>
            <p:nvPr/>
          </p:nvSpPr>
          <p:spPr>
            <a:xfrm rot="2734294">
              <a:off x="1019788" y="1354717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00" name="Cross 99"/>
            <p:cNvSpPr/>
            <p:nvPr/>
          </p:nvSpPr>
          <p:spPr>
            <a:xfrm rot="2734294">
              <a:off x="816315" y="1790525"/>
              <a:ext cx="153134" cy="154670"/>
            </a:xfrm>
            <a:prstGeom prst="plus">
              <a:avLst>
                <a:gd name="adj" fmla="val 46579"/>
              </a:avLst>
            </a:prstGeom>
            <a:solidFill>
              <a:schemeClr val="tx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>
                <a:solidFill>
                  <a:prstClr val="white"/>
                </a:solidFill>
                <a:latin typeface="Calibri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931806" y="2856402"/>
            <a:ext cx="3656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prstClr val="black"/>
                </a:solidFill>
                <a:latin typeface="Calibri"/>
              </a:rPr>
              <a:t>1</a:t>
            </a:r>
            <a:endParaRPr lang="en-US" sz="1467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47" name="Straight Arrow Connector 46"/>
          <p:cNvCxnSpPr/>
          <p:nvPr/>
        </p:nvCxnSpPr>
        <p:spPr>
          <a:xfrm rot="16200000">
            <a:off x="3046113" y="2867253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6200000">
            <a:off x="1531837" y="286976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399481" y="2878468"/>
            <a:ext cx="5450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prstClr val="black"/>
                </a:solidFill>
                <a:latin typeface="Calibri"/>
              </a:rPr>
              <a:t>-1</a:t>
            </a:r>
            <a:endParaRPr lang="en-US" sz="1467" baseline="-25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994904" y="3443178"/>
            <a:ext cx="5450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prstClr val="black"/>
                </a:solidFill>
                <a:latin typeface="Calibri"/>
              </a:rPr>
              <a:t>-1</a:t>
            </a:r>
            <a:endParaRPr lang="en-US" sz="1467" baseline="-25000" dirty="0">
              <a:solidFill>
                <a:prstClr val="black"/>
              </a:solidFill>
              <a:latin typeface="Calibri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>
            <a:off x="2308446" y="3588791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308446" y="2122377"/>
            <a:ext cx="13082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029642" y="1949891"/>
            <a:ext cx="365697" cy="31810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r>
              <a:rPr lang="en-US" sz="1467" dirty="0">
                <a:solidFill>
                  <a:prstClr val="black"/>
                </a:solidFill>
                <a:latin typeface="Calibri"/>
              </a:rPr>
              <a:t>1</a:t>
            </a:r>
            <a:endParaRPr lang="en-US" sz="1467" baseline="-2500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8830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  <p:bldP spid="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- 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Hypothesis function: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’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Our hypothesis should satisfy:</a:t>
                </a:r>
              </a:p>
              <a:p>
                <a:pPr lvl="1"/>
                <a:r>
                  <a:rPr lang="en-US" sz="2800" dirty="0"/>
                  <a:t>0 ≤ </a:t>
                </a:r>
                <a:r>
                  <a:rPr lang="en-US" sz="2800" i="1" dirty="0" err="1"/>
                  <a:t>hθ</a:t>
                </a:r>
                <a:r>
                  <a:rPr lang="en-US" sz="2800" dirty="0"/>
                  <a:t>​(</a:t>
                </a:r>
                <a:r>
                  <a:rPr lang="en-US" sz="2800" i="1" dirty="0"/>
                  <a:t>x</a:t>
                </a:r>
                <a:r>
                  <a:rPr lang="en-US" sz="2800" dirty="0"/>
                  <a:t>) ≤1</a:t>
                </a:r>
              </a:p>
              <a:p>
                <a:r>
                  <a:rPr lang="en-US" dirty="0"/>
                  <a:t>Our new form uses the "Sigmoid Function" also called the "Logistic Function”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= </a:t>
                </a:r>
                <a:r>
                  <a:rPr lang="en-US" i="1" dirty="0"/>
                  <a:t>g </a:t>
                </a:r>
                <a:r>
                  <a:rPr lang="en-US" dirty="0"/>
                  <a:t>(</a:t>
                </a:r>
                <a:r>
                  <a:rPr lang="el-GR" dirty="0"/>
                  <a:t>θ</a:t>
                </a:r>
                <a:r>
                  <a:rPr lang="en-US" baseline="30000" dirty="0"/>
                  <a:t>T</a:t>
                </a:r>
                <a:r>
                  <a:rPr lang="en-US" dirty="0"/>
                  <a:t>x)</a:t>
                </a:r>
              </a:p>
              <a:p>
                <a:pPr lvl="1"/>
                <a:r>
                  <a:rPr lang="en-US" i="1" dirty="0"/>
                  <a:t>z </a:t>
                </a:r>
                <a:r>
                  <a:rPr lang="en-US" dirty="0"/>
                  <a:t>= </a:t>
                </a:r>
                <a:r>
                  <a:rPr lang="el-GR" dirty="0"/>
                  <a:t>θ</a:t>
                </a:r>
                <a:r>
                  <a:rPr lang="en-US" baseline="30000" dirty="0"/>
                  <a:t>T</a:t>
                </a:r>
                <a:r>
                  <a:rPr lang="en-US" dirty="0"/>
                  <a:t>x</a:t>
                </a:r>
              </a:p>
              <a:p>
                <a:pPr lvl="1"/>
                <a:r>
                  <a:rPr lang="en-US" i="1" dirty="0"/>
                  <a:t>g</a:t>
                </a:r>
                <a:r>
                  <a:rPr lang="en-US" dirty="0"/>
                  <a:t>(</a:t>
                </a:r>
                <a:r>
                  <a:rPr lang="en-US" i="1" dirty="0"/>
                  <a:t>z</a:t>
                </a:r>
                <a:r>
                  <a:rPr lang="en-US" dirty="0"/>
                  <a:t>) = 1 / ( 1+</a:t>
                </a:r>
                <a:r>
                  <a:rPr lang="en-US" i="1" dirty="0"/>
                  <a:t>e</a:t>
                </a:r>
                <a:r>
                  <a:rPr lang="en-US" baseline="30000" dirty="0"/>
                  <a:t>−</a:t>
                </a:r>
                <a:r>
                  <a:rPr lang="en-US" i="1" baseline="30000" dirty="0"/>
                  <a:t>z </a:t>
                </a:r>
                <a:r>
                  <a:rPr lang="en-US" i="1" dirty="0"/>
                  <a:t>)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912388"/>
                <a:ext cx="11749547" cy="5781368"/>
              </a:xfrm>
              <a:prstGeom prst="rect">
                <a:avLst/>
              </a:prstGeom>
              <a:blipFill>
                <a:blip r:embed="rId3"/>
                <a:stretch>
                  <a:fillRect l="-934" t="-17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154" name="Picture 2" descr="https://d3c33hcgiwev3.cloudfront.net/imageAssetProxy.v1/1WFqZHntEead-BJkoDOYOw_2413fbec8ff9fa1f19aaf78265b8a33b_Logistic_function.png?expiry=1613779200000&amp;hmac=wNaiXEeNEGGaNXqUXdm5-8fAEfGXV4AefCvPuhTao7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404" y="3954580"/>
            <a:ext cx="7867650" cy="290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265410" y="3021330"/>
          <a:ext cx="1423670" cy="34575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7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z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sig(z)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-2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0.12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-1.5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0.18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0.27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0.38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0.62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0.73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0.82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0.88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0.92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007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(Cost Function)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442453" y="912388"/>
            <a:ext cx="11749547" cy="57813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more our hypothesis is off from y, the larger the cost function output. If our hypothesis is equal to y, then our cost is 0:</a:t>
            </a:r>
          </a:p>
          <a:p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59719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1" y="1997945"/>
            <a:ext cx="4261824" cy="12172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58" y="3700630"/>
            <a:ext cx="4133697" cy="1136841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574891" y="1997945"/>
          <a:ext cx="2920180" cy="3143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1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802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f(x)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-log(</a:t>
                      </a:r>
                      <a:r>
                        <a:rPr lang="en-US" sz="2000" i="1" dirty="0"/>
                        <a:t>h</a:t>
                      </a:r>
                      <a:r>
                        <a:rPr lang="el-GR" sz="2000" i="1" baseline="-25000" dirty="0"/>
                        <a:t>θ</a:t>
                      </a:r>
                      <a:r>
                        <a:rPr lang="el-GR" sz="2000" dirty="0"/>
                        <a:t>(</a:t>
                      </a:r>
                      <a:r>
                        <a:rPr lang="en-US" sz="2000" i="1" dirty="0"/>
                        <a:t>x</a:t>
                      </a:r>
                      <a:r>
                        <a:rPr lang="en-US" sz="2000" dirty="0"/>
                        <a:t>))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-log(1-</a:t>
                      </a:r>
                      <a:r>
                        <a:rPr lang="en-US" sz="2000" i="1" dirty="0"/>
                        <a:t>h</a:t>
                      </a:r>
                      <a:r>
                        <a:rPr lang="el-GR" sz="2000" i="1" baseline="-25000" dirty="0"/>
                        <a:t>θ</a:t>
                      </a:r>
                      <a:r>
                        <a:rPr lang="el-GR" sz="2000" dirty="0"/>
                        <a:t>(</a:t>
                      </a:r>
                      <a:r>
                        <a:rPr lang="en-US" sz="2000" i="1" dirty="0"/>
                        <a:t>x</a:t>
                      </a:r>
                      <a:r>
                        <a:rPr lang="en-US" sz="2000" dirty="0"/>
                        <a:t>))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0.05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0.52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0.15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0.22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0.30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0.22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0.40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0.52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0.70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802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>
                          <a:effectLst/>
                        </a:rPr>
                        <a:t>0.05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u="none" strike="noStrike" dirty="0">
                          <a:effectLst/>
                        </a:rPr>
                        <a:t>1.00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H="1" flipV="1">
            <a:off x="9232491" y="1281895"/>
            <a:ext cx="14748" cy="241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261988" y="3700630"/>
            <a:ext cx="2792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9261988" y="4015310"/>
            <a:ext cx="14748" cy="24187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9291485" y="6434045"/>
            <a:ext cx="2792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8F98C4F-E00F-6A24-21C3-46F611AD8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437" y="1283861"/>
            <a:ext cx="3346599" cy="5487971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9EC911E6-A1AE-736D-4D94-A6753EB96AD6}"/>
              </a:ext>
            </a:extLst>
          </p:cNvPr>
          <p:cNvSpPr txBox="1">
            <a:spLocks/>
          </p:cNvSpPr>
          <p:nvPr/>
        </p:nvSpPr>
        <p:spPr>
          <a:xfrm>
            <a:off x="152400" y="218902"/>
            <a:ext cx="10446774" cy="681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Logistic Regression: Cost/Loss Function</a:t>
            </a:r>
          </a:p>
        </p:txBody>
      </p:sp>
    </p:spTree>
    <p:extLst>
      <p:ext uri="{BB962C8B-B14F-4D97-AF65-F5344CB8AC3E}">
        <p14:creationId xmlns:p14="http://schemas.microsoft.com/office/powerpoint/2010/main" val="424788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7323"/>
            <a:ext cx="12192000" cy="6816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Logistic Regression (Simplified Cost Function)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453" y="1671484"/>
                <a:ext cx="11749547" cy="502227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We can compress our cost function's two conditional cases into one case:</a:t>
                </a:r>
              </a:p>
              <a:p>
                <a:pPr lvl="1"/>
                <a:r>
                  <a:rPr lang="en-US" dirty="0"/>
                  <a:t>Cost (</a:t>
                </a:r>
                <a:r>
                  <a:rPr lang="en-US" i="1" dirty="0"/>
                  <a:t>h</a:t>
                </a:r>
                <a:r>
                  <a:rPr lang="el-GR" i="1" dirty="0"/>
                  <a:t>θ</a:t>
                </a:r>
                <a:r>
                  <a:rPr lang="el-GR" dirty="0"/>
                  <a:t>​(</a:t>
                </a:r>
                <a:r>
                  <a:rPr lang="en-US" i="1" dirty="0"/>
                  <a:t>x</a:t>
                </a:r>
                <a:r>
                  <a:rPr lang="en-US" dirty="0"/>
                  <a:t>), </a:t>
                </a:r>
                <a:r>
                  <a:rPr lang="en-US" i="1" dirty="0"/>
                  <a:t>y</a:t>
                </a:r>
                <a:r>
                  <a:rPr lang="en-US" dirty="0"/>
                  <a:t>) = − </a:t>
                </a:r>
                <a:r>
                  <a:rPr lang="en-US" i="1" dirty="0"/>
                  <a:t>y </a:t>
                </a:r>
                <a:r>
                  <a:rPr lang="en-US" dirty="0"/>
                  <a:t>log (</a:t>
                </a:r>
                <a:r>
                  <a:rPr lang="en-US" i="1" dirty="0"/>
                  <a:t>h</a:t>
                </a:r>
                <a:r>
                  <a:rPr lang="el-GR" i="1" dirty="0"/>
                  <a:t>θ</a:t>
                </a:r>
                <a:r>
                  <a:rPr lang="el-GR" dirty="0"/>
                  <a:t>​</a:t>
                </a:r>
                <a:r>
                  <a:rPr lang="en-US" dirty="0"/>
                  <a:t> </a:t>
                </a:r>
                <a:r>
                  <a:rPr lang="el-GR" dirty="0"/>
                  <a:t>(</a:t>
                </a:r>
                <a:r>
                  <a:rPr lang="en-US" i="1" dirty="0"/>
                  <a:t>x</a:t>
                </a:r>
                <a:r>
                  <a:rPr lang="en-US" dirty="0"/>
                  <a:t>)) − (1−</a:t>
                </a:r>
                <a:r>
                  <a:rPr lang="en-US" i="1" dirty="0"/>
                  <a:t>y</a:t>
                </a:r>
                <a:r>
                  <a:rPr lang="en-US" dirty="0"/>
                  <a:t>) log (1 − </a:t>
                </a:r>
                <a:r>
                  <a:rPr lang="en-US" i="1" dirty="0"/>
                  <a:t>h</a:t>
                </a:r>
                <a:r>
                  <a:rPr lang="el-GR" i="1" dirty="0"/>
                  <a:t>θ</a:t>
                </a:r>
                <a:r>
                  <a:rPr lang="en-US" i="1" dirty="0"/>
                  <a:t> </a:t>
                </a:r>
                <a:r>
                  <a:rPr lang="el-GR" dirty="0"/>
                  <a:t>​(</a:t>
                </a:r>
                <a:r>
                  <a:rPr lang="en-US" i="1" dirty="0"/>
                  <a:t>x</a:t>
                </a:r>
                <a:r>
                  <a:rPr lang="en-US" dirty="0"/>
                  <a:t>)).</a:t>
                </a:r>
              </a:p>
              <a:p>
                <a:endParaRPr lang="en-US" dirty="0"/>
              </a:p>
              <a:p>
                <a:r>
                  <a:rPr lang="en-US" dirty="0"/>
                  <a:t>Notice that when y is equal to 1, then the second term −(1−</a:t>
                </a:r>
                <a:r>
                  <a:rPr lang="en-US" i="1" dirty="0"/>
                  <a:t>y</a:t>
                </a:r>
                <a:r>
                  <a:rPr lang="en-US" dirty="0"/>
                  <a:t>) log (1 − </a:t>
                </a:r>
                <a:r>
                  <a:rPr lang="en-US" i="1" dirty="0" err="1"/>
                  <a:t>hθ</a:t>
                </a:r>
                <a:r>
                  <a:rPr lang="en-US" dirty="0"/>
                  <a:t>​(</a:t>
                </a:r>
                <a:r>
                  <a:rPr lang="en-US" i="1" dirty="0"/>
                  <a:t>x</a:t>
                </a:r>
                <a:r>
                  <a:rPr lang="en-US" dirty="0"/>
                  <a:t>)) will be zero and will not affect the result. If y is equal to 0, then the first term  − </a:t>
                </a:r>
                <a:r>
                  <a:rPr lang="en-US" i="1" dirty="0"/>
                  <a:t>y </a:t>
                </a:r>
                <a:r>
                  <a:rPr lang="en-US" dirty="0"/>
                  <a:t>log (</a:t>
                </a:r>
                <a:r>
                  <a:rPr lang="en-US" i="1" dirty="0" err="1"/>
                  <a:t>hθ</a:t>
                </a:r>
                <a:r>
                  <a:rPr lang="en-US" i="1" dirty="0"/>
                  <a:t> </a:t>
                </a:r>
                <a:r>
                  <a:rPr lang="en-US" dirty="0"/>
                  <a:t>​(</a:t>
                </a:r>
                <a:r>
                  <a:rPr lang="en-US" i="1" dirty="0"/>
                  <a:t>x</a:t>
                </a:r>
                <a:r>
                  <a:rPr lang="en-US" dirty="0"/>
                  <a:t>)) will be zero and will not affect the result.</a:t>
                </a:r>
              </a:p>
              <a:p>
                <a:r>
                  <a:rPr lang="en-US" dirty="0"/>
                  <a:t>We can fully write out our entire cost function as follows: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1671484"/>
                <a:ext cx="11749547" cy="5022272"/>
              </a:xfrm>
              <a:prstGeom prst="rect">
                <a:avLst/>
              </a:prstGeom>
              <a:blipFill>
                <a:blip r:embed="rId3"/>
                <a:stretch>
                  <a:fillRect l="-934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99623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38383"/>
            <a:ext cx="11887200" cy="6816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Logistic Regression (Gradient Descent)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453" y="1454524"/>
                <a:ext cx="11749547" cy="5239232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i="1" dirty="0"/>
                  <a:t>Repeat</a:t>
                </a:r>
                <a:r>
                  <a:rPr lang="en-US" dirty="0"/>
                  <a:t>{</a:t>
                </a:r>
              </a:p>
              <a:p>
                <a:pPr marL="457200" lvl="1" indent="0">
                  <a:buNone/>
                </a:pPr>
                <a:r>
                  <a:rPr lang="el-GR" sz="2800" i="1" dirty="0"/>
                  <a:t>θ</a:t>
                </a:r>
                <a:r>
                  <a:rPr lang="en-US" sz="2800" i="1" baseline="-25000" dirty="0"/>
                  <a:t>j</a:t>
                </a:r>
                <a:r>
                  <a:rPr lang="en-US" sz="2800" i="1" dirty="0"/>
                  <a:t> </a:t>
                </a:r>
                <a:r>
                  <a:rPr lang="en-US" sz="2800" dirty="0"/>
                  <a:t>:=  </a:t>
                </a:r>
                <a:r>
                  <a:rPr lang="el-GR" sz="2800" i="1" dirty="0"/>
                  <a:t>θ</a:t>
                </a:r>
                <a:r>
                  <a:rPr lang="en-US" sz="2800" i="1" baseline="-25000" dirty="0"/>
                  <a:t>j</a:t>
                </a:r>
                <a:r>
                  <a:rPr lang="en-US" sz="2800" i="1" dirty="0"/>
                  <a:t> </a:t>
                </a:r>
                <a:r>
                  <a:rPr lang="en-US" sz="2800" dirty="0"/>
                  <a:t>− </a:t>
                </a:r>
                <a:r>
                  <a:rPr lang="el-GR" sz="2800" i="1" dirty="0"/>
                  <a:t>α</a:t>
                </a:r>
                <a:r>
                  <a:rPr lang="en-US" sz="2800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sz="2800" dirty="0"/>
                          <m:t>∂</m:t>
                        </m:r>
                      </m:num>
                      <m:den>
                        <m:r>
                          <m:rPr>
                            <m:nor/>
                          </m:rPr>
                          <a:rPr lang="el-GR" sz="2800" dirty="0"/>
                          <m:t>∂</m:t>
                        </m:r>
                        <m:r>
                          <m:rPr>
                            <m:nor/>
                          </m:rPr>
                          <a:rPr lang="el-GR" sz="2800" i="1" dirty="0"/>
                          <m:t>θ</m:t>
                        </m:r>
                        <m:r>
                          <m:rPr>
                            <m:nor/>
                          </m:rPr>
                          <a:rPr lang="en-US" sz="2800" i="1" baseline="-25000" dirty="0"/>
                          <m:t>j</m:t>
                        </m:r>
                      </m:den>
                    </m:f>
                  </m:oMath>
                </a14:m>
                <a:r>
                  <a:rPr lang="en-US" sz="2800" i="1" dirty="0"/>
                  <a:t> L</a:t>
                </a:r>
                <a:r>
                  <a:rPr lang="en-US" sz="2800" dirty="0"/>
                  <a:t>(</a:t>
                </a:r>
                <a:r>
                  <a:rPr lang="el-GR" sz="2800" i="1" dirty="0"/>
                  <a:t>θ</a:t>
                </a:r>
                <a:r>
                  <a:rPr lang="el-GR" sz="2800" dirty="0"/>
                  <a:t>)</a:t>
                </a:r>
                <a:endParaRPr lang="en-US" sz="2800" dirty="0"/>
              </a:p>
              <a:p>
                <a:pPr marL="457200" lvl="1" indent="0">
                  <a:buNone/>
                </a:pPr>
                <a:r>
                  <a:rPr lang="el-GR" sz="2800" dirty="0"/>
                  <a:t>}</a:t>
                </a:r>
                <a:r>
                  <a:rPr lang="en-US" dirty="0"/>
                  <a:t>	</a:t>
                </a:r>
                <a:br>
                  <a:rPr lang="el-GR" dirty="0"/>
                </a:b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1454524"/>
                <a:ext cx="11749547" cy="5239232"/>
              </a:xfrm>
              <a:prstGeom prst="rect">
                <a:avLst/>
              </a:prstGeom>
              <a:blipFill>
                <a:blip r:embed="rId3"/>
                <a:stretch>
                  <a:fillRect l="-934" t="-1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4" y="748145"/>
            <a:ext cx="5707626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2453" y="3272796"/>
                <a:ext cx="5161541" cy="8485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453" y="3272796"/>
                <a:ext cx="5161541" cy="84856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401625" y="2282950"/>
                <a:ext cx="43479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 algn="r"/>
                <a:r>
                  <a:rPr lang="en-US" sz="2800" i="1" dirty="0"/>
                  <a:t>y’</a:t>
                </a:r>
                <a:r>
                  <a:rPr lang="en-US" sz="2800" i="1" baseline="30000" dirty="0"/>
                  <a:t> (</a:t>
                </a:r>
                <a:r>
                  <a:rPr lang="en-US" sz="2800" i="1" baseline="30000" dirty="0" err="1"/>
                  <a:t>i</a:t>
                </a:r>
                <a:r>
                  <a:rPr lang="en-US" sz="2800" i="1" baseline="30000" dirty="0"/>
                  <a:t>)</a:t>
                </a:r>
                <a:r>
                  <a:rPr lang="en-US" sz="2800" i="1" dirty="0"/>
                  <a:t> </a:t>
                </a:r>
                <a:r>
                  <a:rPr lang="en-US" sz="2800" dirty="0"/>
                  <a:t>= </a:t>
                </a:r>
                <a:r>
                  <a:rPr lang="en-US" sz="2800" i="1" dirty="0"/>
                  <a:t>h</a:t>
                </a:r>
                <a:r>
                  <a:rPr lang="el-GR" sz="2800" i="1" baseline="-25000" dirty="0"/>
                  <a:t>θ</a:t>
                </a:r>
                <a:r>
                  <a:rPr lang="el-GR" sz="2800" dirty="0"/>
                  <a:t>(</a:t>
                </a:r>
                <a:r>
                  <a:rPr lang="en-US" sz="2800" i="1" dirty="0"/>
                  <a:t>x</a:t>
                </a:r>
                <a:r>
                  <a:rPr lang="en-US" sz="2800" i="1" baseline="30000" dirty="0"/>
                  <a:t>(</a:t>
                </a:r>
                <a:r>
                  <a:rPr lang="en-US" sz="2800" i="1" baseline="30000" dirty="0" err="1"/>
                  <a:t>i</a:t>
                </a:r>
                <a:r>
                  <a:rPr lang="en-US" sz="2800" i="1" baseline="30000" dirty="0"/>
                  <a:t>)</a:t>
                </a:r>
                <a:r>
                  <a:rPr lang="en-US" sz="2800" dirty="0"/>
                  <a:t>)=</a:t>
                </a:r>
                <a:r>
                  <a:rPr lang="en-US" sz="2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i="1" dirty="0"/>
                  <a:t>(</a:t>
                </a:r>
                <a:r>
                  <a:rPr lang="el-GR" sz="2800" i="1" dirty="0"/>
                  <a:t>θ</a:t>
                </a:r>
                <a:r>
                  <a:rPr lang="el-GR" sz="2800" i="1" baseline="-25000" dirty="0"/>
                  <a:t>0</a:t>
                </a:r>
                <a:r>
                  <a:rPr lang="el-GR" sz="2800" dirty="0"/>
                  <a:t>+</a:t>
                </a:r>
                <a:r>
                  <a:rPr lang="el-GR" sz="2800" i="1" dirty="0"/>
                  <a:t>θ</a:t>
                </a:r>
                <a:r>
                  <a:rPr lang="el-GR" sz="2800" i="1" baseline="-25000" dirty="0"/>
                  <a:t>1</a:t>
                </a:r>
                <a:r>
                  <a:rPr lang="en-US" sz="2800" i="1" dirty="0"/>
                  <a:t>x</a:t>
                </a:r>
                <a:r>
                  <a:rPr lang="en-US" sz="2800" i="1" baseline="30000" dirty="0"/>
                  <a:t>(</a:t>
                </a:r>
                <a:r>
                  <a:rPr lang="en-US" sz="2800" i="1" baseline="30000" dirty="0" err="1"/>
                  <a:t>i</a:t>
                </a:r>
                <a:r>
                  <a:rPr lang="en-US" sz="2800" i="1" baseline="30000" dirty="0"/>
                  <a:t>)</a:t>
                </a:r>
                <a:r>
                  <a:rPr lang="en-US" sz="2800" dirty="0">
                    <a:ea typeface="Cambria Math" panose="020405030504060302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625" y="2282950"/>
                <a:ext cx="4347922" cy="523220"/>
              </a:xfrm>
              <a:prstGeom prst="rect">
                <a:avLst/>
              </a:prstGeom>
              <a:blipFill>
                <a:blip r:embed="rId5"/>
                <a:stretch>
                  <a:fillRect t="-10465" r="-294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339662" y="2895201"/>
                <a:ext cx="1869230" cy="6173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9662" y="2895201"/>
                <a:ext cx="1869230" cy="6173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47065" y="4245145"/>
                <a:ext cx="2618922" cy="4049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1 −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65" y="4245145"/>
                <a:ext cx="2618922" cy="404983"/>
              </a:xfrm>
              <a:prstGeom prst="rect">
                <a:avLst/>
              </a:prstGeom>
              <a:blipFill rotWithShape="0">
                <a:blip r:embed="rId7"/>
                <a:stretch>
                  <a:fillRect t="-1493" b="-19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53" y="5112774"/>
            <a:ext cx="5073445" cy="1488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8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84158"/>
            <a:ext cx="12192000" cy="68164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Sigmoid 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748146"/>
                <a:ext cx="5707627" cy="6109855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  <a:tabLst>
                    <a:tab pos="11398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1+ 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748146"/>
                <a:ext cx="5707627" cy="6109855"/>
              </a:xfrm>
              <a:prstGeom prst="rect">
                <a:avLst/>
              </a:prstGeom>
              <a:blipFill>
                <a:blip r:embed="rId3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3" y="748146"/>
            <a:ext cx="5707627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4373" y="748145"/>
                <a:ext cx="5707627" cy="6032091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 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1 −1+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1 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</a:t>
                </a: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73" y="748145"/>
                <a:ext cx="5707627" cy="603209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C79AA34-BB42-4DF0-4479-7757449569C8}"/>
              </a:ext>
            </a:extLst>
          </p:cNvPr>
          <p:cNvSpPr txBox="1"/>
          <p:nvPr/>
        </p:nvSpPr>
        <p:spPr>
          <a:xfrm>
            <a:off x="5707627" y="5786689"/>
            <a:ext cx="6175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https://medium.com/analytics-vidhya/derivative-of-log-loss-function-for-logistic-regression-9b832f025c2d</a:t>
            </a:r>
          </a:p>
        </p:txBody>
      </p:sp>
    </p:spTree>
    <p:extLst>
      <p:ext uri="{BB962C8B-B14F-4D97-AF65-F5344CB8AC3E}">
        <p14:creationId xmlns:p14="http://schemas.microsoft.com/office/powerpoint/2010/main" val="280772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E0D5DEC-29F1-4098-B79F-045E8731C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Binary Cross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" y="748146"/>
                <a:ext cx="6179575" cy="6109855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3200" dirty="0"/>
                  <a:t>Cost function:</a:t>
                </a: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748146"/>
                <a:ext cx="6179575" cy="6109855"/>
              </a:xfrm>
              <a:prstGeom prst="rect">
                <a:avLst/>
              </a:prstGeom>
              <a:blipFill>
                <a:blip r:embed="rId3"/>
                <a:stretch>
                  <a:fillRect l="-986" t="-1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8793BDC-2911-4507-88F0-9B206CE1E00B}"/>
              </a:ext>
            </a:extLst>
          </p:cNvPr>
          <p:cNvSpPr txBox="1">
            <a:spLocks/>
          </p:cNvSpPr>
          <p:nvPr/>
        </p:nvSpPr>
        <p:spPr>
          <a:xfrm>
            <a:off x="6331973" y="748146"/>
            <a:ext cx="5707627" cy="61098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endParaRPr lang="en-US" sz="3200" dirty="0"/>
          </a:p>
          <a:p>
            <a:pPr marL="0" indent="0" algn="just">
              <a:buNone/>
            </a:pPr>
            <a:r>
              <a:rPr lang="en-US" sz="2600" dirty="0"/>
              <a:t>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84373" y="748145"/>
                <a:ext cx="5707627" cy="6032091"/>
              </a:xfrm>
              <a:prstGeom prst="rect">
                <a:avLst/>
              </a:prstGeom>
            </p:spPr>
            <p:txBody>
              <a:bodyPr>
                <a:normAutofit fontScale="6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189" lvl="1" indent="0" algn="r">
                  <a:buNone/>
                </a:pPr>
                <a:r>
                  <a:rPr lang="en-US" sz="3600" dirty="0"/>
                  <a:t>Hypothesis Function: </a:t>
                </a:r>
              </a:p>
              <a:p>
                <a:pPr marL="457189" lvl="1" indent="0" algn="r">
                  <a:buNone/>
                </a:pPr>
                <a:r>
                  <a:rPr lang="en-US" sz="3600" i="1" dirty="0"/>
                  <a:t>y’</a:t>
                </a:r>
                <a:r>
                  <a:rPr lang="en-US" sz="3600" i="1" baseline="30000" dirty="0"/>
                  <a:t> (</a:t>
                </a:r>
                <a:r>
                  <a:rPr lang="en-US" sz="3600" i="1" baseline="30000" dirty="0" err="1"/>
                  <a:t>i</a:t>
                </a:r>
                <a:r>
                  <a:rPr lang="en-US" sz="3600" i="1" baseline="30000" dirty="0"/>
                  <a:t>)</a:t>
                </a:r>
                <a:r>
                  <a:rPr lang="en-US" sz="3600" i="1" dirty="0"/>
                  <a:t> </a:t>
                </a:r>
                <a:r>
                  <a:rPr lang="en-US" sz="3600" dirty="0"/>
                  <a:t>= </a:t>
                </a:r>
                <a:r>
                  <a:rPr lang="en-US" sz="3600" i="1" dirty="0"/>
                  <a:t>h</a:t>
                </a:r>
                <a:r>
                  <a:rPr lang="el-GR" sz="3600" i="1" baseline="-25000" dirty="0"/>
                  <a:t>θ</a:t>
                </a:r>
                <a:r>
                  <a:rPr lang="el-GR" sz="3600" dirty="0"/>
                  <a:t>(</a:t>
                </a:r>
                <a:r>
                  <a:rPr lang="en-US" sz="3600" i="1" dirty="0"/>
                  <a:t>x</a:t>
                </a:r>
                <a:r>
                  <a:rPr lang="en-US" sz="3600" i="1" baseline="30000" dirty="0"/>
                  <a:t>(</a:t>
                </a:r>
                <a:r>
                  <a:rPr lang="en-US" sz="3600" i="1" baseline="30000" dirty="0" err="1"/>
                  <a:t>i</a:t>
                </a:r>
                <a:r>
                  <a:rPr lang="en-US" sz="3600" i="1" baseline="30000" dirty="0"/>
                  <a:t>)</a:t>
                </a:r>
                <a:r>
                  <a:rPr lang="en-US" sz="3600" dirty="0"/>
                  <a:t>)=</a:t>
                </a:r>
                <a:r>
                  <a:rPr lang="en-US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i="1" dirty="0"/>
                  <a:t>(</a:t>
                </a:r>
                <a:r>
                  <a:rPr lang="el-GR" sz="3600" i="1" dirty="0"/>
                  <a:t>θ</a:t>
                </a:r>
                <a:r>
                  <a:rPr lang="el-GR" sz="3600" i="1" baseline="-25000" dirty="0"/>
                  <a:t>0</a:t>
                </a:r>
                <a:r>
                  <a:rPr lang="el-GR" sz="3600" dirty="0"/>
                  <a:t>+</a:t>
                </a:r>
                <a:r>
                  <a:rPr lang="el-GR" sz="3600" i="1" dirty="0"/>
                  <a:t>θ</a:t>
                </a:r>
                <a:r>
                  <a:rPr lang="el-GR" sz="3600" i="1" baseline="-25000" dirty="0"/>
                  <a:t>1</a:t>
                </a:r>
                <a:r>
                  <a:rPr lang="en-US" sz="3600" i="1" dirty="0"/>
                  <a:t>x</a:t>
                </a:r>
                <a:r>
                  <a:rPr lang="en-US" sz="3600" i="1" baseline="30000" dirty="0"/>
                  <a:t>(</a:t>
                </a:r>
                <a:r>
                  <a:rPr lang="en-US" sz="3600" i="1" baseline="30000" dirty="0" err="1"/>
                  <a:t>i</a:t>
                </a:r>
                <a:r>
                  <a:rPr lang="en-US" sz="3600" i="1" baseline="30000" dirty="0"/>
                  <a:t>)</a:t>
                </a:r>
                <a:r>
                  <a:rPr lang="en-US" sz="3600" dirty="0">
                    <a:ea typeface="Cambria Math" panose="020405030504060302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(1−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 algn="just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8793BDC-2911-4507-88F0-9B206CE1E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373" y="748145"/>
                <a:ext cx="5707627" cy="6032091"/>
              </a:xfrm>
              <a:prstGeom prst="rect">
                <a:avLst/>
              </a:prstGeom>
              <a:blipFill>
                <a:blip r:embed="rId4"/>
                <a:stretch>
                  <a:fillRect t="-2326" r="-277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294136" y="748145"/>
                <a:ext cx="2075675" cy="78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Objective: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l-GR" i="1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l-GR" i="1" baseline="-25000" dirty="0"/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baseline="-25000" dirty="0"/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l-GR" i="1" dirty="0"/>
                                <m:t>θ</m:t>
                              </m:r>
                              <m:r>
                                <m:rPr>
                                  <m:nor/>
                                </m:rPr>
                                <a:rPr lang="el-GR" i="1" baseline="-25000" dirty="0"/>
                                <m:t>1</m:t>
                              </m:r>
                            </m:lim>
                          </m:limLow>
                        </m:fName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l-GR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l-GR" i="1" baseline="-25000" dirty="0"/>
                            <m:t>0</m:t>
                          </m:r>
                          <m:r>
                            <m:rPr>
                              <m:nor/>
                            </m:rPr>
                            <a:rPr lang="en-US" baseline="-25000" dirty="0"/>
                            <m:t>,</m:t>
                          </m:r>
                          <m:r>
                            <m:rPr>
                              <m:nor/>
                            </m:rPr>
                            <a:rPr lang="el-GR" i="1" dirty="0"/>
                            <m:t>θ</m:t>
                          </m:r>
                          <m:r>
                            <m:rPr>
                              <m:nor/>
                            </m:rPr>
                            <a:rPr lang="el-GR" i="1" baseline="-25000" dirty="0"/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4136" y="748145"/>
                <a:ext cx="2075675" cy="783228"/>
              </a:xfrm>
              <a:prstGeom prst="rect">
                <a:avLst/>
              </a:prstGeom>
              <a:blipFill>
                <a:blip r:embed="rId5"/>
                <a:stretch>
                  <a:fillRect l="-2346" t="-5469" b="-39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2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2A0C035D-CF53-BECC-2D82-EF37CD33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Logistic Regression (Gradient Descent)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CFE458-4796-1028-AE15-ABB7916B10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98110" cy="4351338"/>
              </a:xfrm>
            </p:spPr>
            <p:txBody>
              <a:bodyPr/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i="1" dirty="0"/>
                      <m:t>θ</m:t>
                    </m:r>
                    <m:r>
                      <m:rPr>
                        <m:nor/>
                      </m:rPr>
                      <a:rPr lang="en-US" i="1" baseline="-25000" dirty="0"/>
                      <m:t>j</m:t>
                    </m:r>
                    <m:r>
                      <a:rPr lang="el-GR" i="1" baseline="-250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i="1" dirty="0"/>
                      <m:t>θ</m:t>
                    </m:r>
                    <m:r>
                      <m:rPr>
                        <m:nor/>
                      </m:rPr>
                      <a:rPr lang="en-US" i="1" baseline="-25000" dirty="0"/>
                      <m:t>j</m:t>
                    </m:r>
                    <m:r>
                      <m:rPr>
                        <m:nor/>
                      </m:rPr>
                      <a:rPr lang="en-US" i="1" baseline="-25000" dirty="0"/>
                      <m:t>  </m:t>
                    </m:r>
                    <m:r>
                      <m:rPr>
                        <m:nor/>
                      </m:rPr>
                      <a:rPr lang="en-US" i="1" dirty="0"/>
                      <m:t>−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l-GR" dirty="0"/>
                      <m:t>α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 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BCFE458-4796-1028-AE15-ABB7916B10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98110" cy="4351338"/>
              </a:xfrm>
              <a:blipFill>
                <a:blip r:embed="rId2"/>
                <a:stretch>
                  <a:fillRect l="-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5B13C5-3511-93D9-E425-F5EAEF1FD28D}"/>
                  </a:ext>
                </a:extLst>
              </p:cNvPr>
              <p:cNvSpPr txBox="1"/>
              <p:nvPr/>
            </p:nvSpPr>
            <p:spPr>
              <a:xfrm>
                <a:off x="966019" y="2376232"/>
                <a:ext cx="8433620" cy="37451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  <a:p>
                <a:endParaRPr lang="en-US" sz="2800" dirty="0"/>
              </a:p>
              <a:p>
                <a:r>
                  <a:rPr lang="en-US" sz="2800" dirty="0"/>
                  <a:t>Repeat until </a:t>
                </a:r>
                <a:r>
                  <a:rPr lang="en-US" sz="2800" b="1" dirty="0"/>
                  <a:t>converge </a:t>
                </a:r>
              </a:p>
              <a:p>
                <a:r>
                  <a:rPr lang="en-US" sz="2800" dirty="0"/>
                  <a:t>{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1" dirty="0" smtClean="0">
                        <a:solidFill>
                          <a:schemeClr val="tx1"/>
                        </a:solidFill>
                      </a:rPr>
                      <m:t>           </m:t>
                    </m:r>
                    <m:r>
                      <m:rPr>
                        <m:nor/>
                      </m:rPr>
                      <a:rPr lang="en-US" sz="2800" b="0" i="1" dirty="0" smtClean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i="1" dirty="0" smtClean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0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  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a:rPr lang="el-GR" sz="28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nor/>
                      </m:rPr>
                      <a:rPr lang="el-GR" sz="2800" i="1" dirty="0">
                        <a:solidFill>
                          <a:schemeClr val="tx1"/>
                        </a:solidFill>
                      </a:rPr>
                      <m:t>θ</m:t>
                    </m:r>
                    <m:r>
                      <m:rPr>
                        <m:nor/>
                      </m:rPr>
                      <a:rPr lang="en-US" sz="2800" b="0" i="1" baseline="-25000" dirty="0" smtClean="0">
                        <a:solidFill>
                          <a:schemeClr val="tx1"/>
                        </a:solidFill>
                      </a:rPr>
                      <m:t>1</m:t>
                    </m:r>
                    <m:r>
                      <m:rPr>
                        <m:nor/>
                      </m:rPr>
                      <a:rPr lang="en-US" sz="2800" i="1" baseline="-25000" dirty="0">
                        <a:solidFill>
                          <a:schemeClr val="tx1"/>
                        </a:solidFill>
                      </a:rPr>
                      <m:t>  </m:t>
                    </m:r>
                    <m:r>
                      <m:rPr>
                        <m:nor/>
                      </m:rPr>
                      <a:rPr lang="en-US" sz="2800" i="1" dirty="0">
                        <a:solidFill>
                          <a:schemeClr val="tx1"/>
                        </a:solidFill>
                      </a:rPr>
                      <m:t>−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l-GR" sz="2800" dirty="0">
                        <a:solidFill>
                          <a:schemeClr val="tx1"/>
                        </a:solidFill>
                      </a:rPr>
                      <m:t>α</m:t>
                    </m:r>
                    <m:r>
                      <a:rPr lang="el-GR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) −  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)</m:t>
                        </m:r>
                      </m:e>
                    </m:nary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</m:e>
                      <m:sup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          …</a:t>
                </a:r>
              </a:p>
              <a:p>
                <a:pPr marL="0" indent="0">
                  <a:buNone/>
                </a:pPr>
                <a:r>
                  <a:rPr lang="de-DE" sz="2800" dirty="0"/>
                  <a:t>}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5B13C5-3511-93D9-E425-F5EAEF1FD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9" y="2376232"/>
                <a:ext cx="8433620" cy="3745128"/>
              </a:xfrm>
              <a:prstGeom prst="rect">
                <a:avLst/>
              </a:prstGeom>
              <a:blipFill>
                <a:blip r:embed="rId3"/>
                <a:stretch>
                  <a:fillRect l="-1445" b="-3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CF6509-BBF6-CD0D-094F-580B706B7B34}"/>
                  </a:ext>
                </a:extLst>
              </p:cNvPr>
              <p:cNvSpPr txBox="1"/>
              <p:nvPr/>
            </p:nvSpPr>
            <p:spPr>
              <a:xfrm>
                <a:off x="8305800" y="1895488"/>
                <a:ext cx="6096000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CF6509-BBF6-CD0D-094F-580B706B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1895488"/>
                <a:ext cx="6096000" cy="387927"/>
              </a:xfrm>
              <a:prstGeom prst="rect">
                <a:avLst/>
              </a:prstGeom>
              <a:blipFill>
                <a:blip r:embed="rId4"/>
                <a:stretch>
                  <a:fillRect l="-900" t="-4688" b="-23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6412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)&#10;$&#10;&#10;\end{document}"/>
  <p:tag name="IGUANATEXSIZE" val="2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3 + x_1 + x_2 \geq 0&#10;$&#10;&#10;\end{document}"/>
  <p:tag name="IGUANATEXSIZE" val="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&#10;$&#10;&#10;\end{document}"/>
  <p:tag name="IGUANATEXSIZE" val="2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3 x_1^2 + \theta_4 x_2^2)&#10;$&#10;&#10;\end{document}"/>
  <p:tag name="IGUANATEXSIZE" val="2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y = 1&#10;$&#10;&#10;\end{document}"/>
  <p:tag name="IGUANATEXSIZE" val="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-1 + x_1^2 + x_2^2 \geq 0&#10;$&#10;&#10;\end{document}"/>
  <p:tag name="IGUANATEXSIZE" val="2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h_\theta (x) = g(\theta_0 + \theta_1 x_1 + \theta_2 x_2 + \theta_3 x_1^2&#10;$&#10;&#10;\end{document}"/>
  <p:tag name="IGUANATEXSIZE" val="2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+ \theta_4 x_1^2 x_2 + \theta_5 x_1^2 x_2^2 + \theta_6 x_1^3 x_2 + \dots)&#10;$&#10;&#10;\end{document}"/>
  <p:tag name="IGUANATEXSIZE" val="2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1569</Words>
  <Application>Microsoft Office PowerPoint</Application>
  <PresentationFormat>Widescreen</PresentationFormat>
  <Paragraphs>297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Machine Learning</vt:lpstr>
      <vt:lpstr>Classification</vt:lpstr>
      <vt:lpstr>Classification Algorithms</vt:lpstr>
      <vt:lpstr>How to Perform Classification </vt:lpstr>
      <vt:lpstr>Logistic Regression </vt:lpstr>
      <vt:lpstr>Logistic Regression</vt:lpstr>
      <vt:lpstr>Logistic Regression</vt:lpstr>
      <vt:lpstr>Logistic Regression</vt:lpstr>
      <vt:lpstr>Logistic Regression</vt:lpstr>
      <vt:lpstr>Logistic Regression (Decision Boundary)</vt:lpstr>
      <vt:lpstr>Example</vt:lpstr>
      <vt:lpstr>Logistic Regression (Decision Boundary)</vt:lpstr>
      <vt:lpstr>PowerPoint Presentation</vt:lpstr>
      <vt:lpstr>PowerPoint Presentation</vt:lpstr>
      <vt:lpstr>Logistic Regression - Recap</vt:lpstr>
      <vt:lpstr>Regression (Cost Function)</vt:lpstr>
      <vt:lpstr>Logistic Regression (Simplified Cost Function)</vt:lpstr>
      <vt:lpstr>Logistic Regression (Gradient Descent)</vt:lpstr>
      <vt:lpstr>Sigmoid Derivation</vt:lpstr>
      <vt:lpstr>Binary Cross Entropy</vt:lpstr>
      <vt:lpstr>Logistic Regression (Gradient Descent)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Dr.Mahdiha Khalid</dc:creator>
  <cp:lastModifiedBy>Dr.Mahdiha Khalid</cp:lastModifiedBy>
  <cp:revision>40</cp:revision>
  <dcterms:created xsi:type="dcterms:W3CDTF">2026-02-17T10:11:18Z</dcterms:created>
  <dcterms:modified xsi:type="dcterms:W3CDTF">2026-03-17T03:39:09Z</dcterms:modified>
</cp:coreProperties>
</file>