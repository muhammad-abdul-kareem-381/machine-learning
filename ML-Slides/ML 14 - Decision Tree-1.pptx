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719" r:id="rId3"/>
    <p:sldId id="720" r:id="rId4"/>
    <p:sldId id="721" r:id="rId5"/>
    <p:sldId id="722" r:id="rId6"/>
    <p:sldId id="743" r:id="rId7"/>
    <p:sldId id="725" r:id="rId8"/>
    <p:sldId id="726" r:id="rId9"/>
    <p:sldId id="723" r:id="rId10"/>
    <p:sldId id="724" r:id="rId11"/>
    <p:sldId id="727" r:id="rId12"/>
    <p:sldId id="728" r:id="rId13"/>
    <p:sldId id="729" r:id="rId14"/>
    <p:sldId id="730" r:id="rId15"/>
    <p:sldId id="731" r:id="rId16"/>
    <p:sldId id="732" r:id="rId17"/>
    <p:sldId id="733" r:id="rId18"/>
    <p:sldId id="735" r:id="rId19"/>
    <p:sldId id="736" r:id="rId20"/>
    <p:sldId id="737" r:id="rId21"/>
    <p:sldId id="745" r:id="rId22"/>
    <p:sldId id="747" r:id="rId23"/>
    <p:sldId id="738" r:id="rId24"/>
    <p:sldId id="739" r:id="rId25"/>
    <p:sldId id="749" r:id="rId26"/>
    <p:sldId id="741" r:id="rId27"/>
    <p:sldId id="750" r:id="rId28"/>
    <p:sldId id="740" r:id="rId29"/>
    <p:sldId id="742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7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7T06:38:53.11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DDB5F2-4CC0-43A0-A2FE-A90F536E1B3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5461B3-CF0D-4DDA-A8D9-1209A72FF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958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7D70C-DE1D-BBAB-9361-ADEA33E2C7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66D9A-8CBB-FA6A-78ED-42085BACF2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FB215-3082-058F-BEE3-E5711A0F8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40E5E-E653-4B41-AFA5-CC5D140B1F8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332942-0DAF-B478-5306-8EF3F8651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15A99C-B3FC-62C7-E645-6B2CE9EE3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654F-8035-40FD-8A9A-F26333DDB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387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7DED7-3485-65DC-CA25-3C3162388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33FBB-D99D-7BE7-3B6E-05867CD45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2B6F8F-B9B2-EFCE-29B2-213E42042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40E5E-E653-4B41-AFA5-CC5D140B1F8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5FD73-26F5-823A-04DF-7872E066D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586F6-497C-603F-160F-6C0420AB5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654F-8035-40FD-8A9A-F26333DDB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062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4C48D-87B4-AEF5-C6F0-D0D6BB6D1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90952F-1ECD-CCEF-FC90-8CD159CF45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7E934A-6126-77E0-D600-E6372940B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40E5E-E653-4B41-AFA5-CC5D140B1F8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BEE73-4219-159F-8F58-819D6195F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2C883-2069-169C-D55A-C10F920B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654F-8035-40FD-8A9A-F26333DDB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375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031D1-CF01-8231-C80D-F89A1AFFC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92C2C-DC35-AAF3-DA8D-F09BA7E969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05A6F5-82B4-1C22-1AE9-237C7D2377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8A6576-AECE-73AE-2C87-ADADD6950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40E5E-E653-4B41-AFA5-CC5D140B1F8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6F6015-7D5B-B10E-6E77-7D49ADA1A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330CF3-39E6-C462-FFB3-0D7EF4671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654F-8035-40FD-8A9A-F26333DDB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28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088CC-EA4E-28D6-5FB3-57DC76E18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5B39EA-F84C-068F-D748-7F49093B3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8C6A66-5E05-F672-3724-CB7727D932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8BB2BC-4600-8BA9-AFCC-B5087BA443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9C9557-4595-3FC5-3F66-76FAB4C306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8BAE91-F961-7F27-B9A8-C9FDAC763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40E5E-E653-4B41-AFA5-CC5D140B1F8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2BA114-4E71-5941-39F8-E70CD2D19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B64F39-9C59-CFF4-D732-FA89796AF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654F-8035-40FD-8A9A-F26333DDB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107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22163-CF26-680A-4798-5D7BAC68F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5EC3A6-8FAA-C613-0E3B-3C11AD886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40E5E-E653-4B41-AFA5-CC5D140B1F8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FE8510-2BE0-94EC-32FF-E2E70C699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2D2DC9-DCF9-6C20-82C2-4A3317338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654F-8035-40FD-8A9A-F26333DDB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895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08C64F-9258-546D-F012-52C1CC9A4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40E5E-E653-4B41-AFA5-CC5D140B1F8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644758-693C-0EA4-5B5F-2FE865E3A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668911-32B3-0A7F-6EF3-1D811CB12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654F-8035-40FD-8A9A-F26333DDB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69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EC985-FA94-CB44-F143-E8D4C88EC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B7E56-FF49-9942-0608-73E0C05D55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DC53DB-443C-0446-CD80-3248D970FC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DA8F9E-AED1-2CD2-4E5A-70C31B5C8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40E5E-E653-4B41-AFA5-CC5D140B1F8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F20489-AF86-B721-B798-83D74C0AE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3EDABA-90A6-6550-3A60-72D1B509D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654F-8035-40FD-8A9A-F26333DDB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130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7E4B0-598D-CBBA-632D-5AB7BA625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602C20-C7F2-80FB-2FFB-D7412BD11D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E63B59-D802-924C-79D5-0D25EA2951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9C810-C6B9-4F78-97F1-0502AFF60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40E5E-E653-4B41-AFA5-CC5D140B1F8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2D8317-D489-62E4-6449-06004FB23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8C758B-33F5-BCB6-0064-522FBA1CA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654F-8035-40FD-8A9A-F26333DDB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361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EF58C-CC75-BED8-15B2-D0CEE2644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49A298-D4BE-2106-7DE7-0DDE0933C7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829D38-471A-608B-CA36-8A563CE74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40E5E-E653-4B41-AFA5-CC5D140B1F8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35565-3CBD-2F72-F8F4-0B2F60D87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AFB3B-7E5B-3128-D06E-2E0AA4167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654F-8035-40FD-8A9A-F26333DDB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090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1F26EB-C4D9-3D58-B086-6964A9CB5F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928E8B-3E52-7152-9041-7B590CB989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70856-A738-15B9-1645-B17595720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40E5E-E653-4B41-AFA5-CC5D140B1F8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8FC79F-3F61-B1D0-5739-F19B5E7F8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DCF06A-5077-53D5-70EE-203DC37AF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654F-8035-40FD-8A9A-F26333DDB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888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0404B3-A0E9-8153-01DC-DDD79C33E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9BDFA-1EE3-CC75-CA51-9400E5DAF7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6E30E8-888A-E885-B12A-9137AEEBE7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740E5E-E653-4B41-AFA5-CC5D140B1F8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8D570D-E04A-3378-7309-BC9A6E72DE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3BA85-964F-9374-DB91-1FF72226E6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83654F-8035-40FD-8A9A-F26333DDB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685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34233-1EBC-CED6-E691-DBFF0DDF59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2195"/>
            <a:ext cx="9144000" cy="2387600"/>
          </a:xfrm>
        </p:spPr>
        <p:txBody>
          <a:bodyPr/>
          <a:lstStyle/>
          <a:p>
            <a:r>
              <a:rPr lang="en-US"/>
              <a:t>Machine Learning</a:t>
            </a:r>
            <a:endParaRPr lang="de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4ED69C-495E-33A8-8972-4790979755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038266"/>
            <a:ext cx="9144000" cy="707203"/>
          </a:xfrm>
        </p:spPr>
        <p:txBody>
          <a:bodyPr>
            <a:normAutofit/>
          </a:bodyPr>
          <a:lstStyle/>
          <a:p>
            <a:r>
              <a:rPr lang="en-US" sz="3200" dirty="0"/>
              <a:t>Lecture 14: Decision Tree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7581A9B-0DD0-281E-AC5B-4335A0E992E9}"/>
                  </a:ext>
                </a:extLst>
              </p14:cNvPr>
              <p14:cNvContentPartPr/>
              <p14:nvPr/>
            </p14:nvContentPartPr>
            <p14:xfrm>
              <a:off x="6158876" y="4119257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7581A9B-0DD0-281E-AC5B-4335A0E992E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49876" y="4110257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03668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198F9-86E6-713B-4934-8844868E8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3B397-4EAB-6CE3-78FB-69EEEDF03A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type of supervised machine learning algorithm.</a:t>
            </a:r>
          </a:p>
          <a:p>
            <a:pPr marL="109538" indent="-109538"/>
            <a:r>
              <a:rPr lang="en-US" b="1" dirty="0"/>
              <a:t>The </a:t>
            </a:r>
            <a:r>
              <a:rPr lang="en-US" altLang="en-US" b="1" dirty="0"/>
              <a:t>Goal:</a:t>
            </a:r>
            <a:r>
              <a:rPr lang="en-US" altLang="en-US" dirty="0"/>
              <a:t> Build a </a:t>
            </a:r>
            <a:r>
              <a:rPr lang="en-US" altLang="en-US" b="1" dirty="0"/>
              <a:t>decision tree</a:t>
            </a:r>
            <a:r>
              <a:rPr lang="en-US" altLang="en-US" dirty="0"/>
              <a:t> in which the data is continuously split according to a certain parameter.</a:t>
            </a:r>
          </a:p>
          <a:p>
            <a:pPr marL="109538" indent="-109538"/>
            <a:r>
              <a:rPr lang="en-US" altLang="en-US" dirty="0"/>
              <a:t>A </a:t>
            </a:r>
            <a:r>
              <a:rPr lang="en-US" altLang="en-US" b="1" dirty="0"/>
              <a:t>decision tree</a:t>
            </a:r>
            <a:r>
              <a:rPr lang="en-US" altLang="en-US" dirty="0"/>
              <a:t> is a tree, where</a:t>
            </a:r>
          </a:p>
          <a:p>
            <a:pPr marL="338138" lvl="1" indent="-114300"/>
            <a:r>
              <a:rPr lang="en-US" altLang="en-US" i="1" dirty="0"/>
              <a:t>Decision Node:</a:t>
            </a:r>
            <a:r>
              <a:rPr lang="en-US" altLang="en-US" dirty="0"/>
              <a:t> each non-leaf node has associated with it an attribute (feature)</a:t>
            </a:r>
          </a:p>
          <a:p>
            <a:pPr marL="338138" lvl="1" indent="-114300"/>
            <a:r>
              <a:rPr lang="en-US" altLang="en-US" i="1" dirty="0"/>
              <a:t>Leaf Node:</a:t>
            </a:r>
            <a:r>
              <a:rPr lang="en-US" altLang="en-US" dirty="0"/>
              <a:t> each leaf node has associated with it a classification (+ or -)</a:t>
            </a:r>
          </a:p>
          <a:p>
            <a:pPr marL="338138" lvl="1" indent="-114300"/>
            <a:r>
              <a:rPr lang="en-US" altLang="en-US" i="1" dirty="0"/>
              <a:t>Edge:</a:t>
            </a:r>
            <a:r>
              <a:rPr lang="en-US" altLang="en-US" dirty="0"/>
              <a:t> each edge is associated with it one of the possible values of the attribute at the node from which the edge is directed.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855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62520-A5BA-98D3-42D8-58C885727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2F71F-19F0-67F5-275F-79A4C2F7D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It is one of the most widely used and practical methods for </a:t>
            </a:r>
            <a:r>
              <a:rPr lang="en-US" b="1" i="1" dirty="0"/>
              <a:t>inductive inference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1600" dirty="0"/>
              <a:t>Inductive Inference:</a:t>
            </a:r>
            <a:r>
              <a:rPr lang="en-US" sz="1600" i="1" dirty="0"/>
              <a:t> </a:t>
            </a:r>
            <a:r>
              <a:rPr lang="en-GB" sz="1600" i="1" dirty="0"/>
              <a:t>A "bottom-up" reasoning process where specific observations or data patterns are used to form broader, probabilistic generalizations or theories.</a:t>
            </a:r>
            <a:endParaRPr lang="en-US" sz="1600" i="1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8D4345-835C-A660-7160-B2879558F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925" y="2978852"/>
            <a:ext cx="8633953" cy="2044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772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74389-4E3D-AAB0-6AB5-940485E71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099A7-EFE6-F1C8-0973-5F05E08BD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FD920C-BFE9-03DA-D231-B0AD763FA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064" y="1891660"/>
            <a:ext cx="5112633" cy="4219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099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A3477-C284-FFAD-0928-B7F2D3D8E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05327-CCE0-8418-81EE-83A7587558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91F90C-737E-D4C5-E5AE-A23E5AF83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40" y="2123768"/>
            <a:ext cx="5029119" cy="3374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804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AFA5C-FE92-8FFD-D243-73184B843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well does it 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D63C4-D582-5BD4-1589-AA2B1B10E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altLang="en-US" dirty="0"/>
              <a:t>Many case studies have shown that decision trees are at least as accurate as human experts. </a:t>
            </a:r>
          </a:p>
          <a:p>
            <a:pPr marL="338138" lvl="1" indent="-223838"/>
            <a:r>
              <a:rPr lang="en-US" altLang="en-US" sz="2800" dirty="0"/>
              <a:t>A study for diagnosing breast cancer had humans correctly classifying the examples 65% of the time; the decision tree classified 72% correct</a:t>
            </a:r>
          </a:p>
          <a:p>
            <a:pPr marL="338138" lvl="1" indent="-223838"/>
            <a:r>
              <a:rPr lang="en-US" altLang="en-US" sz="2800" dirty="0"/>
              <a:t>British Petroleum designed a decision tree for gas-oil separation for offshore oil platforms that  replaced an earlier  rule-based expert system</a:t>
            </a:r>
          </a:p>
          <a:p>
            <a:pPr marL="338138" lvl="1" indent="-223838"/>
            <a:r>
              <a:rPr lang="en-US" altLang="en-US" sz="2800" dirty="0"/>
              <a:t>Cessna designed an airplane flight controller using 90,000 examples and 20 attributes per example. 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58413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DA7D2-9CCC-94CE-02AA-55C45C5EE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Constructing Decision Tree: </a:t>
            </a:r>
            <a:r>
              <a:rPr lang="en-US" b="1" dirty="0"/>
              <a:t>ID3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2E289-9D45-E6AD-6968-B1098A0061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ID3</a:t>
            </a:r>
            <a:r>
              <a:rPr lang="en-US" dirty="0"/>
              <a:t> stands for Interactive </a:t>
            </a:r>
            <a:r>
              <a:rPr lang="en-US" dirty="0" err="1"/>
              <a:t>Dichotomizer</a:t>
            </a:r>
            <a:r>
              <a:rPr lang="en-US" dirty="0"/>
              <a:t> (version 3).</a:t>
            </a:r>
          </a:p>
          <a:p>
            <a:r>
              <a:rPr lang="en-US" altLang="en-US" dirty="0"/>
              <a:t>A greedy algorithm for decision tree construction developed by Ross Quinlan, 1987.</a:t>
            </a:r>
          </a:p>
          <a:p>
            <a:r>
              <a:rPr lang="en-US" altLang="en-US" dirty="0"/>
              <a:t>Top-down construction of the decision tree by recursively selecting the “best attribute/feature” to use at the current node in the tree.</a:t>
            </a:r>
          </a:p>
          <a:p>
            <a:pPr lvl="1"/>
            <a:r>
              <a:rPr lang="en-US" altLang="en-US" dirty="0"/>
              <a:t>Once the attribute is selected for the current node, generate children nodes, one for each possible value of the selected attribute.</a:t>
            </a:r>
          </a:p>
          <a:p>
            <a:pPr lvl="1"/>
            <a:r>
              <a:rPr lang="en-US" altLang="en-US" dirty="0"/>
              <a:t>Partition the examples using the possible values of this attribute, and assign these subsets of the examples to the appropriate child node.</a:t>
            </a:r>
          </a:p>
          <a:p>
            <a:pPr lvl="1"/>
            <a:r>
              <a:rPr lang="en-US" altLang="en-US" dirty="0"/>
              <a:t>Repeat for each child node until all examples associated with a node are either all positive or all negative.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1928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D9608-4A69-FA45-DA27-9EC9A5620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Choosing the best “attribute/feature”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9B17D-5992-2F92-1843-73E7A9D82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en-US" altLang="en-US" dirty="0"/>
              <a:t>The first step of ID3 is to find the root node.</a:t>
            </a:r>
          </a:p>
          <a:p>
            <a:r>
              <a:rPr lang="en-US" altLang="en-US" dirty="0"/>
              <a:t>Some possibilities are:</a:t>
            </a:r>
          </a:p>
          <a:p>
            <a:pPr lvl="1"/>
            <a:r>
              <a:rPr lang="en-US" altLang="en-US" b="1" dirty="0"/>
              <a:t>Random:</a:t>
            </a:r>
            <a:r>
              <a:rPr lang="en-US" altLang="en-US" dirty="0"/>
              <a:t> Select any attribute at random </a:t>
            </a:r>
          </a:p>
          <a:p>
            <a:pPr lvl="1"/>
            <a:r>
              <a:rPr lang="en-US" altLang="en-US" b="1" dirty="0"/>
              <a:t>Least-Values:</a:t>
            </a:r>
            <a:r>
              <a:rPr lang="en-US" altLang="en-US" dirty="0"/>
              <a:t> Choose the attribute with the smallest number of possible values </a:t>
            </a:r>
          </a:p>
          <a:p>
            <a:pPr lvl="1"/>
            <a:r>
              <a:rPr lang="en-US" altLang="en-US" b="1" dirty="0"/>
              <a:t>Most-Values:</a:t>
            </a:r>
            <a:r>
              <a:rPr lang="en-US" altLang="en-US" dirty="0"/>
              <a:t> Choose the attribute with the largest number of possible values </a:t>
            </a:r>
          </a:p>
          <a:p>
            <a:pPr lvl="1"/>
            <a:r>
              <a:rPr lang="en-US" altLang="en-US" b="1" dirty="0"/>
              <a:t>Max-Gain:</a:t>
            </a:r>
            <a:r>
              <a:rPr lang="en-US" altLang="en-US" dirty="0"/>
              <a:t> Choose the attribute that has the largest expected information gain</a:t>
            </a:r>
            <a:r>
              <a:rPr lang="en-US" altLang="en-US" dirty="0">
                <a:cs typeface="Times New Roman" panose="02020603050405020304" pitchFamily="18" charset="0"/>
              </a:rPr>
              <a:t>–i</a:t>
            </a:r>
            <a:r>
              <a:rPr lang="en-US" altLang="en-US" dirty="0"/>
              <a:t>.e., the attribute that will result in the smallest expected size of the subtrees rooted at its children.</a:t>
            </a:r>
          </a:p>
          <a:p>
            <a:r>
              <a:rPr lang="en-US" altLang="en-US" dirty="0"/>
              <a:t>The ID3 algorithm uses the Max-Gain method of selecting the best attribute.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6422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2F415-C18E-4B6F-C1FB-E82A82861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A09EF4-C789-B202-F086-DAF67B179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5198" y="1478756"/>
            <a:ext cx="7861603" cy="3900487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D61DEE92-7690-0C30-44D0-72B8414B0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85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FECF5-ED3B-52CF-9C95-C68E8E953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7869BFF-2611-0861-22DA-FC869B6FDD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To define this disorganization/impurity in data we use a measure called </a:t>
            </a:r>
            <a:r>
              <a:rPr lang="en-US" b="1" dirty="0"/>
              <a:t>entropy</a:t>
            </a:r>
            <a:r>
              <a:rPr lang="en-US" dirty="0"/>
              <a:t>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5618EF3-583B-6966-2422-C7CC4A800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6057" y="1064392"/>
            <a:ext cx="8199885" cy="2579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6095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3965A-7812-5D00-781F-35574E24F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Entropy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C56286-6C91-7B52-AE50-F176E765B8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832690" cy="4781652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In order to define information gain, we need to understand Entropy. </a:t>
                </a:r>
              </a:p>
              <a:p>
                <a:r>
                  <a:rPr lang="en-US" dirty="0"/>
                  <a:t>Entropy characterizes purity/impurity of an arbitrary collection of examples.</a:t>
                </a:r>
              </a:p>
              <a:p>
                <a:r>
                  <a:rPr lang="en-US" dirty="0"/>
                  <a:t>Given a collection S, containing positive and negative examples of some target concept, the entropy of S relative to this binary classification is: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alt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en-US" sz="20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i="1" dirty="0" smtClean="0">
                          <a:latin typeface="Cambria Math" panose="02040503050406030204" pitchFamily="18" charset="0"/>
                        </a:rPr>
                        <m:t>𝐸𝑛𝑡𝑟𝑜𝑝𝑦</m:t>
                      </m:r>
                      <m:r>
                        <a:rPr lang="en-US" alt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alt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i="1" dirty="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US" alt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b="0" i="1" dirty="0" smtClean="0">
                              <a:latin typeface="Cambria Math" panose="02040503050406030204" pitchFamily="18" charset="0"/>
                            </a:rPr>
                            <m:t>−(</m:t>
                          </m:r>
                          <m:r>
                            <a:rPr lang="en-US" altLang="en-US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en-US" i="1" dirty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sSub>
                        <m:sSubPr>
                          <m:ctrlPr>
                            <a:rPr lang="en-US" alt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b="0" i="1" dirty="0" smtClean="0">
                              <a:latin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n-US" alt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en-US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en-US" i="1" dirty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US" altLang="en-US" b="0" i="1" dirty="0" smtClean="0">
                          <a:latin typeface="Cambria Math" panose="02040503050406030204" pitchFamily="18" charset="0"/>
                        </a:rPr>
                        <m:t>)−</m:t>
                      </m:r>
                      <m:d>
                        <m:dPr>
                          <m:ctrlPr>
                            <a:rPr lang="en-US" alt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en-US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i="1" dirty="0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en-US" alt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en-US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en-US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en-US" b="0" dirty="0"/>
                  <a:t>							</a:t>
                </a:r>
                <a14:m>
                  <m:oMath xmlns:m="http://schemas.openxmlformats.org/officeDocument/2006/math"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𝑛𝑜𝑡𝑒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: 0 </m:t>
                    </m:r>
                    <m:r>
                      <m:rPr>
                        <m:sty m:val="p"/>
                      </m:rPr>
                      <a:rPr lang="en-US" altLang="en-US" i="1" dirty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altLang="en-US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0 = 0] </m:t>
                    </m:r>
                  </m:oMath>
                </a14:m>
                <a:endParaRPr lang="en-US" altLang="en-US" dirty="0">
                  <a:latin typeface="Times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C56286-6C91-7B52-AE50-F176E765B8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832690" cy="4781652"/>
              </a:xfrm>
              <a:blipFill>
                <a:blip r:embed="rId2"/>
                <a:stretch>
                  <a:fillRect l="-1013" t="-2038" r="-7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F5C95E7F-C96A-887E-1FC8-CC2DCAACC3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1470" y="4216451"/>
            <a:ext cx="4067175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875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0EE191F-C620-CF11-21A2-B94917A2C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40E6F4F-38CB-E58F-87FE-DAC76EB5483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86F5976A-4EED-4247-C510-E42F3D27B30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59795" y="1947926"/>
            <a:ext cx="3970542" cy="410673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DFEFD18-1737-943B-FC9B-4F8ECF990E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25625"/>
            <a:ext cx="4971896" cy="4110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1249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64DF5CD-3F0D-CF1C-6771-25B70CFDA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81C81F-6B06-E45C-86D8-7DDE01427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US" dirty="0"/>
              <a:t>Suppose S is the collection (dataset) of 14 examples of a binary classification, including 9 positive and 5 negative examples. Find the entropy of S.</a:t>
            </a:r>
          </a:p>
          <a:p>
            <a:pPr marL="514350" indent="-514350">
              <a:buFont typeface="+mj-lt"/>
              <a:buAutoNum type="alphaLcParenR"/>
            </a:pPr>
            <a:endParaRPr lang="en-US" dirty="0"/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Now, assume that the dataset S have 14 examples having all 14 positive and 0 negative examples. Find the entropy of S.</a:t>
            </a:r>
          </a:p>
          <a:p>
            <a:pPr marL="514350" indent="-514350">
              <a:buFont typeface="+mj-lt"/>
              <a:buAutoNum type="alphaLcParenR"/>
            </a:pPr>
            <a:endParaRPr lang="en-US" dirty="0"/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When, S has 7 positive and 7 negative examples. Find the entropy.</a:t>
            </a:r>
          </a:p>
          <a:p>
            <a:pPr marL="514350" indent="-514350">
              <a:buFont typeface="+mj-lt"/>
              <a:buAutoNum type="alphaLcParenR"/>
            </a:pPr>
            <a:endParaRPr lang="en-US" dirty="0"/>
          </a:p>
          <a:p>
            <a:pPr marL="514350" indent="-514350">
              <a:buFont typeface="+mj-lt"/>
              <a:buAutoNum type="alphaLcParenR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4161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DD66C-3540-4180-8C8F-F9580369D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 Gain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610B8-D265-F8CA-3096-54924EBAD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entropy as the measure of the impurity in a collection of training examples, we can now define the measure of the effectiveness of an attribute in classifying the training data. </a:t>
            </a:r>
          </a:p>
          <a:p>
            <a:r>
              <a:rPr lang="en-US" dirty="0"/>
              <a:t>The measure called information gain, is simply the expected reduction in entropy caused by partitioning the examples according to this attribute. </a:t>
            </a:r>
          </a:p>
          <a:p>
            <a:r>
              <a:rPr lang="en-US" dirty="0"/>
              <a:t>To minimize the decision tree depth, the attribute with the most entropy reduction is the best choice.    </a:t>
            </a:r>
          </a:p>
        </p:txBody>
      </p:sp>
    </p:spTree>
    <p:extLst>
      <p:ext uri="{BB962C8B-B14F-4D97-AF65-F5344CB8AC3E}">
        <p14:creationId xmlns:p14="http://schemas.microsoft.com/office/powerpoint/2010/main" val="39388515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CA810-BB50-2250-8437-363322EE9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3CC96-F080-BB72-D740-3A6B0CFDBD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D291A3-AEB8-61C7-8197-C6F1D702C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310" y="1228418"/>
            <a:ext cx="8097380" cy="440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633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D48C2-E658-646F-1B78-992C0AEB8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3ED2E-CE56-B23A-5C95-FE08AA98DF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Training data, where the Y label</a:t>
            </a:r>
          </a:p>
          <a:p>
            <a:pPr marL="0" indent="0">
              <a:buNone/>
            </a:pPr>
            <a:r>
              <a:rPr lang="en-GB" dirty="0"/>
              <a:t>   is whether the child goes out to </a:t>
            </a:r>
          </a:p>
          <a:p>
            <a:pPr marL="0" indent="0">
              <a:buNone/>
            </a:pPr>
            <a:r>
              <a:rPr lang="en-GB" dirty="0"/>
              <a:t>   play or not.</a:t>
            </a:r>
            <a:br>
              <a:rPr lang="en-GB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4206CE-617B-721F-FD03-B1D523937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1201" y="-37175"/>
            <a:ext cx="4793380" cy="689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2899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A7DFB9-9F6A-F534-15A3-37AB623C81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3054" y="1750141"/>
                <a:ext cx="7080301" cy="512644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en-US" b="1" dirty="0"/>
                  <a:t>Step 1:</a:t>
                </a:r>
                <a:r>
                  <a:rPr lang="en-US" altLang="en-US" dirty="0"/>
                  <a:t> Calculate Entropy(S) of entire dataset</a:t>
                </a:r>
              </a:p>
              <a:p>
                <a:pPr marL="0" indent="0">
                  <a:buNone/>
                </a:pPr>
                <a:endParaRPr lang="en-US" altLang="en-US" sz="105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400" b="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en-US" sz="2400" b="0" i="1" dirty="0" smtClean="0">
                          <a:latin typeface="Cambria Math" panose="02040503050406030204" pitchFamily="18" charset="0"/>
                        </a:rPr>
                        <m:t>{+5, −5}=</m:t>
                      </m:r>
                      <m:sSub>
                        <m:sSubPr>
                          <m:ctrlPr>
                            <a:rPr lang="en-US" alt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i="1" dirty="0">
                              <a:latin typeface="Cambria Math" panose="02040503050406030204" pitchFamily="18" charset="0"/>
                            </a:rPr>
                            <m:t>−(</m:t>
                          </m:r>
                          <m:r>
                            <a:rPr lang="en-US" alt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en-US" sz="24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sSub>
                        <m:sSubPr>
                          <m:ctrlPr>
                            <a:rPr lang="en-US" alt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i="1" dirty="0">
                              <a:latin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n-US" alt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en-US" sz="24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US" altLang="en-US" sz="2400" i="1" dirty="0">
                          <a:latin typeface="Cambria Math" panose="02040503050406030204" pitchFamily="18" charset="0"/>
                        </a:rPr>
                        <m:t>)−</m:t>
                      </m:r>
                      <m:d>
                        <m:dPr>
                          <m:ctrlPr>
                            <a:rPr lang="en-US" alt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2400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en-US" sz="24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2400" i="1" dirty="0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en-US" alt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24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en-US" sz="2400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en-US" sz="24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en-US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/>
                  <a:t>               </a:t>
                </a:r>
                <a14:m>
                  <m:oMath xmlns:m="http://schemas.openxmlformats.org/officeDocument/2006/math">
                    <m:r>
                      <a:rPr lang="en-US" altLang="en-US" sz="2400" b="0" i="0" dirty="0" smtClean="0">
                        <a:latin typeface="Cambria Math" panose="02040503050406030204" pitchFamily="18" charset="0"/>
                      </a:rPr>
                      <m:t>                     </m:t>
                    </m:r>
                    <m:r>
                      <a:rPr lang="en-US" altLang="en-US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400" b="0" i="1" dirty="0" smtClean="0">
                        <a:latin typeface="Cambria Math" panose="02040503050406030204" pitchFamily="18" charset="0"/>
                      </a:rPr>
                      <m:t>−(</m:t>
                    </m:r>
                    <m:f>
                      <m:fPr>
                        <m:ctrlPr>
                          <a:rPr lang="en-US" altLang="en-US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24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altLang="en-US" sz="2400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sSub>
                      <m:sSubPr>
                        <m:ctrlPr>
                          <a:rPr lang="en-US" alt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i="1" dirty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en-US" sz="2400" i="1" dirty="0" smtClean="0"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lang="en-US" altLang="en-US" sz="2400" i="1" dirty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f>
                      <m:fPr>
                        <m:ctrlPr>
                          <a:rPr lang="en-US" altLang="en-US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2400" i="1" dirty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altLang="en-US" sz="2400" i="1" dirty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altLang="en-US" sz="2400" i="1" dirty="0">
                        <a:latin typeface="Cambria Math" panose="02040503050406030204" pitchFamily="18" charset="0"/>
                      </a:rPr>
                      <m:t>)−</m:t>
                    </m:r>
                    <m:d>
                      <m:dPr>
                        <m:ctrlPr>
                          <a:rPr lang="en-US" alt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en-US" sz="24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sz="2400" i="1" dirty="0"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US" altLang="en-US" sz="2400" i="1" dirty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  <m:sSub>
                          <m:sSubPr>
                            <m:ctrlPr>
                              <a:rPr lang="en-US" alt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400" i="1" dirty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altLang="en-US" sz="24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f>
                          <m:fPr>
                            <m:ctrlPr>
                              <a:rPr lang="en-US" altLang="en-US" sz="24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sz="2400" i="1" dirty="0"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US" altLang="en-US" sz="2400" i="1" dirty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                                    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en-US" alt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400" b="0" i="1" dirty="0" smtClean="0">
                            <a:latin typeface="Cambria Math" panose="02040503050406030204" pitchFamily="18" charset="0"/>
                          </a:rPr>
                          <m:t>0.5</m:t>
                        </m:r>
                        <m:sSub>
                          <m:sSubPr>
                            <m:ctrlPr>
                              <a:rPr lang="en-US" alt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400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en-US" sz="2400" i="1" dirty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altLang="en-US" sz="24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en-US" sz="2400" b="0" i="1" dirty="0" smtClean="0">
                            <a:latin typeface="Cambria Math" panose="02040503050406030204" pitchFamily="18" charset="0"/>
                          </a:rPr>
                          <m:t>0.5</m:t>
                        </m:r>
                      </m:e>
                    </m:d>
                    <m:r>
                      <a:rPr lang="en-US" altLang="en-US" sz="2400" i="1" dirty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alt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400" i="1" dirty="0">
                            <a:latin typeface="Cambria Math" panose="02040503050406030204" pitchFamily="18" charset="0"/>
                          </a:rPr>
                          <m:t>0.5</m:t>
                        </m:r>
                        <m:sSub>
                          <m:sSubPr>
                            <m:ctrlPr>
                              <a:rPr lang="en-US" alt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400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en-US" sz="2400" i="1" dirty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altLang="en-US" sz="24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en-US" sz="24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en-US" sz="2400" i="1" dirty="0">
                            <a:latin typeface="Cambria Math" panose="02040503050406030204" pitchFamily="18" charset="0"/>
                          </a:rPr>
                          <m:t>0.5</m:t>
                        </m:r>
                      </m:e>
                    </m:d>
                  </m:oMath>
                </a14:m>
                <a:endParaRPr lang="en-US" alt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               </a:t>
                </a:r>
                <a14:m>
                  <m:oMath xmlns:m="http://schemas.openxmlformats.org/officeDocument/2006/math">
                    <m:r>
                      <a:rPr lang="en-US" altLang="en-US" sz="2400" b="0" i="0" dirty="0" smtClean="0">
                        <a:latin typeface="Cambria Math" panose="02040503050406030204" pitchFamily="18" charset="0"/>
                      </a:rPr>
                      <m:t>                      =</m:t>
                    </m:r>
                    <m:r>
                      <a:rPr lang="en-US" altLang="en-US" sz="2400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A7DFB9-9F6A-F534-15A3-37AB623C81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3054" y="1750141"/>
                <a:ext cx="7080301" cy="5126445"/>
              </a:xfrm>
              <a:blipFill>
                <a:blip r:embed="rId2"/>
                <a:stretch>
                  <a:fillRect l="-1721" t="-19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1A428AA3-1E72-4694-A7EA-751BC825E6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1845" y="-18588"/>
            <a:ext cx="4793380" cy="689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4274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EF016ECA-2346-90C6-73D6-B24D8740B0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3054" y="281961"/>
                <a:ext cx="7168791" cy="6594626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Step 2:</a:t>
                </a:r>
                <a:r>
                  <a:rPr lang="en-US" dirty="0"/>
                  <a:t> Information gain of all features/attributes</a:t>
                </a:r>
              </a:p>
              <a:p>
                <a:pPr marL="0" indent="0" algn="ctr">
                  <a:buNone/>
                </a:pPr>
                <a:r>
                  <a:rPr lang="en-US" b="1" dirty="0"/>
                  <a:t>Information Gain of Weather</a:t>
                </a:r>
              </a:p>
              <a:p>
                <a:pPr marL="0" indent="0" algn="ctr">
                  <a:buNone/>
                </a:pPr>
                <a:endParaRPr lang="en-US" b="1" dirty="0"/>
              </a:p>
              <a:p>
                <a:pPr marL="514350" indent="-514350">
                  <a:buFont typeface="+mj-lt"/>
                  <a:buAutoNum type="alphaLcParenR"/>
                </a:pPr>
                <a:r>
                  <a:rPr lang="en-US" b="1" dirty="0"/>
                  <a:t> Entropy of Sunny:</a:t>
                </a:r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altLang="en-US" b="0" i="0" dirty="0" smtClean="0">
                        <a:latin typeface="Cambria Math" panose="02040503050406030204" pitchFamily="18" charset="0"/>
                      </a:rPr>
                      <m:t>         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{+1, −2}=</m:t>
                    </m:r>
                    <m:sSub>
                      <m:sSub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−(</m:t>
                        </m:r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sSub>
                      <m:sSub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US" altLang="en-US" i="1" dirty="0">
                        <a:latin typeface="Cambria Math" panose="02040503050406030204" pitchFamily="18" charset="0"/>
                      </a:rPr>
                      <m:t>)−</m:t>
                    </m:r>
                    <m:d>
                      <m:d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  <m:sSub>
                          <m:sSubPr>
                            <m:ctrlPr>
                              <a:rPr lang="en-US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e>
                    </m:d>
                  </m:oMath>
                </a14:m>
                <a:endParaRPr lang="en-US" alt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/>
                  <a:t>              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=−(</m:t>
                    </m:r>
                    <m:f>
                      <m:f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b>
                      <m:sSub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f>
                      <m:f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altLang="en-US" i="1" dirty="0">
                        <a:latin typeface="Cambria Math" panose="02040503050406030204" pitchFamily="18" charset="0"/>
                      </a:rPr>
                      <m:t>)−</m:t>
                    </m:r>
                    <m:d>
                      <m:d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en-US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en-US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sSub>
                          <m:sSubPr>
                            <m:ctrlPr>
                              <a:rPr lang="en-US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f>
                          <m:fPr>
                            <m:ctrlPr>
                              <a:rPr lang="en-US" altLang="en-US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en-US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                 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0.914961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b)      Entropy of Cloudy:</a:t>
                </a:r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         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{+3, −0}=</m:t>
                    </m:r>
                    <m:sSub>
                      <m:sSub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−(</m:t>
                        </m:r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sSub>
                      <m:sSub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US" altLang="en-US" i="1" dirty="0">
                        <a:latin typeface="Cambria Math" panose="02040503050406030204" pitchFamily="18" charset="0"/>
                      </a:rPr>
                      <m:t>)−</m:t>
                    </m:r>
                    <m:d>
                      <m:d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  <m:sSub>
                          <m:sSubPr>
                            <m:ctrlPr>
                              <a:rPr lang="en-US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e>
                    </m:d>
                  </m:oMath>
                </a14:m>
                <a:endParaRPr lang="en-US" alt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/>
                  <a:t>              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=−(</m:t>
                    </m:r>
                    <m:f>
                      <m:f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b>
                      <m:sSub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f>
                      <m:f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altLang="en-US" i="1" dirty="0">
                        <a:latin typeface="Cambria Math" panose="02040503050406030204" pitchFamily="18" charset="0"/>
                      </a:rPr>
                      <m:t>)−</m:t>
                    </m:r>
                    <m:d>
                      <m:d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en-US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num>
                          <m:den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sSub>
                          <m:sSubPr>
                            <m:ctrlPr>
                              <a:rPr lang="en-US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f>
                          <m:fPr>
                            <m:ctrlPr>
                              <a:rPr lang="en-US" altLang="en-US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num>
                          <m:den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                 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altLang="en-US" dirty="0"/>
              </a:p>
              <a:p>
                <a:pPr marL="0" indent="0">
                  <a:buNone/>
                </a:pPr>
                <a:r>
                  <a:rPr lang="en-US" b="1" dirty="0"/>
                  <a:t>c)      Entropy of Rainy:</a:t>
                </a:r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         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{+1,− 3}=</m:t>
                    </m:r>
                    <m:sSub>
                      <m:sSub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−(</m:t>
                        </m:r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sSub>
                      <m:sSub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US" altLang="en-US" i="1" dirty="0">
                        <a:latin typeface="Cambria Math" panose="02040503050406030204" pitchFamily="18" charset="0"/>
                      </a:rPr>
                      <m:t>)−</m:t>
                    </m:r>
                    <m:d>
                      <m:d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  <m:sSub>
                          <m:sSubPr>
                            <m:ctrlPr>
                              <a:rPr lang="en-US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e>
                    </m:d>
                  </m:oMath>
                </a14:m>
                <a:endParaRPr lang="en-US" alt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/>
                  <a:t>              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=−(</m:t>
                    </m:r>
                    <m:f>
                      <m:f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b>
                      <m:sSub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f>
                      <m:f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altLang="en-US" i="1" dirty="0">
                        <a:latin typeface="Cambria Math" panose="02040503050406030204" pitchFamily="18" charset="0"/>
                      </a:rPr>
                      <m:t>)−</m:t>
                    </m:r>
                    <m:d>
                      <m:d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en-US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en-US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sSub>
                          <m:sSubPr>
                            <m:ctrlPr>
                              <a:rPr lang="en-US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f>
                          <m:fPr>
                            <m:ctrlPr>
                              <a:rPr lang="en-US" altLang="en-US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en-US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                 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.81125</m:t>
                    </m:r>
                  </m:oMath>
                </a14:m>
                <a:endParaRPr lang="en-US" altLang="en-US" dirty="0"/>
              </a:p>
              <a:p>
                <a:pPr marL="0" indent="0">
                  <a:buNone/>
                </a:pPr>
                <a:endParaRPr lang="en-US" altLang="en-US" dirty="0"/>
              </a:p>
              <a:p>
                <a:pPr marL="0" indent="0">
                  <a:buNone/>
                </a:pPr>
                <a:endParaRPr lang="en-US" alt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EF016ECA-2346-90C6-73D6-B24D8740B0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3054" y="281961"/>
                <a:ext cx="7168791" cy="6594626"/>
              </a:xfrm>
              <a:blipFill>
                <a:blip r:embed="rId2"/>
                <a:stretch>
                  <a:fillRect l="-1531" t="-23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A9B8B8BE-B8BF-3411-1194-5AED94C2CD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7161" y="0"/>
            <a:ext cx="4793380" cy="689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2318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CD94FE55-B1CE-96F6-82D4-CA6AEDD7CC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3054" y="281961"/>
                <a:ext cx="6834107" cy="65946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Information Gain(Weather):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b="0" i="1" dirty="0" smtClean="0">
                          <a:latin typeface="Cambria Math" panose="02040503050406030204" pitchFamily="18" charset="0"/>
                        </a:rPr>
                        <m:t>𝐼𝐺</m:t>
                      </m:r>
                      <m:d>
                        <m:dPr>
                          <m:ctrlPr>
                            <a:rPr lang="en-US" alt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i="1" dirty="0" smtClean="0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altLang="en-US" b="0" i="1" dirty="0" smtClean="0">
                              <a:latin typeface="Cambria Math" panose="02040503050406030204" pitchFamily="18" charset="0"/>
                            </a:rPr>
                            <m:t>𝑒𝑎𝑡h𝑒𝑟</m:t>
                          </m:r>
                        </m:e>
                      </m:d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b="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alt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b="0" i="1" dirty="0" smtClean="0">
                              <a:latin typeface="Cambria Math" panose="02040503050406030204" pitchFamily="18" charset="0"/>
                            </a:rPr>
                            <m:t>𝑑𝑎𝑡𝑎𝑆𝑒𝑡</m:t>
                          </m:r>
                        </m:e>
                      </m:d>
                      <m:r>
                        <a:rPr lang="en-US" alt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altLang="en-US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US" altLang="en-US" b="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alt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b="0" i="1" dirty="0" smtClean="0">
                              <a:latin typeface="Cambria Math" panose="02040503050406030204" pitchFamily="18" charset="0"/>
                            </a:rPr>
                            <m:t>𝑆𝑢𝑛𝑛𝑦</m:t>
                          </m:r>
                        </m:e>
                      </m:d>
                      <m:r>
                        <a:rPr lang="en-US" alt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altLang="en-US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alt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b="0" i="1" dirty="0" smtClean="0">
                              <a:latin typeface="Cambria Math" panose="02040503050406030204" pitchFamily="18" charset="0"/>
                            </a:rPr>
                            <m:t>𝐶𝑙𝑜𝑢𝑑𝑦</m:t>
                          </m:r>
                        </m:e>
                      </m:d>
                      <m:r>
                        <a:rPr lang="en-US" alt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US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altLang="en-US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alt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b="0" i="1" dirty="0" smtClean="0">
                              <a:latin typeface="Cambria Math" panose="02040503050406030204" pitchFamily="18" charset="0"/>
                            </a:rPr>
                            <m:t>𝑅𝑎𝑖𝑛𝑦</m:t>
                          </m:r>
                        </m:e>
                      </m:d>
                    </m:oMath>
                  </m:oMathPara>
                </a14:m>
                <a:endParaRPr lang="en-US" alt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altLang="en-US" i="1" dirty="0">
                        <a:latin typeface="Cambria Math" panose="02040503050406030204" pitchFamily="18" charset="0"/>
                      </a:rPr>
                      <m:t>0.914961−</m:t>
                    </m:r>
                    <m:f>
                      <m:f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altLang="en-US" i="1" dirty="0">
                        <a:latin typeface="Cambria Math" panose="02040503050406030204" pitchFamily="18" charset="0"/>
                      </a:rPr>
                      <m:t>0.81125</m:t>
                    </m:r>
                  </m:oMath>
                </a14:m>
                <a:endParaRPr lang="en-US" alt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en-US" altLang="en-US" b="0" i="1" dirty="0" smtClean="0">
                          <a:latin typeface="Cambria Math" panose="02040503050406030204" pitchFamily="18" charset="0"/>
                        </a:rPr>
                        <m:t>.4010117</m:t>
                      </m:r>
                    </m:oMath>
                  </m:oMathPara>
                </a14:m>
                <a:endParaRPr lang="en-US" altLang="en-US" b="0" dirty="0"/>
              </a:p>
              <a:p>
                <a:pPr marL="0" indent="0">
                  <a:buNone/>
                </a:pPr>
                <a:endParaRPr lang="en-US" altLang="en-US" dirty="0"/>
              </a:p>
              <a:p>
                <a:pPr marL="0" indent="0">
                  <a:buNone/>
                </a:pPr>
                <a:endParaRPr lang="en-US" altLang="en-US" dirty="0"/>
              </a:p>
              <a:p>
                <a:pPr marL="0" indent="0">
                  <a:buNone/>
                </a:pPr>
                <a:endParaRPr lang="en-US" alt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CD94FE55-B1CE-96F6-82D4-CA6AEDD7CC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3054" y="281961"/>
                <a:ext cx="6834107" cy="6594626"/>
              </a:xfrm>
              <a:blipFill>
                <a:blip r:embed="rId2"/>
                <a:stretch>
                  <a:fillRect l="-17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05BC710C-E926-98B0-92BF-80D2192769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7161" y="0"/>
            <a:ext cx="4793380" cy="689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6733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892FE4D1-408B-26A4-DC88-18CBC7BAB9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3055" y="147485"/>
                <a:ext cx="7168790" cy="6400800"/>
              </a:xfrm>
            </p:spPr>
            <p:txBody>
              <a:bodyPr>
                <a:normAutofit fontScale="62500" lnSpcReduction="20000"/>
              </a:bodyPr>
              <a:lstStyle/>
              <a:p>
                <a:pPr marL="0" indent="0" algn="ctr">
                  <a:buNone/>
                </a:pPr>
                <a:r>
                  <a:rPr lang="en-US" b="1" dirty="0"/>
                  <a:t>Information Gain of Temperature</a:t>
                </a:r>
              </a:p>
              <a:p>
                <a:pPr marL="0" indent="0" algn="ctr">
                  <a:buNone/>
                </a:pPr>
                <a:endParaRPr lang="en-US" sz="1900" b="1" dirty="0"/>
              </a:p>
              <a:p>
                <a:pPr marL="514350" indent="-514350">
                  <a:buFont typeface="+mj-lt"/>
                  <a:buAutoNum type="alphaLcParenR"/>
                </a:pPr>
                <a:r>
                  <a:rPr lang="en-US" b="1" dirty="0"/>
                  <a:t> Entropy of Hot:</a:t>
                </a:r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altLang="en-US" b="0" i="0" dirty="0" smtClean="0">
                        <a:latin typeface="Cambria Math" panose="02040503050406030204" pitchFamily="18" charset="0"/>
                      </a:rPr>
                      <m:t>         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{+2, −2}=</m:t>
                    </m:r>
                    <m:sSub>
                      <m:sSub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−(</m:t>
                        </m:r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sSub>
                      <m:sSub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US" altLang="en-US" i="1" dirty="0">
                        <a:latin typeface="Cambria Math" panose="02040503050406030204" pitchFamily="18" charset="0"/>
                      </a:rPr>
                      <m:t>)−</m:t>
                    </m:r>
                    <m:d>
                      <m:d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  <m:sSub>
                          <m:sSubPr>
                            <m:ctrlPr>
                              <a:rPr lang="en-US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e>
                    </m:d>
                  </m:oMath>
                </a14:m>
                <a:endParaRPr lang="en-US" alt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/>
                  <a:t>              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=−(</m:t>
                    </m:r>
                    <m:f>
                      <m:fPr>
                        <m:ctrlPr>
                          <a:rPr lang="en-US" alt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b>
                      <m:sSub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f>
                      <m:f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altLang="en-US" i="1" dirty="0">
                        <a:latin typeface="Cambria Math" panose="02040503050406030204" pitchFamily="18" charset="0"/>
                      </a:rPr>
                      <m:t>)−</m:t>
                    </m:r>
                    <m:d>
                      <m:dPr>
                        <m:ctrlPr>
                          <a:rPr lang="en-US" alt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en-US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en-US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sSub>
                          <m:sSubPr>
                            <m:ctrlPr>
                              <a:rPr lang="en-US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f>
                          <m:fPr>
                            <m:ctrlPr>
                              <a:rPr lang="en-US" altLang="en-US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en-US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                 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b)      Entropy of Mild:</a:t>
                </a:r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         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{+3, 2}=</m:t>
                    </m:r>
                    <m:sSub>
                      <m:sSub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−(</m:t>
                        </m:r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sSub>
                      <m:sSub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US" altLang="en-US" i="1" dirty="0">
                        <a:latin typeface="Cambria Math" panose="02040503050406030204" pitchFamily="18" charset="0"/>
                      </a:rPr>
                      <m:t>)−</m:t>
                    </m:r>
                    <m:d>
                      <m:d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  <m:sSub>
                          <m:sSubPr>
                            <m:ctrlPr>
                              <a:rPr lang="en-US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e>
                    </m:d>
                  </m:oMath>
                </a14:m>
                <a:endParaRPr lang="en-US" alt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/>
                  <a:t>              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=−(</m:t>
                    </m:r>
                    <m:f>
                      <m:f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sSub>
                      <m:sSub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f>
                      <m:f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altLang="en-US" i="1" dirty="0">
                        <a:latin typeface="Cambria Math" panose="02040503050406030204" pitchFamily="18" charset="0"/>
                      </a:rPr>
                      <m:t>)−</m:t>
                    </m:r>
                    <m:d>
                      <m:d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en-US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en-US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sSub>
                          <m:sSubPr>
                            <m:ctrlPr>
                              <a:rPr lang="en-US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f>
                          <m:fPr>
                            <m:ctrlPr>
                              <a:rPr lang="en-US" altLang="en-US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en-US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                 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0.971</m:t>
                    </m:r>
                  </m:oMath>
                </a14:m>
                <a:endParaRPr lang="en-US" altLang="en-US" dirty="0"/>
              </a:p>
              <a:p>
                <a:pPr marL="0" indent="0">
                  <a:buNone/>
                </a:pPr>
                <a:r>
                  <a:rPr lang="en-US" b="1" dirty="0"/>
                  <a:t>c)      Entropy of Cool:</a:t>
                </a:r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         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{+1,0}=</m:t>
                    </m:r>
                    <m:sSub>
                      <m:sSub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−(</m:t>
                        </m:r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sSub>
                      <m:sSub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US" altLang="en-US" i="1" dirty="0">
                        <a:latin typeface="Cambria Math" panose="02040503050406030204" pitchFamily="18" charset="0"/>
                      </a:rPr>
                      <m:t>)−</m:t>
                    </m:r>
                    <m:d>
                      <m:d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  <m:sSub>
                          <m:sSubPr>
                            <m:ctrlPr>
                              <a:rPr lang="en-US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e>
                    </m:d>
                  </m:oMath>
                </a14:m>
                <a:endParaRPr lang="en-US" alt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/>
                  <a:t>              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=−(</m:t>
                    </m:r>
                    <m:f>
                      <m:f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sSub>
                      <m:sSub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f>
                      <m:f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US" altLang="en-US" i="1" dirty="0">
                        <a:latin typeface="Cambria Math" panose="02040503050406030204" pitchFamily="18" charset="0"/>
                      </a:rPr>
                      <m:t>)−</m:t>
                    </m:r>
                    <m:d>
                      <m:d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en-US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num>
                          <m:den>
                            <m:r>
                              <a:rPr lang="en-US" alt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  <m:sSub>
                          <m:sSubPr>
                            <m:ctrlPr>
                              <a:rPr lang="en-US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f>
                          <m:fPr>
                            <m:ctrlPr>
                              <a:rPr lang="en-US" altLang="en-US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num>
                          <m:den>
                            <m:r>
                              <a:rPr lang="en-US" alt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                 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altLang="en-US" dirty="0"/>
              </a:p>
              <a:p>
                <a:pPr marL="0" indent="0">
                  <a:buNone/>
                </a:pPr>
                <a:r>
                  <a:rPr lang="en-US" b="1" dirty="0"/>
                  <a:t>Information Gain(Temperature):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𝐼𝐺</m:t>
                    </m:r>
                    <m:d>
                      <m:d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𝑇𝑒𝑚𝑝</m:t>
                        </m:r>
                      </m:e>
                    </m:d>
                  </m:oMath>
                </a14:m>
                <a:r>
                  <a:rPr lang="en-US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𝑑𝑎𝑡𝑎𝑆𝑒𝑡</m:t>
                        </m:r>
                      </m:e>
                    </m:d>
                    <m:r>
                      <a:rPr lang="en-US" altLang="en-US" i="1" dirty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𝐻𝑜𝑡</m:t>
                        </m:r>
                      </m:e>
                    </m:d>
                    <m:r>
                      <a:rPr lang="en-US" altLang="en-US" i="1" dirty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𝑀𝑖𝑙𝑑</m:t>
                        </m:r>
                      </m:e>
                    </m:d>
                    <m:r>
                      <a:rPr lang="en-US" altLang="en-US" i="1" dirty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𝐶𝑜𝑜𝑙</m:t>
                        </m:r>
                      </m:e>
                    </m:d>
                  </m:oMath>
                </a14:m>
                <a:endParaRPr lang="en-US" alt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altLang="en-US" i="1" dirty="0">
                        <a:latin typeface="Cambria Math" panose="02040503050406030204" pitchFamily="18" charset="0"/>
                      </a:rPr>
                      <m:t>(1)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alt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0.971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altLang="en-US" i="1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alt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en-US" sz="1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en-US" dirty="0"/>
                  <a:t>    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.1145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892FE4D1-408B-26A4-DC88-18CBC7BAB9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3055" y="147485"/>
                <a:ext cx="7168790" cy="6400800"/>
              </a:xfrm>
              <a:blipFill>
                <a:blip r:embed="rId2"/>
                <a:stretch>
                  <a:fillRect l="-680" t="-1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6B55D843-B7DD-8B0C-F4F1-F972805F8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7148" y="-37175"/>
            <a:ext cx="4316362" cy="689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2657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AFC12C2-1F0C-6BE2-0B1A-6A69454D7C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3054" y="281961"/>
                <a:ext cx="7493256" cy="6594626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 algn="ctr">
                  <a:buNone/>
                </a:pPr>
                <a:endParaRPr lang="en-US" b="1" dirty="0"/>
              </a:p>
              <a:p>
                <a:pPr marL="0" indent="0" algn="ctr">
                  <a:buNone/>
                </a:pPr>
                <a:r>
                  <a:rPr lang="en-US" b="1" dirty="0"/>
                  <a:t>Information Gain of Humidity</a:t>
                </a:r>
              </a:p>
              <a:p>
                <a:pPr marL="0" indent="0" algn="ctr">
                  <a:buNone/>
                </a:pPr>
                <a:endParaRPr lang="en-US" b="1" dirty="0"/>
              </a:p>
              <a:p>
                <a:pPr marL="514350" indent="-514350">
                  <a:buFont typeface="+mj-lt"/>
                  <a:buAutoNum type="alphaLcParenR"/>
                </a:pPr>
                <a:r>
                  <a:rPr lang="en-US" b="1" dirty="0"/>
                  <a:t> Entropy of High:</a:t>
                </a:r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altLang="en-US" sz="2400" b="0" i="0" dirty="0" smtClean="0">
                        <a:latin typeface="Cambria Math" panose="02040503050406030204" pitchFamily="18" charset="0"/>
                      </a:rPr>
                      <m:t>         </m:t>
                    </m:r>
                    <m:r>
                      <a:rPr lang="en-US" altLang="en-US" sz="2400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en-US" sz="2400" i="1" dirty="0">
                        <a:latin typeface="Cambria Math" panose="02040503050406030204" pitchFamily="18" charset="0"/>
                      </a:rPr>
                      <m:t>{+3, −4}=</m:t>
                    </m:r>
                    <m:sSub>
                      <m:sSubPr>
                        <m:ctrlPr>
                          <a:rPr lang="en-US" alt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i="1" dirty="0">
                            <a:latin typeface="Cambria Math" panose="02040503050406030204" pitchFamily="18" charset="0"/>
                          </a:rPr>
                          <m:t>−(</m:t>
                        </m:r>
                        <m:r>
                          <a:rPr lang="en-US" altLang="en-US" sz="240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en-US" sz="2400" i="1" dirty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sSub>
                      <m:sSubPr>
                        <m:ctrlPr>
                          <a:rPr lang="en-US" alt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i="1" dirty="0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alt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en-US" sz="240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en-US" sz="2400" i="1" dirty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US" altLang="en-US" sz="2400" i="1" dirty="0">
                        <a:latin typeface="Cambria Math" panose="02040503050406030204" pitchFamily="18" charset="0"/>
                      </a:rPr>
                      <m:t>)−</m:t>
                    </m:r>
                    <m:d>
                      <m:dPr>
                        <m:ctrlPr>
                          <a:rPr lang="en-US" alt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400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en-US" sz="24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  <m:sSub>
                          <m:sSubPr>
                            <m:ctrlPr>
                              <a:rPr lang="en-US" alt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400" i="1" dirty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altLang="en-US" sz="24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alt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4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en-US" sz="2400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en-US" sz="24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e>
                    </m:d>
                  </m:oMath>
                </a14:m>
                <a:endParaRPr lang="en-US" altLang="en-US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/>
                  <a:t>              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=−(</m:t>
                    </m:r>
                    <m:f>
                      <m:fPr>
                        <m:ctrlPr>
                          <a:rPr lang="en-US" alt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sSub>
                      <m:sSub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f>
                      <m:f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a:rPr lang="en-US" altLang="en-US" i="1" dirty="0">
                        <a:latin typeface="Cambria Math" panose="02040503050406030204" pitchFamily="18" charset="0"/>
                      </a:rPr>
                      <m:t>)−</m:t>
                    </m:r>
                    <m:d>
                      <m:dPr>
                        <m:ctrlPr>
                          <a:rPr lang="en-US" alt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en-US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US" altLang="en-US" b="0" i="1" dirty="0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  <m:sSub>
                          <m:sSubPr>
                            <m:ctrlPr>
                              <a:rPr lang="en-US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f>
                          <m:fPr>
                            <m:ctrlPr>
                              <a:rPr lang="en-US" altLang="en-US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US" altLang="en-US" b="0" i="1" dirty="0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                 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0.985228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b)      Entropy of Normal:</a:t>
                </a:r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         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{+2, 1}=</m:t>
                    </m:r>
                    <m:sSub>
                      <m:sSub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−(</m:t>
                        </m:r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sSub>
                      <m:sSub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US" altLang="en-US" i="1" dirty="0">
                        <a:latin typeface="Cambria Math" panose="02040503050406030204" pitchFamily="18" charset="0"/>
                      </a:rPr>
                      <m:t>)−</m:t>
                    </m:r>
                    <m:d>
                      <m:d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  <m:sSub>
                          <m:sSubPr>
                            <m:ctrlPr>
                              <a:rPr lang="en-US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e>
                    </m:d>
                  </m:oMath>
                </a14:m>
                <a:endParaRPr lang="en-US" alt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/>
                  <a:t>              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=−(</m:t>
                    </m:r>
                    <m:f>
                      <m:f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b>
                      <m:sSub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f>
                      <m:f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altLang="en-US" i="1" dirty="0">
                        <a:latin typeface="Cambria Math" panose="02040503050406030204" pitchFamily="18" charset="0"/>
                      </a:rPr>
                      <m:t>)−</m:t>
                    </m:r>
                    <m:d>
                      <m:d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en-US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en-US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sSub>
                          <m:sSubPr>
                            <m:ctrlPr>
                              <a:rPr lang="en-US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f>
                          <m:fPr>
                            <m:ctrlPr>
                              <a:rPr lang="en-US" altLang="en-US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en-US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                 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=0.914961</m:t>
                    </m:r>
                  </m:oMath>
                </a14:m>
                <a:endParaRPr lang="en-US" altLang="en-US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Information Gain(Humidity):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𝐼𝐺</m:t>
                      </m:r>
                      <m:d>
                        <m:dPr>
                          <m:ctrlPr>
                            <a:rPr lang="en-US" alt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i="1" dirty="0">
                              <a:latin typeface="Cambria Math" panose="02040503050406030204" pitchFamily="18" charset="0"/>
                            </a:rPr>
                            <m:t>𝐻𝑢𝑚𝑖𝑑𝑖𝑡𝑦</m:t>
                          </m:r>
                        </m:e>
                      </m:d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alt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i="1" dirty="0">
                              <a:latin typeface="Cambria Math" panose="02040503050406030204" pitchFamily="18" charset="0"/>
                            </a:rPr>
                            <m:t>𝑑𝑎𝑡𝑎𝑆𝑒𝑡</m:t>
                          </m:r>
                        </m:e>
                      </m:d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US" i="1" dirty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US" altLang="en-US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alt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i="1" dirty="0">
                              <a:latin typeface="Cambria Math" panose="02040503050406030204" pitchFamily="18" charset="0"/>
                            </a:rPr>
                            <m:t>𝐻𝑖𝑔h</m:t>
                          </m:r>
                        </m:e>
                      </m:d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US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altLang="en-US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alt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i="1" dirty="0">
                              <a:latin typeface="Cambria Math" panose="02040503050406030204" pitchFamily="18" charset="0"/>
                            </a:rPr>
                            <m:t>𝑁𝑜𝑟𝑚𝑎𝑙</m:t>
                          </m:r>
                        </m:e>
                      </m:d>
                    </m:oMath>
                  </m:oMathPara>
                </a14:m>
                <a:endParaRPr lang="en-US" alt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altLang="en-US" i="1" dirty="0">
                        <a:latin typeface="Cambria Math" panose="02040503050406030204" pitchFamily="18" charset="0"/>
                      </a:rPr>
                      <m:t>(0.985228)−</m:t>
                    </m:r>
                    <m:f>
                      <m:f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alt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0.914961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en-US" dirty="0"/>
                  <a:t>    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.0359117</m:t>
                    </m:r>
                  </m:oMath>
                </a14:m>
                <a:endParaRPr lang="en-US" altLang="en-US" dirty="0"/>
              </a:p>
              <a:p>
                <a:pPr marL="0" indent="0">
                  <a:buNone/>
                </a:pPr>
                <a:endParaRPr lang="en-US" altLang="en-US" dirty="0"/>
              </a:p>
              <a:p>
                <a:pPr marL="0" indent="0">
                  <a:buNone/>
                </a:pPr>
                <a:endParaRPr lang="en-US" altLang="en-US" dirty="0"/>
              </a:p>
              <a:p>
                <a:pPr marL="0" indent="0">
                  <a:buNone/>
                </a:pPr>
                <a:endParaRPr lang="en-US" alt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AFC12C2-1F0C-6BE2-0B1A-6A69454D7C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3054" y="281961"/>
                <a:ext cx="7493256" cy="6594626"/>
              </a:xfrm>
              <a:blipFill>
                <a:blip r:embed="rId2"/>
                <a:stretch>
                  <a:fillRect l="-10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DD88ACE3-0C01-7559-AD8B-D9E58CE22A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8994" y="-37175"/>
            <a:ext cx="4513006" cy="689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5949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F4D29071-C333-86AF-30E3-6F8F492713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3054" y="281961"/>
                <a:ext cx="7827552" cy="6594626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 algn="ctr">
                  <a:buNone/>
                </a:pPr>
                <a:r>
                  <a:rPr lang="en-US" b="1" dirty="0"/>
                  <a:t>Information Gain of Wind</a:t>
                </a:r>
              </a:p>
              <a:p>
                <a:pPr marL="514350" indent="-514350">
                  <a:buFont typeface="+mj-lt"/>
                  <a:buAutoNum type="alphaLcParenR"/>
                </a:pPr>
                <a:r>
                  <a:rPr lang="en-US" b="1" dirty="0"/>
                  <a:t> Entropy of Weak:</a:t>
                </a:r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altLang="en-US" sz="2400" b="0" i="0" dirty="0" smtClean="0">
                        <a:latin typeface="Cambria Math" panose="02040503050406030204" pitchFamily="18" charset="0"/>
                      </a:rPr>
                      <m:t>         </m:t>
                    </m:r>
                    <m:r>
                      <a:rPr lang="en-US" altLang="en-US" sz="2400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en-US" sz="2400" i="1" dirty="0">
                        <a:latin typeface="Cambria Math" panose="02040503050406030204" pitchFamily="18" charset="0"/>
                      </a:rPr>
                      <m:t>{+3, −1}=</m:t>
                    </m:r>
                    <m:sSub>
                      <m:sSubPr>
                        <m:ctrlPr>
                          <a:rPr lang="en-US" alt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i="1" dirty="0">
                            <a:latin typeface="Cambria Math" panose="02040503050406030204" pitchFamily="18" charset="0"/>
                          </a:rPr>
                          <m:t>−(</m:t>
                        </m:r>
                        <m:r>
                          <a:rPr lang="en-US" altLang="en-US" sz="240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en-US" sz="2400" i="1" dirty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sSub>
                      <m:sSubPr>
                        <m:ctrlPr>
                          <a:rPr lang="en-US" alt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i="1" dirty="0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alt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en-US" sz="240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en-US" sz="2400" i="1" dirty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US" altLang="en-US" sz="2400" i="1" dirty="0">
                        <a:latin typeface="Cambria Math" panose="02040503050406030204" pitchFamily="18" charset="0"/>
                      </a:rPr>
                      <m:t>)−</m:t>
                    </m:r>
                    <m:d>
                      <m:dPr>
                        <m:ctrlPr>
                          <a:rPr lang="en-US" alt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400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en-US" sz="24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  <m:sSub>
                          <m:sSubPr>
                            <m:ctrlPr>
                              <a:rPr lang="en-US" alt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400" i="1" dirty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altLang="en-US" sz="24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alt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4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en-US" sz="2400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en-US" sz="24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e>
                    </m:d>
                  </m:oMath>
                </a14:m>
                <a:endParaRPr lang="en-US" altLang="en-US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/>
                  <a:t>              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=−(</m:t>
                    </m:r>
                    <m:f>
                      <m:fPr>
                        <m:ctrlPr>
                          <a:rPr lang="en-US" alt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b>
                      <m:sSub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f>
                      <m:f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altLang="en-US" i="1" dirty="0">
                        <a:latin typeface="Cambria Math" panose="02040503050406030204" pitchFamily="18" charset="0"/>
                      </a:rPr>
                      <m:t>)−</m:t>
                    </m:r>
                    <m:d>
                      <m:dPr>
                        <m:ctrlPr>
                          <a:rPr lang="en-US" alt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en-US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en-US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sSub>
                          <m:sSubPr>
                            <m:ctrlPr>
                              <a:rPr lang="en-US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f>
                          <m:fPr>
                            <m:ctrlPr>
                              <a:rPr lang="en-US" altLang="en-US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en-US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                  </a:t>
                </a:r>
                <a14:m>
                  <m:oMath xmlns:m="http://schemas.openxmlformats.org/officeDocument/2006/math">
                    <m:r>
                      <a:rPr lang="en-US" altLang="en-US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0.81125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b)      Entropy of Strong:</a:t>
                </a:r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         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{+2, 4}=</m:t>
                    </m:r>
                    <m:sSub>
                      <m:sSub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−(</m:t>
                        </m:r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sSub>
                      <m:sSub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US" altLang="en-US" i="1" dirty="0">
                        <a:latin typeface="Cambria Math" panose="02040503050406030204" pitchFamily="18" charset="0"/>
                      </a:rPr>
                      <m:t>)−</m:t>
                    </m:r>
                    <m:d>
                      <m:d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  <m:sSub>
                          <m:sSubPr>
                            <m:ctrlPr>
                              <a:rPr lang="en-US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e>
                    </m:d>
                  </m:oMath>
                </a14:m>
                <a:endParaRPr lang="en-US" alt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/>
                  <a:t>               </a:t>
                </a:r>
                <a14:m>
                  <m:oMath xmlns:m="http://schemas.openxmlformats.org/officeDocument/2006/math">
                    <m:r>
                      <a:rPr lang="en-US" altLang="en-US" dirty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=−(</m:t>
                    </m:r>
                    <m:f>
                      <m:f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sSub>
                      <m:sSub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f>
                      <m:f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altLang="en-US" i="1" dirty="0">
                        <a:latin typeface="Cambria Math" panose="02040503050406030204" pitchFamily="18" charset="0"/>
                      </a:rPr>
                      <m:t>)−</m:t>
                    </m:r>
                    <m:d>
                      <m:d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en-US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US" altLang="en-US" b="0" i="1" dirty="0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sSub>
                          <m:sSubPr>
                            <m:ctrlPr>
                              <a:rPr lang="en-US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alt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f>
                          <m:fPr>
                            <m:ctrlPr>
                              <a:rPr lang="en-US" altLang="en-US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US" altLang="en-US" b="0" i="1" dirty="0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                 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=0.914961</m:t>
                    </m:r>
                  </m:oMath>
                </a14:m>
                <a:endParaRPr lang="en-US" altLang="en-US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Information Gain(Wind):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en-US" sz="2700" i="1" dirty="0">
                          <a:latin typeface="Cambria Math" panose="02040503050406030204" pitchFamily="18" charset="0"/>
                        </a:rPr>
                        <m:t>𝐼𝐺</m:t>
                      </m:r>
                      <m:d>
                        <m:dPr>
                          <m:ctrlPr>
                            <a:rPr lang="en-US" altLang="en-US" sz="27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2700" i="1" dirty="0">
                              <a:latin typeface="Cambria Math" panose="02040503050406030204" pitchFamily="18" charset="0"/>
                            </a:rPr>
                            <m:t>𝑊𝑖𝑛𝑑</m:t>
                          </m:r>
                        </m:e>
                      </m:d>
                      <m:r>
                        <a:rPr lang="en-US" altLang="en-US" sz="27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sz="2700" i="1" dirty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altLang="en-US" sz="27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2700" i="1" dirty="0">
                              <a:latin typeface="Cambria Math" panose="02040503050406030204" pitchFamily="18" charset="0"/>
                            </a:rPr>
                            <m:t>𝑑𝑎𝑡𝑎𝑆𝑒𝑡</m:t>
                          </m:r>
                        </m:e>
                      </m:d>
                      <m:r>
                        <a:rPr lang="en-US" altLang="en-US" sz="2700" i="1" dirty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en-US" sz="27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US" sz="2700" i="1" dirty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US" altLang="en-US" sz="27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US" altLang="en-US" sz="2700" i="1" dirty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altLang="en-US" sz="27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2700" i="1" dirty="0">
                              <a:latin typeface="Cambria Math" panose="02040503050406030204" pitchFamily="18" charset="0"/>
                            </a:rPr>
                            <m:t>𝑆𝑡𝑟𝑜𝑛𝑔</m:t>
                          </m:r>
                        </m:e>
                      </m:d>
                      <m:r>
                        <a:rPr lang="en-US" altLang="en-US" sz="2700" i="1" dirty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en-US" sz="27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US" sz="2700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altLang="en-US" sz="27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US" altLang="en-US" sz="2700" i="1" dirty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altLang="en-US" sz="27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2700" i="1" dirty="0">
                              <a:latin typeface="Cambria Math" panose="02040503050406030204" pitchFamily="18" charset="0"/>
                            </a:rPr>
                            <m:t>𝑊𝑒𝑎𝑘</m:t>
                          </m:r>
                        </m:e>
                      </m:d>
                    </m:oMath>
                  </m:oMathPara>
                </a14:m>
                <a:endParaRPr lang="en-US" altLang="en-US" sz="27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en-US" sz="2700" i="1" dirty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US" altLang="en-US" sz="27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700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en-US" sz="2700" i="1" dirty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en-US" sz="27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7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2700" i="1" dirty="0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US" altLang="en-US" sz="2700" i="1" dirty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altLang="en-US" sz="2700" i="1" dirty="0">
                        <a:latin typeface="Cambria Math" panose="02040503050406030204" pitchFamily="18" charset="0"/>
                      </a:rPr>
                      <m:t>(0.914961)−</m:t>
                    </m:r>
                    <m:f>
                      <m:fPr>
                        <m:ctrlPr>
                          <a:rPr lang="en-US" altLang="en-US" sz="27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2700" i="1" dirty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altLang="en-US" sz="2700" i="1" dirty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altLang="en-US" sz="2700" i="1" dirty="0">
                        <a:latin typeface="Cambria Math" panose="02040503050406030204" pitchFamily="18" charset="0"/>
                      </a:rPr>
                      <m:t>(0.81125</m:t>
                    </m:r>
                    <m:r>
                      <a:rPr lang="en-US" altLang="en-US" sz="27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en-US" sz="27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en-US" sz="27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en-US" sz="2700" i="1" dirty="0"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a:rPr lang="en-US" altLang="en-US" sz="2700" i="1" dirty="0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en-US" altLang="en-US" sz="2700" i="1" dirty="0">
                          <a:latin typeface="Cambria Math" panose="02040503050406030204" pitchFamily="18" charset="0"/>
                        </a:rPr>
                        <m:t>.0358521</m:t>
                      </m:r>
                    </m:oMath>
                  </m:oMathPara>
                </a14:m>
                <a:endParaRPr lang="en-US" altLang="en-US" sz="2700" dirty="0"/>
              </a:p>
              <a:p>
                <a:pPr marL="0" indent="0">
                  <a:buNone/>
                </a:pPr>
                <a:endParaRPr lang="en-US" altLang="en-US" dirty="0"/>
              </a:p>
              <a:p>
                <a:pPr marL="0" indent="0">
                  <a:buNone/>
                </a:pPr>
                <a:endParaRPr lang="en-US" altLang="en-US" dirty="0"/>
              </a:p>
              <a:p>
                <a:pPr marL="0" indent="0">
                  <a:buNone/>
                </a:pPr>
                <a:endParaRPr lang="en-US" alt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F4D29071-C333-86AF-30E3-6F8F492713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3054" y="281961"/>
                <a:ext cx="7827552" cy="6594626"/>
              </a:xfrm>
              <a:blipFill>
                <a:blip r:embed="rId2"/>
                <a:stretch>
                  <a:fillRect l="-1246" t="-21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08FF4B0-61AD-E153-3771-F50299B31A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852" y="-18588"/>
            <a:ext cx="4739148" cy="689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2213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A44CEB04-761E-2E66-5CEF-2FAA79A724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3054" y="281961"/>
                <a:ext cx="7168791" cy="65946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𝑰𝑮</m:t>
                      </m:r>
                      <m:r>
                        <a:rPr lang="en-US" alt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alt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𝑾𝒆𝒂𝒕𝒉𝒆𝒓</m:t>
                      </m:r>
                      <m:r>
                        <a:rPr lang="en-US" alt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𝟒𝟎𝟏𝟎</m:t>
                      </m:r>
                    </m:oMath>
                  </m:oMathPara>
                </a14:m>
                <a:endParaRPr lang="en-US" altLang="en-US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alt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b="0" i="1" dirty="0" smtClean="0">
                          <a:latin typeface="Cambria Math" panose="02040503050406030204" pitchFamily="18" charset="0"/>
                        </a:rPr>
                        <m:t>𝐼𝐺</m:t>
                      </m:r>
                      <m:d>
                        <m:dPr>
                          <m:ctrlPr>
                            <a:rPr lang="en-US" alt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b="0" i="1" dirty="0" smtClean="0">
                              <a:latin typeface="Cambria Math" panose="02040503050406030204" pitchFamily="18" charset="0"/>
                            </a:rPr>
                            <m:t>𝑇𝑒𝑚𝑝𝑒𝑟𝑎𝑡𝑢𝑟𝑒</m:t>
                          </m:r>
                        </m:e>
                      </m:d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en-US" altLang="en-US" b="0" i="1" dirty="0" smtClean="0">
                          <a:latin typeface="Cambria Math" panose="02040503050406030204" pitchFamily="18" charset="0"/>
                        </a:rPr>
                        <m:t>.1145</m:t>
                      </m:r>
                    </m:oMath>
                  </m:oMathPara>
                </a14:m>
                <a:endParaRPr lang="en-US" altLang="en-US" b="0" dirty="0"/>
              </a:p>
              <a:p>
                <a:pPr marL="0" indent="0">
                  <a:buNone/>
                </a:pPr>
                <a:endParaRPr lang="en-US" alt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𝐼𝐺</m:t>
                      </m:r>
                      <m:d>
                        <m:dPr>
                          <m:ctrlPr>
                            <a:rPr lang="en-US" alt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b="0" i="1" dirty="0" smtClean="0">
                              <a:latin typeface="Cambria Math" panose="02040503050406030204" pitchFamily="18" charset="0"/>
                            </a:rPr>
                            <m:t>𝐻𝑢𝑚𝑖𝑑𝑖𝑡𝑦</m:t>
                          </m:r>
                        </m:e>
                      </m:d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altLang="en-US" b="0" i="1" dirty="0" smtClean="0">
                          <a:latin typeface="Cambria Math" panose="02040503050406030204" pitchFamily="18" charset="0"/>
                        </a:rPr>
                        <m:t>0359</m:t>
                      </m:r>
                    </m:oMath>
                  </m:oMathPara>
                </a14:m>
                <a:endParaRPr lang="en-US" altLang="en-US" dirty="0"/>
              </a:p>
              <a:p>
                <a:pPr marL="0" indent="0">
                  <a:buNone/>
                </a:pPr>
                <a:endParaRPr lang="en-US" alt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𝐼𝐺</m:t>
                      </m:r>
                      <m:d>
                        <m:dPr>
                          <m:ctrlPr>
                            <a:rPr lang="en-US" alt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b="0" i="1" dirty="0" smtClean="0">
                              <a:latin typeface="Cambria Math" panose="02040503050406030204" pitchFamily="18" charset="0"/>
                            </a:rPr>
                            <m:t>𝑊𝑖𝑛𝑑</m:t>
                          </m:r>
                        </m:e>
                      </m:d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altLang="en-US" b="0" i="1" dirty="0" smtClean="0">
                          <a:latin typeface="Cambria Math" panose="02040503050406030204" pitchFamily="18" charset="0"/>
                        </a:rPr>
                        <m:t>0359</m:t>
                      </m:r>
                    </m:oMath>
                  </m:oMathPara>
                </a14:m>
                <a:endParaRPr lang="en-US" altLang="en-US" dirty="0"/>
              </a:p>
              <a:p>
                <a:pPr marL="0" indent="0">
                  <a:buNone/>
                </a:pPr>
                <a:endParaRPr lang="en-US" altLang="en-US" dirty="0"/>
              </a:p>
              <a:p>
                <a:pPr marL="0" indent="0">
                  <a:buNone/>
                </a:pPr>
                <a:endParaRPr lang="en-US" altLang="en-US" dirty="0"/>
              </a:p>
              <a:p>
                <a:pPr marL="0" indent="0">
                  <a:buNone/>
                </a:pPr>
                <a:endParaRPr lang="en-US" altLang="en-US" dirty="0"/>
              </a:p>
              <a:p>
                <a:pPr marL="0" indent="0">
                  <a:buNone/>
                </a:pPr>
                <a:endParaRPr lang="en-US" altLang="en-US" dirty="0"/>
              </a:p>
              <a:p>
                <a:pPr marL="0" indent="0">
                  <a:buNone/>
                </a:pPr>
                <a:endParaRPr lang="en-US" alt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A44CEB04-761E-2E66-5CEF-2FAA79A724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3054" y="281961"/>
                <a:ext cx="7168791" cy="6594626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A1B75466-9CF4-33B6-205E-F54A1A1338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7161" y="0"/>
            <a:ext cx="4793380" cy="68951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7AA0F3-0F22-0200-0543-78463B619A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558" y="3579274"/>
            <a:ext cx="6515100" cy="268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5685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92FEEB7-976E-5C92-D496-AD1FB7551C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3054" y="281961"/>
                <a:ext cx="7355603" cy="6594626"/>
              </a:xfrm>
            </p:spPr>
            <p:txBody>
              <a:bodyPr>
                <a:normAutofit fontScale="40000" lnSpcReduction="20000"/>
              </a:bodyPr>
              <a:lstStyle/>
              <a:p>
                <a:pPr marL="0" indent="0">
                  <a:buNone/>
                </a:pPr>
                <a:r>
                  <a:rPr lang="en-US" sz="4500" b="1" dirty="0"/>
                  <a:t>Step 3: </a:t>
                </a:r>
                <a:r>
                  <a:rPr lang="en-US" sz="4500" dirty="0"/>
                  <a:t>Repeat for remaining tree branches.</a:t>
                </a:r>
                <a:endParaRPr lang="en-US" sz="4500" b="1" dirty="0"/>
              </a:p>
              <a:p>
                <a:pPr marL="0" indent="0">
                  <a:buNone/>
                </a:pPr>
                <a:endParaRPr lang="en-US" sz="500" b="1" dirty="0"/>
              </a:p>
              <a:p>
                <a:pPr marL="0" indent="0">
                  <a:buNone/>
                </a:pPr>
                <a:r>
                  <a:rPr lang="en-US" sz="3400" b="1" dirty="0"/>
                  <a:t>Entropy of Sunny:</a:t>
                </a:r>
              </a:p>
              <a:p>
                <a:pPr marL="0" indent="0">
                  <a:buNone/>
                </a:pPr>
                <a:r>
                  <a:rPr lang="en-US" altLang="en-US" sz="3400" b="1" dirty="0"/>
                  <a:t> </a:t>
                </a:r>
                <a14:m>
                  <m:oMath xmlns:m="http://schemas.openxmlformats.org/officeDocument/2006/math">
                    <m:r>
                      <a:rPr lang="en-US" altLang="en-US" sz="3400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en-US" sz="3400" i="1" dirty="0">
                        <a:latin typeface="Cambria Math" panose="02040503050406030204" pitchFamily="18" charset="0"/>
                      </a:rPr>
                      <m:t>{+1, −2}=</m:t>
                    </m:r>
                    <m:sSub>
                      <m:sSubPr>
                        <m:ctrlPr>
                          <a:rPr lang="en-US" altLang="en-US" sz="3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3400" i="1" dirty="0">
                            <a:latin typeface="Cambria Math" panose="02040503050406030204" pitchFamily="18" charset="0"/>
                          </a:rPr>
                          <m:t>−(</m:t>
                        </m:r>
                        <m:r>
                          <a:rPr lang="en-US" altLang="en-US" sz="340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en-US" sz="3400" i="1" dirty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sSub>
                      <m:sSubPr>
                        <m:ctrlPr>
                          <a:rPr lang="en-US" altLang="en-US" sz="3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3400" i="1" dirty="0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altLang="en-US" sz="34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en-US" sz="3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34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en-US" sz="340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en-US" sz="3400" i="1" dirty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US" altLang="en-US" sz="3400" i="1" dirty="0">
                        <a:latin typeface="Cambria Math" panose="02040503050406030204" pitchFamily="18" charset="0"/>
                      </a:rPr>
                      <m:t>)−</m:t>
                    </m:r>
                    <m:d>
                      <m:dPr>
                        <m:ctrlPr>
                          <a:rPr lang="en-US" altLang="en-US" sz="3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sz="3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3400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en-US" sz="34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  <m:sSub>
                          <m:sSubPr>
                            <m:ctrlPr>
                              <a:rPr lang="en-US" altLang="en-US" sz="3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3400" i="1" dirty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altLang="en-US" sz="34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altLang="en-US" sz="3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34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en-US" sz="3400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en-US" sz="34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e>
                    </m:d>
                  </m:oMath>
                </a14:m>
                <a:endParaRPr lang="en-US" altLang="en-US" sz="3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3400" dirty="0"/>
                  <a:t>               </a:t>
                </a:r>
                <a14:m>
                  <m:oMath xmlns:m="http://schemas.openxmlformats.org/officeDocument/2006/math">
                    <m:r>
                      <a:rPr lang="en-US" altLang="en-US" sz="3400" dirty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US" altLang="en-US" sz="3400" i="1" dirty="0">
                        <a:latin typeface="Cambria Math" panose="02040503050406030204" pitchFamily="18" charset="0"/>
                      </a:rPr>
                      <m:t>=−(</m:t>
                    </m:r>
                    <m:f>
                      <m:fPr>
                        <m:ctrlPr>
                          <a:rPr lang="en-US" altLang="en-US" sz="3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34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en-US" sz="3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b>
                      <m:sSubPr>
                        <m:ctrlPr>
                          <a:rPr lang="en-US" altLang="en-US" sz="3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3400" i="1" dirty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en-US" sz="3400" i="1" dirty="0" smtClean="0"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lang="en-US" altLang="en-US" sz="3400" i="1" dirty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en-US" sz="34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f>
                      <m:fPr>
                        <m:ctrlPr>
                          <a:rPr lang="en-US" altLang="en-US" sz="3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34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en-US" sz="3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altLang="en-US" sz="3400" i="1" dirty="0">
                        <a:latin typeface="Cambria Math" panose="02040503050406030204" pitchFamily="18" charset="0"/>
                      </a:rPr>
                      <m:t>)−</m:t>
                    </m:r>
                    <m:d>
                      <m:dPr>
                        <m:ctrlPr>
                          <a:rPr lang="en-US" altLang="en-US" sz="3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en-US" sz="34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sz="34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en-US" sz="34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sSub>
                          <m:sSubPr>
                            <m:ctrlPr>
                              <a:rPr lang="en-US" altLang="en-US" sz="3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3400" i="1" dirty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altLang="en-US" sz="34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f>
                          <m:fPr>
                            <m:ctrlPr>
                              <a:rPr lang="en-US" altLang="en-US" sz="34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sz="34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en-US" sz="34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lang="en-US" sz="3400" dirty="0"/>
              </a:p>
              <a:p>
                <a:pPr marL="0" indent="0">
                  <a:buNone/>
                </a:pPr>
                <a:r>
                  <a:rPr lang="en-US" sz="3400" dirty="0"/>
                  <a:t>                      </a:t>
                </a:r>
                <a14:m>
                  <m:oMath xmlns:m="http://schemas.openxmlformats.org/officeDocument/2006/math">
                    <m:r>
                      <a:rPr lang="en-US" altLang="en-US" sz="340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3400" i="1" dirty="0">
                        <a:latin typeface="Cambria Math" panose="02040503050406030204" pitchFamily="18" charset="0"/>
                      </a:rPr>
                      <m:t>0.91</m:t>
                    </m:r>
                    <m:r>
                      <a:rPr lang="en-US" altLang="en-US" sz="3400" b="0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US" sz="3400" dirty="0"/>
              </a:p>
              <a:p>
                <a:pPr marL="0" indent="0">
                  <a:buNone/>
                </a:pPr>
                <a:r>
                  <a:rPr lang="en-US" sz="3400" b="1" dirty="0"/>
                  <a:t>a)    Information Gain of Temperature:</a:t>
                </a:r>
              </a:p>
              <a:p>
                <a:pPr marL="344488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en-US" sz="3400" i="1" dirty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altLang="en-US" sz="3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3400" b="0" i="1" dirty="0" smtClean="0">
                              <a:latin typeface="Cambria Math" panose="02040503050406030204" pitchFamily="18" charset="0"/>
                            </a:rPr>
                            <m:t>𝑆𝑢𝑛𝑛𝑦</m:t>
                          </m:r>
                          <m: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en-US" sz="34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en-US" sz="3400" b="0" i="1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altLang="en-US" sz="3400" b="0" i="1" dirty="0" smtClean="0">
                              <a:latin typeface="Cambria Math" panose="02040503050406030204" pitchFamily="18" charset="0"/>
                            </a:rPr>
                            <m:t>𝑜𝑡</m:t>
                          </m:r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altLang="en-US" sz="3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3400" b="0" i="1" dirty="0" smtClean="0">
                              <a:latin typeface="Cambria Math" panose="02040503050406030204" pitchFamily="18" charset="0"/>
                            </a:rPr>
                            <m:t>0, −2</m:t>
                          </m:r>
                        </m:e>
                      </m:d>
                      <m:r>
                        <a:rPr lang="en-US" altLang="en-US" sz="3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sz="3400" i="1" dirty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sz="34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lang="en-US" altLang="en-US" sz="3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f>
                            <m:fPr>
                              <m:ctrlP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sz="34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lang="en-US" altLang="en-US" sz="3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altLang="en-US" sz="3400" i="1" dirty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en-US" sz="340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sz="3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altLang="en-US" sz="3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f>
                            <m:fPr>
                              <m:ctrlP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sz="3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altLang="en-US" sz="3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altLang="en-US" sz="3400" b="0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3400" b="1" dirty="0"/>
              </a:p>
              <a:p>
                <a:pPr marL="344488" indent="0">
                  <a:buNone/>
                </a:pPr>
                <a:r>
                  <a:rPr lang="en-US" sz="3400" b="1" dirty="0"/>
                  <a:t> </a:t>
                </a:r>
                <a14:m>
                  <m:oMath xmlns:m="http://schemas.openxmlformats.org/officeDocument/2006/math">
                    <m:r>
                      <a:rPr lang="en-US" altLang="en-US" sz="3400" i="1" dirty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altLang="en-US" sz="3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3400" i="1" dirty="0">
                            <a:latin typeface="Cambria Math" panose="02040503050406030204" pitchFamily="18" charset="0"/>
                          </a:rPr>
                          <m:t>𝑆𝑢𝑛𝑛𝑦</m:t>
                        </m:r>
                        <m:r>
                          <a:rPr lang="en-US" altLang="en-US" sz="34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en-US" sz="34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en-US" sz="3400" b="0" i="1" dirty="0" smtClean="0">
                            <a:latin typeface="Cambria Math" panose="02040503050406030204" pitchFamily="18" charset="0"/>
                          </a:rPr>
                          <m:t>𝑀𝑖𝑙𝑑</m:t>
                        </m:r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en-US" altLang="en-US" sz="3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3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en-US" sz="3400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en-US" sz="34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en-US" sz="3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3400" i="1" dirty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altLang="en-US" sz="3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en-US" sz="34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sz="34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en-US" sz="34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  <m:sSub>
                          <m:sSubPr>
                            <m:ctrlPr>
                              <a:rPr lang="en-US" altLang="en-US" sz="3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3400" i="1" dirty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altLang="en-US" sz="34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f>
                          <m:fPr>
                            <m:ctrlPr>
                              <a:rPr lang="en-US" altLang="en-US" sz="34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sz="34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en-US" sz="34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a:rPr lang="en-US" altLang="en-US" sz="3400" i="1" dirty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altLang="en-US" sz="3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en-US" sz="34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sz="3400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num>
                          <m:den>
                            <m:r>
                              <a:rPr lang="en-US" altLang="en-US" sz="34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  <m:sSub>
                          <m:sSubPr>
                            <m:ctrlPr>
                              <a:rPr lang="en-US" altLang="en-US" sz="3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3400" i="1" dirty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altLang="en-US" sz="34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f>
                          <m:fPr>
                            <m:ctrlPr>
                              <a:rPr lang="en-US" altLang="en-US" sz="34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sz="3400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num>
                          <m:den>
                            <m:r>
                              <a:rPr lang="en-US" altLang="en-US" sz="34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a:rPr lang="en-US" altLang="en-US" sz="3400" b="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en-US" sz="3400" b="0" dirty="0"/>
              </a:p>
              <a:p>
                <a:pPr marL="344488" indent="0">
                  <a:buNone/>
                </a:pPr>
                <a14:m>
                  <m:oMath xmlns:m="http://schemas.openxmlformats.org/officeDocument/2006/math">
                    <m:r>
                      <a:rPr lang="en-US" sz="3400" b="1" i="1">
                        <a:latin typeface="Cambria Math" panose="02040503050406030204" pitchFamily="18" charset="0"/>
                      </a:rPr>
                      <m:t>𝑰𝑮</m:t>
                    </m:r>
                    <m:d>
                      <m:dPr>
                        <m:ctrlPr>
                          <a:rPr lang="en-US" sz="3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400" b="1" i="1"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US" sz="3400" b="1" i="1">
                                <a:latin typeface="Cambria Math" panose="02040503050406030204" pitchFamily="18" charset="0"/>
                              </a:rPr>
                              <m:t>𝑺𝒖𝒏𝒏𝒚</m:t>
                            </m:r>
                          </m:sub>
                        </m:sSub>
                        <m:r>
                          <a:rPr lang="en-US" sz="3400" b="1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3400" b="1" i="1" smtClean="0">
                            <a:latin typeface="Cambria Math" panose="02040503050406030204" pitchFamily="18" charset="0"/>
                          </a:rPr>
                          <m:t>𝑻𝒆𝒎𝒑𝒆𝒓𝒂𝒕𝒖𝒓𝒆</m:t>
                        </m:r>
                      </m:e>
                    </m:d>
                  </m:oMath>
                </a14:m>
                <a:r>
                  <a:rPr lang="en-US" sz="3400" b="1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3400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3400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en-US" sz="3400" i="1" dirty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en-US" sz="3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3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3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en-US" sz="3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ctrlPr>
                          <a:rPr lang="en-US" altLang="en-US" sz="3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3400" i="1" dirty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en-US" sz="3400" i="1" dirty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en-US" sz="3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3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en-US" sz="3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ctrlPr>
                          <a:rPr lang="en-US" altLang="en-US" sz="3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3400" i="1" dirty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en-US" sz="3400" b="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en-US" sz="3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500" b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3400" b="1" dirty="0">
                          <a:latin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en-US" sz="3400" b="1" i="0" dirty="0" smtClean="0">
                          <a:latin typeface="Cambria Math" panose="02040503050406030204" pitchFamily="18" charset="0"/>
                        </a:rPr>
                        <m:t>)    </m:t>
                      </m:r>
                      <m:r>
                        <m:rPr>
                          <m:nor/>
                        </m:rPr>
                        <a:rPr lang="en-US" sz="3400" b="1" dirty="0"/>
                        <m:t>Information</m:t>
                      </m:r>
                      <m:r>
                        <m:rPr>
                          <m:nor/>
                        </m:rPr>
                        <a:rPr lang="en-US" sz="3400" b="1" dirty="0"/>
                        <m:t> </m:t>
                      </m:r>
                      <m:r>
                        <m:rPr>
                          <m:nor/>
                        </m:rPr>
                        <a:rPr lang="en-US" sz="3400" b="1" dirty="0"/>
                        <m:t>Gain</m:t>
                      </m:r>
                      <m:r>
                        <m:rPr>
                          <m:nor/>
                        </m:rPr>
                        <a:rPr lang="en-US" sz="3400" b="1" dirty="0"/>
                        <m:t> </m:t>
                      </m:r>
                      <m:r>
                        <m:rPr>
                          <m:nor/>
                        </m:rPr>
                        <a:rPr lang="en-US" sz="3400" b="1" dirty="0"/>
                        <m:t>of</m:t>
                      </m:r>
                      <m:r>
                        <m:rPr>
                          <m:nor/>
                        </m:rPr>
                        <a:rPr lang="en-US" sz="3400" b="1" dirty="0"/>
                        <m:t> </m:t>
                      </m:r>
                      <m:r>
                        <m:rPr>
                          <m:nor/>
                        </m:rPr>
                        <a:rPr lang="en-US" sz="3400" b="1" i="0" dirty="0" smtClean="0"/>
                        <m:t>Humidity</m:t>
                      </m:r>
                      <m:r>
                        <m:rPr>
                          <m:nor/>
                        </m:rPr>
                        <a:rPr lang="en-US" sz="3400" b="1" dirty="0"/>
                        <m:t>:</m:t>
                      </m:r>
                    </m:oMath>
                  </m:oMathPara>
                </a14:m>
                <a:endParaRPr lang="en-US" sz="3400" b="1" dirty="0"/>
              </a:p>
              <a:p>
                <a:pPr marL="344488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en-US" sz="3400" i="1" dirty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  <m:t>𝑆𝑢𝑛𝑛𝑦</m:t>
                          </m:r>
                          <m: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en-US" sz="3400" b="0" i="1" dirty="0" smtClean="0">
                              <a:latin typeface="Cambria Math" panose="02040503050406030204" pitchFamily="18" charset="0"/>
                            </a:rPr>
                            <m:t>𝐻𝑖𝑔h</m:t>
                          </m:r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  <m:t>0, −2</m:t>
                          </m:r>
                        </m:e>
                      </m:d>
                      <m:r>
                        <a:rPr lang="en-US" altLang="en-US" sz="34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sz="3400" i="1" dirty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f>
                            <m:fPr>
                              <m:ctrlP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altLang="en-US" sz="3400" i="1" dirty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f>
                            <m:fPr>
                              <m:ctrlP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altLang="en-US" sz="3400" i="1" dirty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en-US" sz="3400" i="1" dirty="0">
                  <a:latin typeface="Cambria Math" panose="02040503050406030204" pitchFamily="18" charset="0"/>
                </a:endParaRPr>
              </a:p>
              <a:p>
                <a:pPr marL="344488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en-US" sz="3400" i="1" dirty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  <m:t>𝑆𝑢𝑛𝑛𝑦</m:t>
                          </m:r>
                          <m: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en-US" sz="3400" b="0" i="1" dirty="0" smtClean="0">
                              <a:latin typeface="Cambria Math" panose="02040503050406030204" pitchFamily="18" charset="0"/>
                            </a:rPr>
                            <m:t>𝑁𝑜𝑟𝑚𝑎𝑙</m:t>
                          </m:r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en-US" sz="3400" i="1" dirty="0"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ctrlP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f>
                            <m:fPr>
                              <m:ctrlP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en-US" altLang="en-US" sz="3400" i="1" dirty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f>
                            <m:fPr>
                              <m:ctrlP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en-US" altLang="en-US" sz="3400" i="1" dirty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en-US" sz="3400" i="1" dirty="0">
                  <a:latin typeface="Cambria Math" panose="02040503050406030204" pitchFamily="18" charset="0"/>
                </a:endParaRPr>
              </a:p>
              <a:p>
                <a:pPr marL="344488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3400" b="1" i="1">
                          <a:latin typeface="Cambria Math" panose="02040503050406030204" pitchFamily="18" charset="0"/>
                        </a:rPr>
                        <m:t>𝑰𝑮</m:t>
                      </m:r>
                      <m:d>
                        <m:dPr>
                          <m:ctrlPr>
                            <a:rPr lang="en-US" sz="3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400" b="1" i="1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sz="3400" b="1" i="1">
                                  <a:latin typeface="Cambria Math" panose="02040503050406030204" pitchFamily="18" charset="0"/>
                                </a:rPr>
                                <m:t>𝑺𝒖𝒏𝒏𝒚</m:t>
                              </m:r>
                            </m:sub>
                          </m:sSub>
                          <m:r>
                            <a:rPr lang="en-US" sz="3400" b="1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3400" b="1" i="1" smtClean="0">
                              <a:latin typeface="Cambria Math" panose="02040503050406030204" pitchFamily="18" charset="0"/>
                            </a:rPr>
                            <m:t>𝑯𝒖𝒎𝒊𝒅𝒊𝒕𝒚</m:t>
                          </m:r>
                        </m:e>
                      </m:d>
                      <m:r>
                        <m:rPr>
                          <m:nor/>
                        </m:rPr>
                        <a:rPr lang="en-US" sz="3400" b="1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en-US" sz="3400" b="1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sz="3400" i="1" dirty="0">
                          <a:latin typeface="Cambria Math" panose="02040503050406030204" pitchFamily="18" charset="0"/>
                        </a:rPr>
                        <m:t>1−</m:t>
                      </m:r>
                      <m:r>
                        <m:rPr>
                          <m:nor/>
                        </m:rPr>
                        <a:rPr lang="en-US" altLang="en-US" sz="3400" dirty="0"/>
                        <m:t> </m:t>
                      </m:r>
                      <m:f>
                        <m:fPr>
                          <m:ctrlP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d>
                        <m:dPr>
                          <m:ctrlP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en-US" sz="3400" i="1" dirty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d>
                        <m:dPr>
                          <m:ctrlP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en-US" sz="3400" i="1" dirty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3400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500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3400" b="1" dirty="0"/>
                  <a:t>c)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3400" b="1" dirty="0"/>
                      <m:t>Information</m:t>
                    </m:r>
                    <m:r>
                      <m:rPr>
                        <m:nor/>
                      </m:rPr>
                      <a:rPr lang="en-US" sz="3400" b="1" dirty="0"/>
                      <m:t> </m:t>
                    </m:r>
                    <m:r>
                      <m:rPr>
                        <m:nor/>
                      </m:rPr>
                      <a:rPr lang="en-US" sz="3400" b="1" dirty="0"/>
                      <m:t>Gain</m:t>
                    </m:r>
                    <m:r>
                      <m:rPr>
                        <m:nor/>
                      </m:rPr>
                      <a:rPr lang="en-US" sz="3400" b="1" dirty="0"/>
                      <m:t> </m:t>
                    </m:r>
                    <m:r>
                      <m:rPr>
                        <m:nor/>
                      </m:rPr>
                      <a:rPr lang="en-US" sz="3400" b="1" dirty="0"/>
                      <m:t>of</m:t>
                    </m:r>
                    <m:r>
                      <m:rPr>
                        <m:nor/>
                      </m:rPr>
                      <a:rPr lang="en-US" sz="3400" b="1" dirty="0"/>
                      <m:t> </m:t>
                    </m:r>
                    <m:r>
                      <m:rPr>
                        <m:nor/>
                      </m:rPr>
                      <a:rPr lang="en-US" sz="3400" b="1" i="0" dirty="0" smtClean="0"/>
                      <m:t>Wind</m:t>
                    </m:r>
                    <m:r>
                      <m:rPr>
                        <m:nor/>
                      </m:rPr>
                      <a:rPr lang="en-US" sz="3400" b="1" dirty="0"/>
                      <m:t>:</m:t>
                    </m:r>
                  </m:oMath>
                </a14:m>
                <a:endParaRPr lang="en-US" sz="3400" b="1" dirty="0"/>
              </a:p>
              <a:p>
                <a:pPr marL="344488" indent="569913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en-US" sz="3400" i="1" dirty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  <m:t>𝑆𝑢𝑛𝑛𝑦</m:t>
                          </m:r>
                          <m: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en-US" sz="3400" b="0" i="1" dirty="0" smtClean="0">
                              <a:latin typeface="Cambria Math" panose="02040503050406030204" pitchFamily="18" charset="0"/>
                            </a:rPr>
                            <m:t>𝑆𝑡𝑟𝑜𝑛𝑔</m:t>
                          </m:r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34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en-US" sz="3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  <m:t>, −</m:t>
                          </m:r>
                          <m:r>
                            <a:rPr lang="en-US" altLang="en-US" sz="3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en-US" sz="3400" i="1" dirty="0"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ctrlP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sz="3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f>
                            <m:fPr>
                              <m:ctrlP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sz="3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altLang="en-US" sz="3400" i="1" dirty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sz="3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f>
                            <m:fPr>
                              <m:ctrlP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sz="3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altLang="en-US" sz="34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sz="34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altLang="en-US" sz="3400" i="1" dirty="0">
                  <a:latin typeface="Cambria Math" panose="02040503050406030204" pitchFamily="18" charset="0"/>
                </a:endParaRPr>
              </a:p>
              <a:p>
                <a:pPr marL="344488" indent="569913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en-US" sz="3400" i="1" dirty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  <m:t>𝑆𝑢𝑛𝑛𝑦</m:t>
                          </m:r>
                          <m: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en-US" sz="3400" b="0" i="1" dirty="0" smtClean="0">
                              <a:latin typeface="Cambria Math" panose="02040503050406030204" pitchFamily="18" charset="0"/>
                            </a:rPr>
                            <m:t>𝑊𝑒𝑎𝑘</m:t>
                          </m:r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3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en-US" sz="3400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en-US" sz="3400" i="1" dirty="0"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ctrlP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sz="34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f>
                            <m:fPr>
                              <m:ctrlP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sz="34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en-US" altLang="en-US" sz="3400" i="1" dirty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sz="3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f>
                            <m:fPr>
                              <m:ctrlP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sz="3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en-US" altLang="en-US" sz="3400" i="1" dirty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en-US" sz="3400" i="1" dirty="0">
                  <a:latin typeface="Cambria Math" panose="02040503050406030204" pitchFamily="18" charset="0"/>
                </a:endParaRPr>
              </a:p>
              <a:p>
                <a:pPr marL="344488" indent="569913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3400" b="1" i="1">
                          <a:latin typeface="Cambria Math" panose="02040503050406030204" pitchFamily="18" charset="0"/>
                        </a:rPr>
                        <m:t>𝑰𝑮</m:t>
                      </m:r>
                      <m:d>
                        <m:dPr>
                          <m:ctrlPr>
                            <a:rPr lang="en-US" sz="3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400" b="1" i="1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sz="3400" b="1" i="1">
                                  <a:latin typeface="Cambria Math" panose="02040503050406030204" pitchFamily="18" charset="0"/>
                                </a:rPr>
                                <m:t>𝑺𝒖𝒏𝒏𝒚</m:t>
                              </m:r>
                            </m:sub>
                          </m:sSub>
                          <m:r>
                            <a:rPr lang="en-US" sz="3400" b="1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3400" b="1" i="1">
                              <a:latin typeface="Cambria Math" panose="02040503050406030204" pitchFamily="18" charset="0"/>
                            </a:rPr>
                            <m:t>𝑯𝒖𝒎𝒊𝒅𝒊𝒕𝒚</m:t>
                          </m:r>
                        </m:e>
                      </m:d>
                      <m:r>
                        <m:rPr>
                          <m:nor/>
                        </m:rPr>
                        <a:rPr lang="en-US" sz="3400" b="1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en-US" sz="3400" b="1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sz="3400" i="1" dirty="0">
                          <a:latin typeface="Cambria Math" panose="02040503050406030204" pitchFamily="18" charset="0"/>
                        </a:rPr>
                        <m:t>1−</m:t>
                      </m:r>
                      <m:r>
                        <m:rPr>
                          <m:nor/>
                        </m:rPr>
                        <a:rPr lang="en-US" altLang="en-US" sz="3400" dirty="0"/>
                        <m:t> </m:t>
                      </m:r>
                      <m:f>
                        <m:fPr>
                          <m:ctrlP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US" sz="3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d>
                        <m:dPr>
                          <m:ctrlP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3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en-US" sz="3400" i="1" dirty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d>
                        <m:dPr>
                          <m:ctrlP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en-US" sz="34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sz="3400" b="0" i="1" dirty="0" smtClean="0">
                          <a:latin typeface="Cambria Math" panose="02040503050406030204" pitchFamily="18" charset="0"/>
                        </a:rPr>
                        <m:t>0.333</m:t>
                      </m:r>
                    </m:oMath>
                  </m:oMathPara>
                </a14:m>
                <a:endParaRPr lang="en-US" altLang="en-US" dirty="0"/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92FEEB7-976E-5C92-D496-AD1FB7551C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3054" y="281961"/>
                <a:ext cx="7355603" cy="6594626"/>
              </a:xfrm>
              <a:blipFill>
                <a:blip r:embed="rId2"/>
                <a:stretch>
                  <a:fillRect l="-663" t="-1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1D524027-80B9-A9FC-1F38-06FE2EDCB0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2455" y="485775"/>
            <a:ext cx="4848225" cy="222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2441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EAAB97E-5E9C-6CDA-671D-68087F14182F}"/>
                  </a:ext>
                </a:extLst>
              </p:cNvPr>
              <p:cNvSpPr txBox="1"/>
              <p:nvPr/>
            </p:nvSpPr>
            <p:spPr>
              <a:xfrm>
                <a:off x="157316" y="683300"/>
                <a:ext cx="6096000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endParaRPr lang="en-US" alt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𝐼𝐺</m:t>
                      </m:r>
                      <m:d>
                        <m:dPr>
                          <m:ctrlPr>
                            <a:rPr lang="en-US" alt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𝑆𝑢𝑛𝑛𝑦</m:t>
                          </m:r>
                          <m:r>
                            <a:rPr lang="en-US" alt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𝑇𝑒𝑚𝑝𝑒𝑟𝑎𝑡𝑢𝑟𝑒</m:t>
                          </m:r>
                        </m:e>
                      </m:d>
                      <m:r>
                        <a:rPr lang="en-US" altLang="en-US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altLang="en-US" b="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alt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𝐼𝐺</m:t>
                      </m:r>
                      <m:d>
                        <m:dPr>
                          <m:ctrlPr>
                            <a:rPr lang="en-US" altLang="en-US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𝑆𝑢𝑛𝑛𝑦</m:t>
                          </m:r>
                          <m:r>
                            <a:rPr lang="en-US" alt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𝐻𝑢𝑚𝑖𝑑𝑖𝑡𝑦</m:t>
                          </m:r>
                        </m:e>
                      </m:d>
                      <m:r>
                        <a:rPr lang="en-US" altLang="en-US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altLang="en-US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alt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𝐼𝐺</m:t>
                      </m:r>
                      <m:d>
                        <m:dPr>
                          <m:ctrlPr>
                            <a:rPr lang="en-US" alt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b="0" i="1" dirty="0" smtClean="0">
                              <a:latin typeface="Cambria Math" panose="02040503050406030204" pitchFamily="18" charset="0"/>
                            </a:rPr>
                            <m:t>𝑆𝑢𝑛𝑛𝑦</m:t>
                          </m:r>
                          <m:r>
                            <a:rPr lang="en-US" altLang="en-US" b="0" i="1" dirty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en-US" b="0" i="1" dirty="0" smtClean="0">
                              <a:latin typeface="Cambria Math" panose="02040503050406030204" pitchFamily="18" charset="0"/>
                            </a:rPr>
                            <m:t>𝑊𝑖𝑛𝑑</m:t>
                          </m:r>
                        </m:e>
                      </m:d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altLang="en-US" b="0" i="1" dirty="0" smtClean="0">
                          <a:latin typeface="Cambria Math" panose="02040503050406030204" pitchFamily="18" charset="0"/>
                        </a:rPr>
                        <m:t>33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EAAB97E-5E9C-6CDA-671D-68087F1418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316" y="683300"/>
                <a:ext cx="6096000" cy="1754326"/>
              </a:xfrm>
              <a:prstGeom prst="rect">
                <a:avLst/>
              </a:prstGeom>
              <a:blipFill>
                <a:blip r:embed="rId2"/>
                <a:stretch>
                  <a:fillRect b="-17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5A3D8CD4-7B8B-1CE5-3F06-E7C4D09C04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2455" y="485775"/>
            <a:ext cx="4848225" cy="22288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85A8577-E7CE-0E8B-92BF-43F51C3AE0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884" y="2823224"/>
            <a:ext cx="6441358" cy="354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0462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85555BF8-71CC-2E55-74C8-E387095F57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3054" y="281961"/>
                <a:ext cx="7355603" cy="6594626"/>
              </a:xfrm>
            </p:spPr>
            <p:txBody>
              <a:bodyPr>
                <a:normAutofit fontScale="40000" lnSpcReduction="20000"/>
              </a:bodyPr>
              <a:lstStyle/>
              <a:p>
                <a:pPr marL="0" indent="0">
                  <a:buNone/>
                </a:pPr>
                <a:r>
                  <a:rPr lang="en-US" sz="4500" b="1" dirty="0"/>
                  <a:t>Step 3: </a:t>
                </a:r>
                <a:r>
                  <a:rPr lang="en-US" sz="4500" dirty="0"/>
                  <a:t>Repeat for remaining tree branches.</a:t>
                </a:r>
                <a:endParaRPr lang="en-US" sz="4500" b="1" dirty="0"/>
              </a:p>
              <a:p>
                <a:pPr marL="0" indent="0">
                  <a:buNone/>
                </a:pPr>
                <a:endParaRPr lang="en-US" sz="800" b="1" dirty="0"/>
              </a:p>
              <a:p>
                <a:pPr marL="0" indent="0">
                  <a:buNone/>
                </a:pPr>
                <a:r>
                  <a:rPr lang="en-US" sz="3400" b="1" dirty="0"/>
                  <a:t>Entropy of Rainy:</a:t>
                </a:r>
              </a:p>
              <a:p>
                <a:pPr marL="0" indent="0">
                  <a:buNone/>
                </a:pPr>
                <a:r>
                  <a:rPr lang="en-US" altLang="en-US" sz="3400" b="1" dirty="0"/>
                  <a:t> </a:t>
                </a:r>
                <a14:m>
                  <m:oMath xmlns:m="http://schemas.openxmlformats.org/officeDocument/2006/math">
                    <m:r>
                      <a:rPr lang="en-US" altLang="en-US" sz="3400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en-US" sz="3400" i="1" dirty="0">
                        <a:latin typeface="Cambria Math" panose="02040503050406030204" pitchFamily="18" charset="0"/>
                      </a:rPr>
                      <m:t>{+1, −3}=</m:t>
                    </m:r>
                    <m:sSub>
                      <m:sSubPr>
                        <m:ctrlPr>
                          <a:rPr lang="en-US" altLang="en-US" sz="3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3400" i="1" dirty="0">
                            <a:latin typeface="Cambria Math" panose="02040503050406030204" pitchFamily="18" charset="0"/>
                          </a:rPr>
                          <m:t>−(</m:t>
                        </m:r>
                        <m:r>
                          <a:rPr lang="en-US" altLang="en-US" sz="340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en-US" sz="3400" i="1" dirty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sSub>
                      <m:sSubPr>
                        <m:ctrlPr>
                          <a:rPr lang="en-US" altLang="en-US" sz="3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3400" i="1" dirty="0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altLang="en-US" sz="34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en-US" sz="3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34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en-US" sz="340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en-US" sz="3400" i="1" dirty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US" altLang="en-US" sz="3400" i="1" dirty="0">
                        <a:latin typeface="Cambria Math" panose="02040503050406030204" pitchFamily="18" charset="0"/>
                      </a:rPr>
                      <m:t>)−</m:t>
                    </m:r>
                    <m:d>
                      <m:dPr>
                        <m:ctrlPr>
                          <a:rPr lang="en-US" altLang="en-US" sz="3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sz="3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3400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en-US" sz="34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  <m:sSub>
                          <m:sSubPr>
                            <m:ctrlPr>
                              <a:rPr lang="en-US" altLang="en-US" sz="3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3400" i="1" dirty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altLang="en-US" sz="34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altLang="en-US" sz="3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34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en-US" sz="3400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en-US" sz="34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e>
                    </m:d>
                  </m:oMath>
                </a14:m>
                <a:endParaRPr lang="en-US" altLang="en-US" sz="3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3400" dirty="0"/>
                  <a:t>               </a:t>
                </a:r>
                <a14:m>
                  <m:oMath xmlns:m="http://schemas.openxmlformats.org/officeDocument/2006/math">
                    <m:r>
                      <a:rPr lang="en-US" altLang="en-US" sz="3400" dirty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US" altLang="en-US" sz="3400" i="1" dirty="0">
                        <a:latin typeface="Cambria Math" panose="02040503050406030204" pitchFamily="18" charset="0"/>
                      </a:rPr>
                      <m:t>=−(</m:t>
                    </m:r>
                    <m:f>
                      <m:fPr>
                        <m:ctrlPr>
                          <a:rPr lang="en-US" altLang="en-US" sz="3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34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en-US" sz="34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b>
                      <m:sSubPr>
                        <m:ctrlPr>
                          <a:rPr lang="en-US" altLang="en-US" sz="3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3400" i="1" dirty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en-US" sz="3400" i="1" dirty="0" smtClean="0"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lang="en-US" altLang="en-US" sz="3400" i="1" dirty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en-US" sz="34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f>
                      <m:fPr>
                        <m:ctrlPr>
                          <a:rPr lang="en-US" altLang="en-US" sz="3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34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en-US" sz="34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altLang="en-US" sz="3400" i="1" dirty="0">
                        <a:latin typeface="Cambria Math" panose="02040503050406030204" pitchFamily="18" charset="0"/>
                      </a:rPr>
                      <m:t>)−</m:t>
                    </m:r>
                    <m:d>
                      <m:dPr>
                        <m:ctrlPr>
                          <a:rPr lang="en-US" altLang="en-US" sz="3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en-US" sz="34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sz="34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en-US" sz="3400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sSub>
                          <m:sSubPr>
                            <m:ctrlPr>
                              <a:rPr lang="en-US" altLang="en-US" sz="3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3400" i="1" dirty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altLang="en-US" sz="34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f>
                          <m:fPr>
                            <m:ctrlPr>
                              <a:rPr lang="en-US" altLang="en-US" sz="34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sz="34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en-US" sz="3400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endParaRPr lang="en-US" sz="3400" dirty="0"/>
              </a:p>
              <a:p>
                <a:pPr marL="0" indent="0">
                  <a:buNone/>
                </a:pPr>
                <a:r>
                  <a:rPr lang="en-US" sz="3400" dirty="0"/>
                  <a:t>                      </a:t>
                </a:r>
                <a14:m>
                  <m:oMath xmlns:m="http://schemas.openxmlformats.org/officeDocument/2006/math">
                    <m:r>
                      <a:rPr lang="en-US" altLang="en-US" sz="340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3400" i="1" dirty="0">
                        <a:latin typeface="Cambria Math" panose="02040503050406030204" pitchFamily="18" charset="0"/>
                      </a:rPr>
                      <m:t>0.</m:t>
                    </m:r>
                    <m:r>
                      <a:rPr lang="en-US" altLang="en-US" sz="3400" b="0" i="1" dirty="0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altLang="en-US" sz="3400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en-US" sz="3400" b="0" i="1" dirty="0" smtClean="0">
                        <a:latin typeface="Cambria Math" panose="02040503050406030204" pitchFamily="18" charset="0"/>
                      </a:rPr>
                      <m:t>125</m:t>
                    </m:r>
                  </m:oMath>
                </a14:m>
                <a:endParaRPr lang="en-US" sz="3400" dirty="0"/>
              </a:p>
              <a:p>
                <a:pPr marL="0" indent="0">
                  <a:buNone/>
                </a:pPr>
                <a:r>
                  <a:rPr lang="en-US" sz="3400" b="1" dirty="0"/>
                  <a:t>a)    Information Gain of Temperature:</a:t>
                </a:r>
              </a:p>
              <a:p>
                <a:pPr marL="461963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en-US" sz="3400" i="1" dirty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altLang="en-US" sz="3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3400" b="0" i="1" dirty="0" smtClean="0">
                              <a:latin typeface="Cambria Math" panose="02040503050406030204" pitchFamily="18" charset="0"/>
                            </a:rPr>
                            <m:t>𝑅𝑎𝑖𝑛𝑦</m:t>
                          </m:r>
                          <m: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en-US" sz="34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en-US" sz="3400" b="0" i="1" dirty="0" smtClean="0">
                              <a:latin typeface="Cambria Math" panose="02040503050406030204" pitchFamily="18" charset="0"/>
                            </a:rPr>
                            <m:t>𝑀𝑖𝑙𝑑</m:t>
                          </m:r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altLang="en-US" sz="3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3400" b="0" i="1" dirty="0" smtClean="0">
                              <a:latin typeface="Cambria Math" panose="02040503050406030204" pitchFamily="18" charset="0"/>
                            </a:rPr>
                            <m:t>1, −2</m:t>
                          </m:r>
                        </m:e>
                      </m:d>
                      <m:r>
                        <a:rPr lang="en-US" altLang="en-US" sz="3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sz="3400" i="1" dirty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sz="3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en-US" sz="3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f>
                            <m:fPr>
                              <m:ctrlP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sz="3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en-US" sz="3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en-US" altLang="en-US" sz="3400" i="1" dirty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en-US" sz="340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sz="3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altLang="en-US" sz="3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f>
                            <m:fPr>
                              <m:ctrlP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sz="3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altLang="en-US" sz="3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en-US" altLang="en-US" sz="3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sz="3600" i="1" dirty="0">
                          <a:latin typeface="Cambria Math" panose="02040503050406030204" pitchFamily="18" charset="0"/>
                        </a:rPr>
                        <m:t>0.914961</m:t>
                      </m:r>
                    </m:oMath>
                  </m:oMathPara>
                </a14:m>
                <a:endParaRPr lang="en-US" sz="3400" b="1" dirty="0"/>
              </a:p>
              <a:p>
                <a:pPr marL="461963" indent="0">
                  <a:buNone/>
                </a:pPr>
                <a:r>
                  <a:rPr lang="en-US" sz="3400" b="1" dirty="0"/>
                  <a:t> </a:t>
                </a:r>
                <a14:m>
                  <m:oMath xmlns:m="http://schemas.openxmlformats.org/officeDocument/2006/math">
                    <m:r>
                      <a:rPr lang="en-US" altLang="en-US" sz="3400" i="1" dirty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altLang="en-US" sz="3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3400" b="0" i="1" dirty="0" smtClean="0">
                            <a:latin typeface="Cambria Math" panose="02040503050406030204" pitchFamily="18" charset="0"/>
                          </a:rPr>
                          <m:t>𝑅𝑎𝑖𝑛𝑦</m:t>
                        </m:r>
                        <m:r>
                          <a:rPr lang="en-US" altLang="en-US" sz="34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en-US" sz="34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en-US" sz="3400" b="0" i="1" dirty="0" smtClean="0">
                            <a:latin typeface="Cambria Math" panose="02040503050406030204" pitchFamily="18" charset="0"/>
                          </a:rPr>
                          <m:t>𝐶𝑜𝑜𝑙</m:t>
                        </m:r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en-US" altLang="en-US" sz="3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34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en-US" sz="3400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en-US" sz="34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en-US" sz="3400" i="1" dirty="0"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en-US" altLang="en-US" sz="3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en-US" sz="34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sz="3400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num>
                          <m:den>
                            <m:r>
                              <a:rPr lang="en-US" altLang="en-US" sz="34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  <m:sSub>
                          <m:sSubPr>
                            <m:ctrlPr>
                              <a:rPr lang="en-US" altLang="en-US" sz="3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3400" i="1" dirty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altLang="en-US" sz="34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f>
                          <m:fPr>
                            <m:ctrlPr>
                              <a:rPr lang="en-US" altLang="en-US" sz="34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sz="3400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num>
                          <m:den>
                            <m:r>
                              <a:rPr lang="en-US" altLang="en-US" sz="34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a:rPr lang="en-US" altLang="en-US" sz="3400" i="1" dirty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altLang="en-US" sz="3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en-US" sz="34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sz="34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en-US" sz="34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  <m:sSub>
                          <m:sSubPr>
                            <m:ctrlPr>
                              <a:rPr lang="en-US" altLang="en-US" sz="3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3400" i="1" dirty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altLang="en-US" sz="34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f>
                          <m:fPr>
                            <m:ctrlPr>
                              <a:rPr lang="en-US" altLang="en-US" sz="34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sz="34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en-US" sz="34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a:rPr lang="en-US" altLang="en-US" sz="3400" b="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en-US" sz="3400" b="0" dirty="0"/>
              </a:p>
              <a:p>
                <a:pPr marL="461963" indent="0">
                  <a:buNone/>
                </a:pPr>
                <a14:m>
                  <m:oMath xmlns:m="http://schemas.openxmlformats.org/officeDocument/2006/math">
                    <m:r>
                      <a:rPr lang="en-US" sz="3400" b="1" i="1">
                        <a:latin typeface="Cambria Math" panose="02040503050406030204" pitchFamily="18" charset="0"/>
                      </a:rPr>
                      <m:t>𝑰𝑮</m:t>
                    </m:r>
                    <m:d>
                      <m:dPr>
                        <m:ctrlPr>
                          <a:rPr lang="en-US" sz="3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400" b="1" i="1"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US" sz="3400" b="1" i="1" smtClean="0">
                                <a:latin typeface="Cambria Math" panose="02040503050406030204" pitchFamily="18" charset="0"/>
                              </a:rPr>
                              <m:t>𝑹𝒂𝒊𝒏𝒚</m:t>
                            </m:r>
                          </m:sub>
                        </m:sSub>
                        <m:r>
                          <a:rPr lang="en-US" sz="3400" b="1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3400" b="1" i="1" smtClean="0">
                            <a:latin typeface="Cambria Math" panose="02040503050406030204" pitchFamily="18" charset="0"/>
                          </a:rPr>
                          <m:t>𝑻𝒆𝒎𝒑𝒆𝒓𝒂𝒕𝒖𝒓𝒆</m:t>
                        </m:r>
                      </m:e>
                    </m:d>
                  </m:oMath>
                </a14:m>
                <a:r>
                  <a:rPr lang="en-US" sz="3400" b="1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3400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3400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en-US" sz="3400" i="1" dirty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en-US" sz="3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3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3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en-US" sz="34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ctrlPr>
                          <a:rPr lang="en-US" altLang="en-US" sz="3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3200" i="1" dirty="0">
                            <a:latin typeface="Cambria Math" panose="02040503050406030204" pitchFamily="18" charset="0"/>
                          </a:rPr>
                          <m:t>0.914961</m:t>
                        </m:r>
                      </m:e>
                    </m:d>
                    <m:r>
                      <a:rPr lang="en-US" altLang="en-US" sz="3400" i="1" dirty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en-US" sz="3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3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en-US" sz="3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ctrlPr>
                          <a:rPr lang="en-US" altLang="en-US" sz="3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3400" i="1" dirty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en-US" sz="3400" b="0" i="1" dirty="0" smtClean="0">
                        <a:latin typeface="Cambria Math" panose="02040503050406030204" pitchFamily="18" charset="0"/>
                      </a:rPr>
                      <m:t>=0.314</m:t>
                    </m:r>
                  </m:oMath>
                </a14:m>
                <a:endParaRPr lang="en-US" altLang="en-US" sz="3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3400" b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3400" b="1" dirty="0">
                          <a:latin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en-US" sz="3400" b="1" i="0" dirty="0" smtClean="0">
                          <a:latin typeface="Cambria Math" panose="02040503050406030204" pitchFamily="18" charset="0"/>
                        </a:rPr>
                        <m:t>)    </m:t>
                      </m:r>
                      <m:r>
                        <m:rPr>
                          <m:nor/>
                        </m:rPr>
                        <a:rPr lang="en-US" sz="3400" b="1" dirty="0"/>
                        <m:t>Information</m:t>
                      </m:r>
                      <m:r>
                        <m:rPr>
                          <m:nor/>
                        </m:rPr>
                        <a:rPr lang="en-US" sz="3400" b="1" dirty="0"/>
                        <m:t> </m:t>
                      </m:r>
                      <m:r>
                        <m:rPr>
                          <m:nor/>
                        </m:rPr>
                        <a:rPr lang="en-US" sz="3400" b="1" dirty="0"/>
                        <m:t>Gain</m:t>
                      </m:r>
                      <m:r>
                        <m:rPr>
                          <m:nor/>
                        </m:rPr>
                        <a:rPr lang="en-US" sz="3400" b="1" dirty="0"/>
                        <m:t> </m:t>
                      </m:r>
                      <m:r>
                        <m:rPr>
                          <m:nor/>
                        </m:rPr>
                        <a:rPr lang="en-US" sz="3400" b="1" dirty="0"/>
                        <m:t>of</m:t>
                      </m:r>
                      <m:r>
                        <m:rPr>
                          <m:nor/>
                        </m:rPr>
                        <a:rPr lang="en-US" sz="3400" b="1" dirty="0"/>
                        <m:t> </m:t>
                      </m:r>
                      <m:r>
                        <m:rPr>
                          <m:nor/>
                        </m:rPr>
                        <a:rPr lang="en-US" sz="3400" b="1" i="0" dirty="0" smtClean="0"/>
                        <m:t>Humidity</m:t>
                      </m:r>
                      <m:r>
                        <m:rPr>
                          <m:nor/>
                        </m:rPr>
                        <a:rPr lang="en-US" sz="3400" b="1" dirty="0"/>
                        <m:t>:</m:t>
                      </m:r>
                    </m:oMath>
                  </m:oMathPara>
                </a14:m>
                <a:endParaRPr lang="en-US" sz="3400" b="1" dirty="0"/>
              </a:p>
              <a:p>
                <a:pPr marL="461963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en-US" sz="3400" i="1" dirty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3400" b="0" i="1" dirty="0" smtClean="0">
                              <a:latin typeface="Cambria Math" panose="02040503050406030204" pitchFamily="18" charset="0"/>
                            </a:rPr>
                            <m:t>𝑅𝑎𝑖𝑛𝑦</m:t>
                          </m:r>
                          <m: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en-US" sz="3400" b="0" i="1" dirty="0" smtClean="0">
                              <a:latin typeface="Cambria Math" panose="02040503050406030204" pitchFamily="18" charset="0"/>
                            </a:rPr>
                            <m:t>𝐻𝑖𝑔h</m:t>
                          </m:r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3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  <m:t>, −2</m:t>
                          </m:r>
                        </m:e>
                      </m:d>
                      <m:r>
                        <a:rPr lang="en-US" altLang="en-US" sz="34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sz="3400" i="1" dirty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sz="3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en-US" sz="3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f>
                            <m:fPr>
                              <m:ctrlP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sz="3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en-US" sz="3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en-US" altLang="en-US" sz="3400" i="1" dirty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altLang="en-US" sz="3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f>
                            <m:fPr>
                              <m:ctrlP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altLang="en-US" sz="3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en-US" altLang="en-US" sz="34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sz="3200" i="1" dirty="0">
                          <a:latin typeface="Cambria Math" panose="02040503050406030204" pitchFamily="18" charset="0"/>
                        </a:rPr>
                        <m:t>0.914961</m:t>
                      </m:r>
                    </m:oMath>
                  </m:oMathPara>
                </a14:m>
                <a:endParaRPr lang="en-US" altLang="en-US" sz="3400" i="1" dirty="0">
                  <a:latin typeface="Cambria Math" panose="02040503050406030204" pitchFamily="18" charset="0"/>
                </a:endParaRPr>
              </a:p>
              <a:p>
                <a:pPr marL="461963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en-US" sz="3400" i="1" dirty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3400" b="0" i="1" dirty="0" smtClean="0">
                              <a:latin typeface="Cambria Math" panose="02040503050406030204" pitchFamily="18" charset="0"/>
                            </a:rPr>
                            <m:t>𝑅𝑎𝑖𝑛𝑦</m:t>
                          </m:r>
                          <m: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en-US" sz="3400" b="0" i="1" dirty="0" smtClean="0">
                              <a:latin typeface="Cambria Math" panose="02040503050406030204" pitchFamily="18" charset="0"/>
                            </a:rPr>
                            <m:t>𝑁𝑜𝑟𝑚𝑎𝑙</m:t>
                          </m:r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3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en-US" sz="3400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en-US" sz="34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sz="3400" i="1" dirty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f>
                            <m:fPr>
                              <m:ctrlP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en-US" altLang="en-US" sz="3400" i="1" dirty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f>
                            <m:fPr>
                              <m:ctrlP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en-US" altLang="en-US" sz="3400" i="1" dirty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en-US" sz="3400" i="1" dirty="0">
                  <a:latin typeface="Cambria Math" panose="02040503050406030204" pitchFamily="18" charset="0"/>
                </a:endParaRPr>
              </a:p>
              <a:p>
                <a:pPr marL="461963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3400" b="1" i="1">
                          <a:latin typeface="Cambria Math" panose="02040503050406030204" pitchFamily="18" charset="0"/>
                        </a:rPr>
                        <m:t>𝑰𝑮</m:t>
                      </m:r>
                      <m:d>
                        <m:dPr>
                          <m:ctrlPr>
                            <a:rPr lang="en-US" sz="3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400" b="1" i="1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sz="3400" b="1" i="1" smtClean="0">
                                  <a:latin typeface="Cambria Math" panose="02040503050406030204" pitchFamily="18" charset="0"/>
                                </a:rPr>
                                <m:t>𝑹𝒂𝒊𝒏𝒚</m:t>
                              </m:r>
                            </m:sub>
                          </m:sSub>
                          <m:r>
                            <a:rPr lang="en-US" sz="3400" b="1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3400" b="1" i="1" smtClean="0">
                              <a:latin typeface="Cambria Math" panose="02040503050406030204" pitchFamily="18" charset="0"/>
                            </a:rPr>
                            <m:t>𝑯𝒖𝒎𝒊𝒅𝒊𝒕𝒚</m:t>
                          </m:r>
                        </m:e>
                      </m:d>
                      <m:r>
                        <m:rPr>
                          <m:nor/>
                        </m:rPr>
                        <a:rPr lang="en-US" sz="3400" b="1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en-US" sz="3400" b="1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sz="3400" i="1" dirty="0">
                          <a:latin typeface="Cambria Math" panose="02040503050406030204" pitchFamily="18" charset="0"/>
                        </a:rPr>
                        <m:t>1−</m:t>
                      </m:r>
                      <m:r>
                        <m:rPr>
                          <m:nor/>
                        </m:rPr>
                        <a:rPr lang="en-US" altLang="en-US" sz="3400" dirty="0"/>
                        <m:t> </m:t>
                      </m:r>
                      <m:f>
                        <m:fPr>
                          <m:ctrlP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US" sz="3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altLang="en-US" sz="3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d>
                        <m:dPr>
                          <m:ctrlP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3600" i="1" dirty="0">
                              <a:latin typeface="Cambria Math" panose="02040503050406030204" pitchFamily="18" charset="0"/>
                            </a:rPr>
                            <m:t>0.914961</m:t>
                          </m:r>
                        </m:e>
                      </m:d>
                      <m:r>
                        <a:rPr lang="en-US" altLang="en-US" sz="3400" i="1" dirty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US" sz="3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en-US" sz="3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d>
                        <m:dPr>
                          <m:ctrlP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en-US" sz="3400" i="1" dirty="0">
                          <a:latin typeface="Cambria Math" panose="02040503050406030204" pitchFamily="18" charset="0"/>
                        </a:rPr>
                        <m:t>=0.314</m:t>
                      </m:r>
                    </m:oMath>
                  </m:oMathPara>
                </a14:m>
                <a:endParaRPr lang="en-US" sz="3400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3400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3400" b="1" dirty="0"/>
                  <a:t>c)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3400" b="1" dirty="0"/>
                      <m:t>Information</m:t>
                    </m:r>
                    <m:r>
                      <m:rPr>
                        <m:nor/>
                      </m:rPr>
                      <a:rPr lang="en-US" sz="3400" b="1" dirty="0"/>
                      <m:t> </m:t>
                    </m:r>
                    <m:r>
                      <m:rPr>
                        <m:nor/>
                      </m:rPr>
                      <a:rPr lang="en-US" sz="3400" b="1" dirty="0"/>
                      <m:t>Gain</m:t>
                    </m:r>
                    <m:r>
                      <m:rPr>
                        <m:nor/>
                      </m:rPr>
                      <a:rPr lang="en-US" sz="3400" b="1" dirty="0"/>
                      <m:t> </m:t>
                    </m:r>
                    <m:r>
                      <m:rPr>
                        <m:nor/>
                      </m:rPr>
                      <a:rPr lang="en-US" sz="3400" b="1" dirty="0"/>
                      <m:t>of</m:t>
                    </m:r>
                    <m:r>
                      <m:rPr>
                        <m:nor/>
                      </m:rPr>
                      <a:rPr lang="en-US" sz="3400" b="1" dirty="0"/>
                      <m:t> </m:t>
                    </m:r>
                    <m:r>
                      <m:rPr>
                        <m:nor/>
                      </m:rPr>
                      <a:rPr lang="en-US" sz="3400" b="1" i="0" dirty="0" smtClean="0"/>
                      <m:t>Wind</m:t>
                    </m:r>
                    <m:r>
                      <m:rPr>
                        <m:nor/>
                      </m:rPr>
                      <a:rPr lang="en-US" sz="3400" b="1" dirty="0"/>
                      <m:t>:</m:t>
                    </m:r>
                  </m:oMath>
                </a14:m>
                <a:endParaRPr lang="en-US" sz="3400" b="1" dirty="0"/>
              </a:p>
              <a:p>
                <a:pPr marL="461963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en-US" sz="3400" i="1" dirty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3400" b="0" i="1" dirty="0" smtClean="0">
                              <a:latin typeface="Cambria Math" panose="02040503050406030204" pitchFamily="18" charset="0"/>
                            </a:rPr>
                            <m:t>𝑅𝑎𝑖𝑛𝑦</m:t>
                          </m:r>
                          <m: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en-US" sz="3400" b="0" i="1" dirty="0" smtClean="0">
                              <a:latin typeface="Cambria Math" panose="02040503050406030204" pitchFamily="18" charset="0"/>
                            </a:rPr>
                            <m:t>𝑆𝑡𝑟𝑜𝑛𝑔</m:t>
                          </m:r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3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  <m:t>, −</m:t>
                          </m:r>
                          <m:r>
                            <a:rPr lang="en-US" altLang="en-US" sz="3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altLang="en-US" sz="3400" i="1" dirty="0"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ctrlP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sz="34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lang="en-US" altLang="en-US" sz="3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f>
                            <m:fPr>
                              <m:ctrlP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sz="34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lang="en-US" altLang="en-US" sz="3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en-US" altLang="en-US" sz="3400" i="1" dirty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sz="3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altLang="en-US" sz="3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f>
                            <m:fPr>
                              <m:ctrlP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sz="3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altLang="en-US" sz="3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en-US" altLang="en-US" sz="34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sz="3400" b="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en-US" sz="3400" i="1" dirty="0">
                  <a:latin typeface="Cambria Math" panose="02040503050406030204" pitchFamily="18" charset="0"/>
                </a:endParaRPr>
              </a:p>
              <a:p>
                <a:pPr marL="461963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en-US" sz="3400" i="1" dirty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3400" b="0" i="1" dirty="0" smtClean="0">
                              <a:latin typeface="Cambria Math" panose="02040503050406030204" pitchFamily="18" charset="0"/>
                            </a:rPr>
                            <m:t>𝑅𝑎𝑖𝑛𝑦</m:t>
                          </m:r>
                          <m: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en-US" sz="3400" b="0" i="1" dirty="0" smtClean="0">
                              <a:latin typeface="Cambria Math" panose="02040503050406030204" pitchFamily="18" charset="0"/>
                            </a:rPr>
                            <m:t>𝑊𝑒𝑎𝑘</m:t>
                          </m:r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3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en-US" sz="3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en-US" sz="34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sz="3400" i="1" dirty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f>
                            <m:fPr>
                              <m:ctrlP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en-US" altLang="en-US" sz="3400" i="1" dirty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sz="34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f>
                            <m:fPr>
                              <m:ctrlP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sz="34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lang="en-US" altLang="en-US" sz="3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en-US" altLang="en-US" sz="3400" i="1" dirty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en-US" sz="3400" i="1" dirty="0">
                  <a:latin typeface="Cambria Math" panose="02040503050406030204" pitchFamily="18" charset="0"/>
                </a:endParaRPr>
              </a:p>
              <a:p>
                <a:pPr marL="461963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3400" b="1" i="1">
                          <a:latin typeface="Cambria Math" panose="02040503050406030204" pitchFamily="18" charset="0"/>
                        </a:rPr>
                        <m:t>𝑰𝑮</m:t>
                      </m:r>
                      <m:d>
                        <m:dPr>
                          <m:ctrlPr>
                            <a:rPr lang="en-US" sz="3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400" b="1" i="1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sz="3400" b="1" i="1" smtClean="0">
                                  <a:latin typeface="Cambria Math" panose="02040503050406030204" pitchFamily="18" charset="0"/>
                                </a:rPr>
                                <m:t>𝑹𝒂𝒊𝒏𝒚</m:t>
                              </m:r>
                            </m:sub>
                          </m:sSub>
                          <m:r>
                            <a:rPr lang="en-US" sz="3400" b="1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3400" b="1" i="1">
                              <a:latin typeface="Cambria Math" panose="02040503050406030204" pitchFamily="18" charset="0"/>
                            </a:rPr>
                            <m:t>𝑯𝒖𝒎𝒊𝒅𝒊𝒕𝒚</m:t>
                          </m:r>
                        </m:e>
                      </m:d>
                      <m:r>
                        <m:rPr>
                          <m:nor/>
                        </m:rPr>
                        <a:rPr lang="en-US" sz="3400" b="1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en-US" sz="3400" b="1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sz="3400" i="1" dirty="0">
                          <a:latin typeface="Cambria Math" panose="02040503050406030204" pitchFamily="18" charset="0"/>
                        </a:rPr>
                        <m:t>1−</m:t>
                      </m:r>
                      <m:r>
                        <m:rPr>
                          <m:nor/>
                        </m:rPr>
                        <a:rPr lang="en-US" altLang="en-US" sz="3400" dirty="0"/>
                        <m:t> </m:t>
                      </m:r>
                      <m:f>
                        <m:fPr>
                          <m:ctrlP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US" sz="3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altLang="en-US" sz="3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d>
                        <m:dPr>
                          <m:ctrlP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3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en-US" sz="3400" i="1" dirty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en-US" sz="3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d>
                        <m:dPr>
                          <m:ctrlP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34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en-US" sz="34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sz="34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3400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85555BF8-71CC-2E55-74C8-E387095F57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3054" y="281961"/>
                <a:ext cx="7355603" cy="6594626"/>
              </a:xfrm>
              <a:blipFill>
                <a:blip r:embed="rId2"/>
                <a:stretch>
                  <a:fillRect l="-663" t="-1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621F601D-BFD5-94CB-CDE9-7EA300A5BF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3682" y="502699"/>
            <a:ext cx="4733925" cy="307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2700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4E56FB6-E5DA-4C00-1978-FECFC355C275}"/>
                  </a:ext>
                </a:extLst>
              </p:cNvPr>
              <p:cNvSpPr txBox="1"/>
              <p:nvPr/>
            </p:nvSpPr>
            <p:spPr>
              <a:xfrm>
                <a:off x="157316" y="683300"/>
                <a:ext cx="6096000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endParaRPr lang="en-US" altLang="en-US" b="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𝐼𝐺</m:t>
                      </m:r>
                      <m:d>
                        <m:dPr>
                          <m:ctrlPr>
                            <a:rPr lang="en-US" alt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𝑅𝑎𝑖𝑛𝑦</m:t>
                          </m:r>
                          <m:r>
                            <a:rPr lang="en-US" alt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𝑇𝑒𝑚𝑝𝑒𝑟𝑎𝑡𝑢𝑟𝑒</m:t>
                          </m:r>
                        </m:e>
                      </m:d>
                      <m:r>
                        <a:rPr lang="en-US" altLang="en-US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0.314</m:t>
                      </m:r>
                    </m:oMath>
                  </m:oMathPara>
                </a14:m>
                <a:endParaRPr lang="en-US" altLang="en-US" b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altLang="en-US" dirty="0">
                  <a:solidFill>
                    <a:schemeClr val="tx1"/>
                  </a:solidFill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𝐼𝐺</m:t>
                      </m:r>
                      <m:d>
                        <m:dPr>
                          <m:ctrlPr>
                            <a:rPr lang="en-US" alt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𝑅𝑎𝑖𝑛𝑦</m:t>
                          </m:r>
                          <m:r>
                            <a:rPr lang="en-US" alt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𝐻𝑢𝑚𝑖𝑑𝑖𝑡𝑦</m:t>
                          </m:r>
                        </m:e>
                      </m:d>
                      <m:r>
                        <a:rPr lang="en-US" altLang="en-US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0.314</m:t>
                      </m:r>
                    </m:oMath>
                  </m:oMathPara>
                </a14:m>
                <a:endParaRPr lang="en-US" alt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alt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𝐼𝐺</m:t>
                      </m:r>
                      <m:d>
                        <m:dPr>
                          <m:ctrlPr>
                            <a:rPr lang="en-US" altLang="en-US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𝑅𝑎𝑖𝑛𝑦</m:t>
                          </m:r>
                          <m:r>
                            <a:rPr lang="en-US" alt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𝑊𝑖𝑛𝑑</m:t>
                          </m:r>
                        </m:e>
                      </m:d>
                      <m:r>
                        <a:rPr lang="en-US" altLang="en-US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4E56FB6-E5DA-4C00-1978-FECFC355C2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316" y="683300"/>
                <a:ext cx="6096000" cy="1754326"/>
              </a:xfrm>
              <a:prstGeom prst="rect">
                <a:avLst/>
              </a:prstGeom>
              <a:blipFill>
                <a:blip r:embed="rId2"/>
                <a:stretch>
                  <a:fillRect b="-2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D1543E9D-50E0-8032-B9E5-319AF6061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3682" y="502699"/>
            <a:ext cx="4733925" cy="30765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BE69C65-7302-5A77-941F-0238DCC247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315" y="2724067"/>
            <a:ext cx="6816367" cy="346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4891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91EFF-7012-001B-419F-CA16521E0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Tree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34919-529A-28F6-3869-BB4F4DC0A0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B3994E-7153-78F6-B32E-4006DF503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075" y="1591469"/>
            <a:ext cx="9467850" cy="481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4224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6D2E5-9147-57EA-45CF-C9CF12CE3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B9764-FB30-DCCE-9B74-78B18BBE6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/>
              <a:t>Decision trees is one of the most widely used learning methods in practice </a:t>
            </a:r>
          </a:p>
          <a:p>
            <a:r>
              <a:rPr lang="en-US" altLang="en-US" dirty="0"/>
              <a:t>Can out-perform human experts in many problems </a:t>
            </a:r>
          </a:p>
          <a:p>
            <a:r>
              <a:rPr lang="en-US" altLang="en-US" dirty="0"/>
              <a:t>Strengths include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Fast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Simple to implement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Can convert result to a set of easily interpretable rules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Empirically valid in many commercial products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Handles noisy data </a:t>
            </a:r>
          </a:p>
          <a:p>
            <a:r>
              <a:rPr lang="en-US" altLang="en-US" dirty="0"/>
              <a:t>Weaknesses include:</a:t>
            </a:r>
          </a:p>
          <a:p>
            <a:pPr lvl="1"/>
            <a:r>
              <a:rPr lang="en-US" altLang="en-US" dirty="0"/>
              <a:t>Univariate splits/partitioning using only one attribute at a time so limits types of possible trees</a:t>
            </a:r>
          </a:p>
          <a:p>
            <a:pPr lvl="1"/>
            <a:r>
              <a:rPr lang="en-US" altLang="en-US" dirty="0"/>
              <a:t>Large decision trees may be hard to understand</a:t>
            </a:r>
          </a:p>
          <a:p>
            <a:pPr lvl="1"/>
            <a:r>
              <a:rPr lang="en-US" altLang="en-US" dirty="0"/>
              <a:t>Non-incremental (i.e., batch method)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91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2428</TotalTime>
  <Words>1690</Words>
  <Application>Microsoft Office PowerPoint</Application>
  <PresentationFormat>Widescreen</PresentationFormat>
  <Paragraphs>245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Calibri</vt:lpstr>
      <vt:lpstr>Calibri Light</vt:lpstr>
      <vt:lpstr>Cambria Math</vt:lpstr>
      <vt:lpstr>Times</vt:lpstr>
      <vt:lpstr>Times New Roman</vt:lpstr>
      <vt:lpstr>Office Theme</vt:lpstr>
      <vt:lpstr>Machine Learning</vt:lpstr>
      <vt:lpstr>Decision Tree </vt:lpstr>
      <vt:lpstr>PowerPoint Presentation</vt:lpstr>
      <vt:lpstr>Example</vt:lpstr>
      <vt:lpstr>PowerPoint Presentation</vt:lpstr>
      <vt:lpstr>How well does it work?</vt:lpstr>
      <vt:lpstr>Constructing Decision Tree: ID3</vt:lpstr>
      <vt:lpstr>Choosing the best “attribute/feature”</vt:lpstr>
      <vt:lpstr>PowerPoint Presentation</vt:lpstr>
      <vt:lpstr>PowerPoint Presentation</vt:lpstr>
      <vt:lpstr>Entropy </vt:lpstr>
      <vt:lpstr>PowerPoint Presentation</vt:lpstr>
      <vt:lpstr>Exercise</vt:lpstr>
      <vt:lpstr>Information Gain </vt:lpstr>
      <vt:lpstr>PowerPoint Presentation</vt:lpstr>
      <vt:lpstr>Examples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Final Tree </vt:lpstr>
      <vt:lpstr>Summary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Dr.Mahdiha Khalid</dc:creator>
  <cp:lastModifiedBy>Dr.Mahdiha Khalid</cp:lastModifiedBy>
  <cp:revision>264</cp:revision>
  <dcterms:created xsi:type="dcterms:W3CDTF">2026-02-17T10:11:18Z</dcterms:created>
  <dcterms:modified xsi:type="dcterms:W3CDTF">2026-04-23T09:27:50Z</dcterms:modified>
</cp:coreProperties>
</file>