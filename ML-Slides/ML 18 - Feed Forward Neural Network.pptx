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19"/>
  </p:notesMasterIdLst>
  <p:sldIdLst>
    <p:sldId id="460" r:id="rId5"/>
    <p:sldId id="469" r:id="rId6"/>
    <p:sldId id="470" r:id="rId7"/>
    <p:sldId id="477" r:id="rId8"/>
    <p:sldId id="525" r:id="rId9"/>
    <p:sldId id="478" r:id="rId10"/>
    <p:sldId id="526" r:id="rId11"/>
    <p:sldId id="527" r:id="rId12"/>
    <p:sldId id="528" r:id="rId13"/>
    <p:sldId id="529" r:id="rId14"/>
    <p:sldId id="530" r:id="rId15"/>
    <p:sldId id="531" r:id="rId16"/>
    <p:sldId id="532" r:id="rId17"/>
    <p:sldId id="533" r:id="rId18"/>
  </p:sldIdLst>
  <p:sldSz cx="9144000" cy="5143500" type="screen16x9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221562-B334-4CE9-89E7-BCC816C0A7D6}">
          <p14:sldIdLst>
            <p14:sldId id="460"/>
            <p14:sldId id="469"/>
            <p14:sldId id="470"/>
            <p14:sldId id="477"/>
            <p14:sldId id="525"/>
            <p14:sldId id="478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13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EF4"/>
    <a:srgbClr val="00FF00"/>
    <a:srgbClr val="00FFCC"/>
    <a:srgbClr val="FF0000"/>
    <a:srgbClr val="99FF66"/>
    <a:srgbClr val="993366"/>
    <a:srgbClr val="00CC00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90" autoAdjust="0"/>
    <p:restoredTop sz="58970" autoAdjust="0"/>
  </p:normalViewPr>
  <p:slideViewPr>
    <p:cSldViewPr>
      <p:cViewPr varScale="1">
        <p:scale>
          <a:sx n="110" d="100"/>
          <a:sy n="110" d="100"/>
        </p:scale>
        <p:origin x="350" y="62"/>
      </p:cViewPr>
      <p:guideLst>
        <p:guide orient="horz" pos="1620"/>
        <p:guide pos="13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5/17/2026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8448353" y="4932892"/>
            <a:ext cx="766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prstClr val="black"/>
                </a:solidFill>
              </a:rPr>
              <a:t>Andrew Ng</a:t>
            </a: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Artificial Neural Networks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224865" y="2187111"/>
            <a:ext cx="4256087" cy="1676400"/>
          </a:xfrm>
        </p:spPr>
        <p:txBody>
          <a:bodyPr>
            <a:noAutofit/>
          </a:bodyPr>
          <a:lstStyle/>
          <a:p>
            <a:pPr algn="l"/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Activation Function 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554250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Activation Function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916725"/>
            <a:ext cx="838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A mathematical function that is applied to the weighted sum of inputs before producing the final output of a neuron.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It introduces non-linearity, allowing the network to learn complex patterns.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Without activation function, a neural network would behave like a regression model.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0350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26F8A1-E74B-4280-49C3-7581F5EDB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895350"/>
            <a:ext cx="4965056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632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Importance of Non-Linearity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672EB2F-B30E-1027-78D3-14FB6FE28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47750"/>
            <a:ext cx="8229600" cy="3546873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Real-world data is rarely linearly separable.</a:t>
            </a:r>
          </a:p>
          <a:p>
            <a:r>
              <a:rPr lang="en-GB" dirty="0"/>
              <a:t>Non-linear functions allow neural networks to form curved decision boundaries, making them capable of handling complex patterns (e.g., classifying apples vs. bananas under varying </a:t>
            </a:r>
            <a:r>
              <a:rPr lang="en-GB" dirty="0" err="1"/>
              <a:t>colors</a:t>
            </a:r>
            <a:r>
              <a:rPr lang="en-GB" dirty="0"/>
              <a:t> and shapes).</a:t>
            </a:r>
          </a:p>
          <a:p>
            <a:r>
              <a:rPr lang="en-GB" dirty="0"/>
              <a:t>They ensure networks can model advanced problems like image recognition, NLP and speech processing.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131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C579-77EC-1EE2-2BCD-987623B5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2DF8C-6DA0-2826-ABAE-C2CEAE14C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D6876-39DC-4823-9734-FB4294F09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33387"/>
            <a:ext cx="731520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998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Types of Activation Functions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FC6D2-D152-5616-803B-25A55E405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6992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1. Sigmoid Function</a:t>
            </a:r>
          </a:p>
          <a:p>
            <a:pPr marL="0" indent="0">
              <a:buNone/>
            </a:pPr>
            <a:r>
              <a:rPr lang="en-US" dirty="0"/>
              <a:t>2. Tanh Activation Function </a:t>
            </a:r>
          </a:p>
          <a:p>
            <a:pPr marL="0" indent="0">
              <a:buNone/>
            </a:pPr>
            <a:r>
              <a:rPr lang="en-GB" dirty="0"/>
              <a:t>3. </a:t>
            </a:r>
            <a:r>
              <a:rPr lang="en-GB" dirty="0" err="1"/>
              <a:t>ReLU</a:t>
            </a:r>
            <a:r>
              <a:rPr lang="en-GB" dirty="0"/>
              <a:t>(Rectified Linear Unit)Function </a:t>
            </a:r>
          </a:p>
          <a:p>
            <a:pPr marL="0" indent="0">
              <a:buNone/>
            </a:pPr>
            <a:r>
              <a:rPr lang="en-GB" dirty="0"/>
              <a:t>4. Leaky </a:t>
            </a:r>
            <a:r>
              <a:rPr lang="en-GB" dirty="0" err="1"/>
              <a:t>ReLU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5. </a:t>
            </a:r>
            <a:r>
              <a:rPr lang="en-GB" dirty="0" err="1"/>
              <a:t>Softmax</a:t>
            </a:r>
            <a:r>
              <a:rPr lang="en-GB" dirty="0"/>
              <a:t> </a:t>
            </a:r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74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BEBB7-4468-332E-2556-3EB105389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Sigmoid Activation Function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A98DF-BBC0-AFE6-82D2-777AF543F7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1 −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Output Range: (0, 1)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Advantage: Used in binary </a:t>
                </a: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    classification. 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Disadvantage: Suffers from gradient vanishing problem.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A98DF-BBC0-AFE6-82D2-777AF543F7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1481" b="-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020C07C-8867-73E7-FBF2-F52F9E54A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200150"/>
            <a:ext cx="3783186" cy="265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97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EE2458-C7B8-9DF4-E405-0DDBB3345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algn="l"/>
            <a:r>
              <a:rPr lang="en-US" dirty="0"/>
              <a:t>Tanh Activation Function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0F3760A-2C60-C5C5-3723-8D2BC7BF96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Hyperbolic Tangent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1 −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Output Range: (-1, 1)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Advantage: Zero-centered.  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Disadvantage: Suffers from gradient vanishing problem.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0F3760A-2C60-C5C5-3723-8D2BC7BF96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1481" t="-4568" b="-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AD1BA32-25BD-66D3-86AD-C5E49B259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912" y="1085850"/>
            <a:ext cx="3722688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457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5AD6EAB-EDE3-DBD0-2F35-EED92CA1B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algn="l"/>
            <a:r>
              <a:rPr lang="en-US" dirty="0" err="1"/>
              <a:t>ReLU</a:t>
            </a:r>
            <a:r>
              <a:rPr lang="en-US" dirty="0"/>
              <a:t> Activation Function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6D0067B-9883-7171-97EC-F155FA55D8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Rectified Linear Unit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&gt;=0 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</m:sup>
                    </m:sSup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 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Output Range: (0, ∞)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Advantage: Does not suffer from vanishing gradients for positive inputs only.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6D0067B-9883-7171-97EC-F155FA55D8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1037" t="-3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BA57562-39D5-2083-0A53-79524CE77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200151"/>
            <a:ext cx="3505200" cy="24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499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9537674-4C7E-2927-686A-76D219019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pPr algn="l"/>
            <a:r>
              <a:rPr lang="en-US" dirty="0"/>
              <a:t>Leaky </a:t>
            </a:r>
            <a:r>
              <a:rPr lang="en-US" dirty="0" err="1"/>
              <a:t>ReLU</a:t>
            </a:r>
            <a:r>
              <a:rPr lang="en-US" dirty="0"/>
              <a:t> Activation Function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31E86A5-FE9D-0D0E-8AE9-CC76423898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Rectified Linear Unit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z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&lt;=0 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&gt;0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</m:sup>
                    </m:sSup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 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Output Range: (-∞, +∞)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Advantage: Does not suffer from vanishing gradients for positive inputs only.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31E86A5-FE9D-0D0E-8AE9-CC76423898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737370"/>
              </a:xfrm>
              <a:blipFill>
                <a:blip r:embed="rId2"/>
                <a:stretch>
                  <a:fillRect l="-1037" t="-3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CFDE2C2-E053-544E-E888-7AA617DBF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200151"/>
            <a:ext cx="3505200" cy="24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60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33ED6-5F82-5DA1-3FF6-B170E67D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Softmax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97D555-FDD6-F1CD-96C6-35DF60DAB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40915"/>
            <a:ext cx="8229600" cy="13308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A5CC4C-5E1A-1467-AB8A-42E0D5CC6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756" y="2647950"/>
            <a:ext cx="4662487" cy="110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63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D103-A72A-02B2-ADDE-928623634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Softmax</a:t>
            </a:r>
            <a:r>
              <a:rPr lang="en-US" dirty="0"/>
              <a:t>: Example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E8D82A-221A-1985-E572-E366AB74DE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909" y="1462000"/>
            <a:ext cx="5534891" cy="509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E43982-4D1C-E2A8-DFFD-6524380DE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73" y="1966472"/>
            <a:ext cx="8312727" cy="430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6C6DCC-7BC9-CB2B-2E26-347B01928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18" y="2571750"/>
            <a:ext cx="3313834" cy="2694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D8FFE6-3821-9ECD-B2DF-3802942A9B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09" y="2959777"/>
            <a:ext cx="8610600" cy="29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80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DD2D4-55BC-ECFA-207A-377E0BDC7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0D8D3E3-EA49-1C30-A528-6E0546D8B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Assume that the neurons have sigmoid activation function, perform a forward pass. Actual output y = 1.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0DDBA9-E556-C8A6-BCE2-9E0C2B19F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187" y="2045495"/>
            <a:ext cx="766762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46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A940-7EE7-2E3C-0A9A-87045EC21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E82B5-9149-3AA3-3A93-A3E125F66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Now, assume </a:t>
            </a:r>
            <a:r>
              <a:rPr lang="en-US" dirty="0" err="1"/>
              <a:t>ReLU</a:t>
            </a:r>
            <a:r>
              <a:rPr lang="en-US" dirty="0"/>
              <a:t> activation function on all neurons. </a:t>
            </a:r>
          </a:p>
        </p:txBody>
      </p:sp>
    </p:spTree>
    <p:extLst>
      <p:ext uri="{BB962C8B-B14F-4D97-AF65-F5344CB8AC3E}">
        <p14:creationId xmlns:p14="http://schemas.microsoft.com/office/powerpoint/2010/main" val="2891945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00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00FF00"/>
      </a:accent2>
      <a:accent3>
        <a:srgbClr val="00FFFF"/>
      </a:accent3>
      <a:accent4>
        <a:srgbClr val="FF00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48</TotalTime>
  <Words>332</Words>
  <Application>Microsoft Office PowerPoint</Application>
  <PresentationFormat>On-screen Show (16:9)</PresentationFormat>
  <Paragraphs>50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 Math</vt:lpstr>
      <vt:lpstr>1_Lecture</vt:lpstr>
      <vt:lpstr>2_Office Theme</vt:lpstr>
      <vt:lpstr>3_Office Theme</vt:lpstr>
      <vt:lpstr>2_Lecture</vt:lpstr>
      <vt:lpstr>Activation Function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Sigmoid Activation Function </vt:lpstr>
      <vt:lpstr>Tanh Activation Function </vt:lpstr>
      <vt:lpstr>ReLU Activation Function </vt:lpstr>
      <vt:lpstr>Leaky ReLU Activation Function </vt:lpstr>
      <vt:lpstr>Softmax</vt:lpstr>
      <vt:lpstr>Softmax: Example </vt:lpstr>
      <vt:lpstr>Example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Dr.Mahdiha Khalid</cp:lastModifiedBy>
  <cp:revision>396</cp:revision>
  <dcterms:created xsi:type="dcterms:W3CDTF">2010-07-08T21:59:02Z</dcterms:created>
  <dcterms:modified xsi:type="dcterms:W3CDTF">2026-05-16T21:13:22Z</dcterms:modified>
</cp:coreProperties>
</file>