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685" r:id="rId3"/>
    <p:sldId id="879" r:id="rId4"/>
    <p:sldId id="677" r:id="rId5"/>
    <p:sldId id="832" r:id="rId6"/>
    <p:sldId id="878" r:id="rId7"/>
    <p:sldId id="880" r:id="rId8"/>
    <p:sldId id="88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7T06:38:53.119"/>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DB5F2-4CC0-43A0-A2FE-A90F536E1B32}"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461B3-CF0D-4DDA-A8D9-1209A72FF09F}" type="slidenum">
              <a:rPr lang="en-US" smtClean="0"/>
              <a:t>‹#›</a:t>
            </a:fld>
            <a:endParaRPr lang="en-US"/>
          </a:p>
        </p:txBody>
      </p:sp>
    </p:spTree>
    <p:extLst>
      <p:ext uri="{BB962C8B-B14F-4D97-AF65-F5344CB8AC3E}">
        <p14:creationId xmlns:p14="http://schemas.microsoft.com/office/powerpoint/2010/main" val="3796958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15286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D70C-DE1D-BBAB-9361-ADEA33E2C7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66D9A-8CBB-FA6A-78ED-42085BACF2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EFB215-3082-058F-BEE3-E5711A0F8985}"/>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3A332942-0DAF-B478-5306-8EF3F8651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5A99C-B3FC-62C7-E645-6B2CE9EE3556}"/>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661387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7DED7-3485-65DC-CA25-3C3162388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33FBB-D99D-7BE7-3B6E-05867CD455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B6F8F-B9B2-EFCE-29B2-213E4204224C}"/>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57B5FD73-26F5-823A-04DF-7872E066D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586F6-497C-603F-160F-6C0420AB5F40}"/>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844062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C48D-87B4-AEF5-C6F0-D0D6BB6D1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90952F-1ECD-CCEF-FC90-8CD159CF45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7E934A-6126-77E0-D600-E6372940B623}"/>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054BEE73-4219-159F-8F58-819D6195F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2C883-2069-169C-D55A-C10F920BB847}"/>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685375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031D1-CF01-8231-C80D-F89A1AFFC9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92C2C-DC35-AAF3-DA8D-F09BA7E96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05A6F5-82B4-1C22-1AE9-237C7D2377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8A6576-AECE-73AE-2C87-ADADD69503CE}"/>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126F6015-7D5B-B10E-6E77-7D49ADA1A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30CF3-39E6-C462-FFB3-0D7EF46714CA}"/>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0042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88CC-EA4E-28D6-5FB3-57DC76E18F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5B39EA-F84C-068F-D748-7F49093B32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8C6A66-5E05-F672-3724-CB7727D932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8BB2BC-4600-8BA9-AFCC-B5087BA44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9C9557-4595-3FC5-3F66-76FAB4C306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8BAE91-F961-7F27-B9A8-C9FDAC7636F0}"/>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8" name="Footer Placeholder 7">
            <a:extLst>
              <a:ext uri="{FF2B5EF4-FFF2-40B4-BE49-F238E27FC236}">
                <a16:creationId xmlns:a16="http://schemas.microsoft.com/office/drawing/2014/main" id="{DE2BA114-4E71-5941-39F8-E70CD2D198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B64F39-9C59-CFF4-D732-FA89796AF591}"/>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553107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2163-CF26-680A-4798-5D7BAC68FB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5EC3A6-8FAA-C613-0E3B-3C11AD886740}"/>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4" name="Footer Placeholder 3">
            <a:extLst>
              <a:ext uri="{FF2B5EF4-FFF2-40B4-BE49-F238E27FC236}">
                <a16:creationId xmlns:a16="http://schemas.microsoft.com/office/drawing/2014/main" id="{D2FE8510-2BE0-94EC-32FF-E2E70C699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2D2DC9-DCF9-6C20-82C2-4A3317338542}"/>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555895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8C64F-9258-546D-F012-52C1CC9A4608}"/>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3" name="Footer Placeholder 2">
            <a:extLst>
              <a:ext uri="{FF2B5EF4-FFF2-40B4-BE49-F238E27FC236}">
                <a16:creationId xmlns:a16="http://schemas.microsoft.com/office/drawing/2014/main" id="{63644758-693C-0EA4-5B5F-2FE865E3A9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68911-32B3-0A7F-6EF3-1D811CB123A8}"/>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61569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EC985-FA94-CB44-F143-E8D4C88EC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9B7E56-FF49-9942-0608-73E0C05D5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DC53DB-443C-0446-CD80-3248D970F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A8F9E-AED1-2CD2-4E5A-70C31B5C8344}"/>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1FF20489-AF86-B721-B798-83D74C0AE1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EDABA-90A6-6550-3A60-72D1B509DB4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247130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7E4B0-598D-CBBA-632D-5AB7BA625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602C20-C7F2-80FB-2FFB-D7412BD11D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E63B59-D802-924C-79D5-0D25EA295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89C810-C6B9-4F78-97F1-0502AFF6002B}"/>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A52D8317-D489-62E4-6449-06004FB23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C758B-33F5-BCB6-0064-522FBA1CA73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525361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F58C-CC75-BED8-15B2-D0CEE26440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49A298-D4BE-2106-7DE7-0DDE0933C7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29D38-471A-608B-CA36-8A563CE74213}"/>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F4C35565-3CBD-2F72-F8F4-0B2F60D87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AFB3B-7E5B-3128-D06E-2E0AA416776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55309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1F26EB-C4D9-3D58-B086-6964A9CB5F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928E8B-3E52-7152-9041-7B590CB98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A70856-A738-15B9-1645-B17595720A9A}"/>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568FC79F-3F61-B1D0-5739-F19B5E7F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CF06A-5077-53D5-70EE-203DC37AF25E}"/>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23588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519BB15-74D3-4169-92C6-91CB49774964}"/>
              </a:ext>
            </a:extLst>
          </p:cNvPr>
          <p:cNvSpPr>
            <a:spLocks noGrp="1"/>
          </p:cNvSpPr>
          <p:nvPr>
            <p:ph type="dt" sz="half" idx="10"/>
          </p:nvPr>
        </p:nvSpPr>
        <p:spPr>
          <a:xfrm>
            <a:off x="1193483" y="6369413"/>
            <a:ext cx="2743200" cy="365125"/>
          </a:xfrm>
          <a:prstGeom prst="rect">
            <a:avLst/>
          </a:prstGeom>
        </p:spPr>
        <p:txBody>
          <a:bodyPr/>
          <a:lstStyle>
            <a:lvl1pPr>
              <a:defRPr>
                <a:solidFill>
                  <a:schemeClr val="tx1"/>
                </a:solidFill>
              </a:defRPr>
            </a:lvl1pPr>
          </a:lstStyle>
          <a:p>
            <a:fld id="{69105CA3-1FD5-40C3-BDA4-52DBB315E262}" type="datetime1">
              <a:rPr lang="en-US" smtClean="0"/>
              <a:t>3/19/2026</a:t>
            </a:fld>
            <a:endParaRPr lang="en-US"/>
          </a:p>
        </p:txBody>
      </p:sp>
      <p:sp>
        <p:nvSpPr>
          <p:cNvPr id="5" name="Footer Placeholder 4">
            <a:extLst>
              <a:ext uri="{FF2B5EF4-FFF2-40B4-BE49-F238E27FC236}">
                <a16:creationId xmlns:a16="http://schemas.microsoft.com/office/drawing/2014/main" id="{21FC782F-1918-4E94-8A8B-9112C4020030}"/>
              </a:ext>
            </a:extLst>
          </p:cNvPr>
          <p:cNvSpPr>
            <a:spLocks noGrp="1"/>
          </p:cNvSpPr>
          <p:nvPr>
            <p:ph type="ftr" sz="quarter" idx="11"/>
          </p:nvPr>
        </p:nvSpPr>
        <p:spPr>
          <a:xfrm>
            <a:off x="4038600" y="6356350"/>
            <a:ext cx="4114800" cy="365125"/>
          </a:xfrm>
          <a:prstGeom prst="rect">
            <a:avLst/>
          </a:prstGeom>
        </p:spPr>
        <p:txBody>
          <a:bodyPr/>
          <a:lstStyle>
            <a:lvl1pPr algn="ctr">
              <a:defRPr/>
            </a:lvl1pPr>
          </a:lstStyle>
          <a:p>
            <a:r>
              <a:rPr lang="en-US" dirty="0"/>
              <a:t>Data Science in Practice</a:t>
            </a:r>
          </a:p>
        </p:txBody>
      </p:sp>
      <p:sp>
        <p:nvSpPr>
          <p:cNvPr id="6" name="Slide Number Placeholder 5">
            <a:extLst>
              <a:ext uri="{FF2B5EF4-FFF2-40B4-BE49-F238E27FC236}">
                <a16:creationId xmlns:a16="http://schemas.microsoft.com/office/drawing/2014/main" id="{C2237E0F-6662-4191-AE81-1BC4D02F9DE1}"/>
              </a:ext>
            </a:extLst>
          </p:cNvPr>
          <p:cNvSpPr>
            <a:spLocks noGrp="1"/>
          </p:cNvSpPr>
          <p:nvPr>
            <p:ph type="sldNum" sz="quarter" idx="12"/>
          </p:nvPr>
        </p:nvSpPr>
        <p:spPr>
          <a:xfrm>
            <a:off x="8270965" y="6356350"/>
            <a:ext cx="2743200" cy="365125"/>
          </a:xfrm>
          <a:prstGeom prst="rect">
            <a:avLst/>
          </a:prstGeom>
        </p:spPr>
        <p:txBody>
          <a:bodyPr/>
          <a:lstStyle>
            <a:lvl1pPr algn="r">
              <a:defRPr/>
            </a:lvl1pPr>
          </a:lstStyle>
          <a:p>
            <a:fld id="{D50A3D7C-70F1-4B51-BC20-2772D1CDE1B2}" type="slidenum">
              <a:rPr lang="en-US" smtClean="0"/>
              <a:pPr/>
              <a:t>‹#›</a:t>
            </a:fld>
            <a:endParaRPr lang="en-US" dirty="0"/>
          </a:p>
        </p:txBody>
      </p:sp>
      <p:sp>
        <p:nvSpPr>
          <p:cNvPr id="8" name="Title Placeholder 1">
            <a:extLst>
              <a:ext uri="{FF2B5EF4-FFF2-40B4-BE49-F238E27FC236}">
                <a16:creationId xmlns:a16="http://schemas.microsoft.com/office/drawing/2014/main" id="{FE3AFD7C-355B-42C6-870B-89721533F5E2}"/>
              </a:ext>
            </a:extLst>
          </p:cNvPr>
          <p:cNvSpPr>
            <a:spLocks noGrp="1"/>
          </p:cNvSpPr>
          <p:nvPr>
            <p:ph type="title" hasCustomPrompt="1"/>
          </p:nvPr>
        </p:nvSpPr>
        <p:spPr>
          <a:xfrm>
            <a:off x="0" y="66502"/>
            <a:ext cx="12192000" cy="681643"/>
          </a:xfrm>
          <a:prstGeom prst="rect">
            <a:avLst/>
          </a:prstGeom>
        </p:spPr>
        <p:txBody>
          <a:bodyPr vert="horz" lIns="91440" tIns="45720" rIns="91440" bIns="45720" rtlCol="0" anchor="ctr">
            <a:normAutofit/>
          </a:bodyPr>
          <a:lstStyle>
            <a:lvl1pPr>
              <a:defRPr sz="3200" b="1">
                <a:solidFill>
                  <a:schemeClr val="bg1"/>
                </a:solidFill>
                <a:latin typeface="+mn-lt"/>
              </a:defRPr>
            </a:lvl1pPr>
          </a:lstStyle>
          <a:p>
            <a:r>
              <a:rPr lang="en-US" dirty="0"/>
              <a:t>CLICK TO EDIT MASTER TITLE STYLE</a:t>
            </a:r>
          </a:p>
        </p:txBody>
      </p:sp>
    </p:spTree>
    <p:extLst>
      <p:ext uri="{BB962C8B-B14F-4D97-AF65-F5344CB8AC3E}">
        <p14:creationId xmlns:p14="http://schemas.microsoft.com/office/powerpoint/2010/main" val="257325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0404B3-A0E9-8153-01DC-DDD79C33EC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A9BDFA-1EE3-CC75-CA51-9400E5DAF7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E30E8-888A-E885-B12A-9137AEEBE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498D570D-E04A-3378-7309-BC9A6E72DE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D3BA85-964F-9374-DB91-1FF72226E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83654F-8035-40FD-8A9A-F26333DDBFE7}" type="slidenum">
              <a:rPr lang="en-US" smtClean="0"/>
              <a:t>‹#›</a:t>
            </a:fld>
            <a:endParaRPr lang="en-US"/>
          </a:p>
        </p:txBody>
      </p:sp>
    </p:spTree>
    <p:extLst>
      <p:ext uri="{BB962C8B-B14F-4D97-AF65-F5344CB8AC3E}">
        <p14:creationId xmlns:p14="http://schemas.microsoft.com/office/powerpoint/2010/main" val="603685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4233-1EBC-CED6-E691-DBFF0DDF5906}"/>
              </a:ext>
            </a:extLst>
          </p:cNvPr>
          <p:cNvSpPr>
            <a:spLocks noGrp="1"/>
          </p:cNvSpPr>
          <p:nvPr>
            <p:ph type="ctrTitle"/>
          </p:nvPr>
        </p:nvSpPr>
        <p:spPr>
          <a:xfrm>
            <a:off x="1524000" y="1132195"/>
            <a:ext cx="9144000" cy="2387600"/>
          </a:xfrm>
        </p:spPr>
        <p:txBody>
          <a:bodyPr/>
          <a:lstStyle/>
          <a:p>
            <a:r>
              <a:rPr lang="en-US"/>
              <a:t>Machine Learning</a:t>
            </a:r>
            <a:endParaRPr lang="de-DE" dirty="0"/>
          </a:p>
        </p:txBody>
      </p:sp>
      <p:sp>
        <p:nvSpPr>
          <p:cNvPr id="3" name="Subtitle 2">
            <a:extLst>
              <a:ext uri="{FF2B5EF4-FFF2-40B4-BE49-F238E27FC236}">
                <a16:creationId xmlns:a16="http://schemas.microsoft.com/office/drawing/2014/main" id="{714ED69C-495E-33A8-8972-4790979755D8}"/>
              </a:ext>
            </a:extLst>
          </p:cNvPr>
          <p:cNvSpPr>
            <a:spLocks noGrp="1"/>
          </p:cNvSpPr>
          <p:nvPr>
            <p:ph type="subTitle" idx="1"/>
          </p:nvPr>
        </p:nvSpPr>
        <p:spPr>
          <a:xfrm>
            <a:off x="1524000" y="5038266"/>
            <a:ext cx="9144000" cy="707203"/>
          </a:xfrm>
        </p:spPr>
        <p:txBody>
          <a:bodyPr>
            <a:normAutofit/>
          </a:bodyPr>
          <a:lstStyle/>
          <a:p>
            <a:r>
              <a:rPr lang="en-US" sz="3200" dirty="0"/>
              <a:t>Lecture 10</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07581A9B-0DD0-281E-AC5B-4335A0E992E9}"/>
                  </a:ext>
                </a:extLst>
              </p14:cNvPr>
              <p14:cNvContentPartPr/>
              <p14:nvPr/>
            </p14:nvContentPartPr>
            <p14:xfrm>
              <a:off x="6158876" y="4119257"/>
              <a:ext cx="360" cy="360"/>
            </p14:xfrm>
          </p:contentPart>
        </mc:Choice>
        <mc:Fallback xmlns="">
          <p:pic>
            <p:nvPicPr>
              <p:cNvPr id="10" name="Ink 9">
                <a:extLst>
                  <a:ext uri="{FF2B5EF4-FFF2-40B4-BE49-F238E27FC236}">
                    <a16:creationId xmlns:a16="http://schemas.microsoft.com/office/drawing/2014/main" id="{07581A9B-0DD0-281E-AC5B-4335A0E992E9}"/>
                  </a:ext>
                </a:extLst>
              </p:cNvPr>
              <p:cNvPicPr/>
              <p:nvPr/>
            </p:nvPicPr>
            <p:blipFill>
              <a:blip r:embed="rId3"/>
              <a:stretch>
                <a:fillRect/>
              </a:stretch>
            </p:blipFill>
            <p:spPr>
              <a:xfrm>
                <a:off x="6149876" y="4110257"/>
                <a:ext cx="18000" cy="18000"/>
              </a:xfrm>
              <a:prstGeom prst="rect">
                <a:avLst/>
              </a:prstGeom>
            </p:spPr>
          </p:pic>
        </mc:Fallback>
      </mc:AlternateContent>
    </p:spTree>
    <p:extLst>
      <p:ext uri="{BB962C8B-B14F-4D97-AF65-F5344CB8AC3E}">
        <p14:creationId xmlns:p14="http://schemas.microsoft.com/office/powerpoint/2010/main" val="50366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E5F28F62-81A7-5355-520F-B5CB9A97BE3C}"/>
              </a:ext>
            </a:extLst>
          </p:cNvPr>
          <p:cNvSpPr>
            <a:spLocks noGrp="1"/>
          </p:cNvSpPr>
          <p:nvPr>
            <p:ph type="title"/>
          </p:nvPr>
        </p:nvSpPr>
        <p:spPr/>
        <p:txBody>
          <a:bodyPr/>
          <a:lstStyle/>
          <a:p>
            <a:r>
              <a:rPr lang="en-US" dirty="0"/>
              <a:t>Multiclass Classification</a:t>
            </a:r>
            <a:endParaRPr lang="de-DE" dirty="0"/>
          </a:p>
        </p:txBody>
      </p:sp>
      <p:sp>
        <p:nvSpPr>
          <p:cNvPr id="4" name="Content Placeholder 3">
            <a:extLst>
              <a:ext uri="{FF2B5EF4-FFF2-40B4-BE49-F238E27FC236}">
                <a16:creationId xmlns:a16="http://schemas.microsoft.com/office/drawing/2014/main" id="{AA606520-F236-3F4A-5C4E-D2F1BE79A564}"/>
              </a:ext>
            </a:extLst>
          </p:cNvPr>
          <p:cNvSpPr>
            <a:spLocks noGrp="1"/>
          </p:cNvSpPr>
          <p:nvPr>
            <p:ph idx="1"/>
          </p:nvPr>
        </p:nvSpPr>
        <p:spPr>
          <a:xfrm>
            <a:off x="838200" y="1825624"/>
            <a:ext cx="6909619" cy="4879975"/>
          </a:xfrm>
        </p:spPr>
        <p:txBody>
          <a:bodyPr>
            <a:normAutofit/>
          </a:bodyPr>
          <a:lstStyle/>
          <a:p>
            <a:r>
              <a:rPr lang="en-GB" dirty="0"/>
              <a:t>If the number of classes is two, the task is known as binary classification (0 or 1), i.e., all the data points will lie in either of the two classes only. </a:t>
            </a:r>
          </a:p>
          <a:p>
            <a:r>
              <a:rPr lang="en-GB" dirty="0"/>
              <a:t>If the number of classes is more than two, it is known as a multiclass classification problem. </a:t>
            </a:r>
          </a:p>
          <a:p>
            <a:r>
              <a:rPr lang="en-GB" dirty="0"/>
              <a:t>The basic assumption of a multi-class classification in machine learning is that each data point will belong to only one of the N classes. </a:t>
            </a:r>
            <a:endParaRPr lang="en-US" dirty="0"/>
          </a:p>
        </p:txBody>
      </p:sp>
      <p:pic>
        <p:nvPicPr>
          <p:cNvPr id="6" name="Picture 5">
            <a:extLst>
              <a:ext uri="{FF2B5EF4-FFF2-40B4-BE49-F238E27FC236}">
                <a16:creationId xmlns:a16="http://schemas.microsoft.com/office/drawing/2014/main" id="{201AF32D-DB05-CA06-2636-E360F3EB3A57}"/>
              </a:ext>
            </a:extLst>
          </p:cNvPr>
          <p:cNvPicPr>
            <a:picLocks noChangeAspect="1"/>
          </p:cNvPicPr>
          <p:nvPr/>
        </p:nvPicPr>
        <p:blipFill>
          <a:blip r:embed="rId2"/>
          <a:stretch>
            <a:fillRect/>
          </a:stretch>
        </p:blipFill>
        <p:spPr>
          <a:xfrm>
            <a:off x="8072284" y="547920"/>
            <a:ext cx="3441291" cy="5944955"/>
          </a:xfrm>
          <a:prstGeom prst="rect">
            <a:avLst/>
          </a:prstGeom>
        </p:spPr>
      </p:pic>
    </p:spTree>
    <p:extLst>
      <p:ext uri="{BB962C8B-B14F-4D97-AF65-F5344CB8AC3E}">
        <p14:creationId xmlns:p14="http://schemas.microsoft.com/office/powerpoint/2010/main" val="1566571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934A-1445-B1C4-423D-A54689F4FF95}"/>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4D6C730B-174F-95B0-F417-B6EDB04A7805}"/>
              </a:ext>
            </a:extLst>
          </p:cNvPr>
          <p:cNvSpPr>
            <a:spLocks noGrp="1"/>
          </p:cNvSpPr>
          <p:nvPr>
            <p:ph idx="1"/>
          </p:nvPr>
        </p:nvSpPr>
        <p:spPr/>
        <p:txBody>
          <a:bodyPr>
            <a:normAutofit/>
          </a:bodyPr>
          <a:lstStyle/>
          <a:p>
            <a:r>
              <a:rPr lang="en-US" dirty="0"/>
              <a:t>Face expressions classification </a:t>
            </a:r>
          </a:p>
          <a:p>
            <a:r>
              <a:rPr lang="en-US" dirty="0"/>
              <a:t>Plant species classification </a:t>
            </a:r>
          </a:p>
          <a:p>
            <a:r>
              <a:rPr lang="en-US" dirty="0"/>
              <a:t>Optical character recognition </a:t>
            </a:r>
          </a:p>
          <a:p>
            <a:r>
              <a:rPr lang="en-GB" dirty="0"/>
              <a:t>classification of news in different categories </a:t>
            </a:r>
          </a:p>
          <a:p>
            <a:r>
              <a:rPr lang="en-GB" dirty="0"/>
              <a:t>classifying books according to the subject </a:t>
            </a:r>
          </a:p>
          <a:p>
            <a:r>
              <a:rPr lang="en-GB" dirty="0"/>
              <a:t>differentiating between several types of cancer from an MRI</a:t>
            </a:r>
          </a:p>
          <a:p>
            <a:r>
              <a:rPr lang="en-GB" dirty="0"/>
              <a:t>Classifying e-commerce items into specific categories (e.g., Electronics, Clothing, Home Goods) etc.</a:t>
            </a:r>
          </a:p>
          <a:p>
            <a:pPr marL="0" indent="0">
              <a:buNone/>
            </a:pPr>
            <a:endParaRPr lang="en-US" dirty="0"/>
          </a:p>
        </p:txBody>
      </p:sp>
    </p:spTree>
    <p:extLst>
      <p:ext uri="{BB962C8B-B14F-4D97-AF65-F5344CB8AC3E}">
        <p14:creationId xmlns:p14="http://schemas.microsoft.com/office/powerpoint/2010/main" val="1625262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8793BDC-2911-4507-88F0-9B206CE1E00B}"/>
              </a:ext>
            </a:extLst>
          </p:cNvPr>
          <p:cNvSpPr txBox="1">
            <a:spLocks/>
          </p:cNvSpPr>
          <p:nvPr/>
        </p:nvSpPr>
        <p:spPr>
          <a:xfrm>
            <a:off x="598692" y="442453"/>
            <a:ext cx="5497307" cy="6528061"/>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Many machine learning algorithms can be used to train a multiclass classifier but not all as standard algorithms such as logistic regression, support vector machines (SVM) are designed only for binary classification tasks. </a:t>
            </a:r>
          </a:p>
          <a:p>
            <a:r>
              <a:rPr lang="en-GB" dirty="0"/>
              <a:t>However, we can use strategies to leverage these traditional multiclass classification algorithms.</a:t>
            </a:r>
          </a:p>
          <a:p>
            <a:r>
              <a:rPr lang="en-GB" dirty="0"/>
              <a:t>ML algorithms like logistic regression and SVM have been designed to solve binary classification problems. The entire task is broken into multiple binary classification problems using strategies like one-vs-rest or one-vs-all to use them in multiclass classification. </a:t>
            </a:r>
          </a:p>
        </p:txBody>
      </p:sp>
      <p:pic>
        <p:nvPicPr>
          <p:cNvPr id="4" name="Picture 3">
            <a:extLst>
              <a:ext uri="{FF2B5EF4-FFF2-40B4-BE49-F238E27FC236}">
                <a16:creationId xmlns:a16="http://schemas.microsoft.com/office/drawing/2014/main" id="{9525ADF4-063C-F8AC-444B-7CE40BC44363}"/>
              </a:ext>
            </a:extLst>
          </p:cNvPr>
          <p:cNvPicPr>
            <a:picLocks noChangeAspect="1"/>
          </p:cNvPicPr>
          <p:nvPr/>
        </p:nvPicPr>
        <p:blipFill>
          <a:blip r:embed="rId2"/>
          <a:stretch>
            <a:fillRect/>
          </a:stretch>
        </p:blipFill>
        <p:spPr>
          <a:xfrm>
            <a:off x="6096000" y="1376515"/>
            <a:ext cx="5925010" cy="3654835"/>
          </a:xfrm>
          <a:prstGeom prst="rect">
            <a:avLst/>
          </a:prstGeom>
        </p:spPr>
      </p:pic>
    </p:spTree>
    <p:extLst>
      <p:ext uri="{BB962C8B-B14F-4D97-AF65-F5344CB8AC3E}">
        <p14:creationId xmlns:p14="http://schemas.microsoft.com/office/powerpoint/2010/main" val="3764484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0D5DEC-29F1-4098-B79F-045E8731CF6C}"/>
              </a:ext>
            </a:extLst>
          </p:cNvPr>
          <p:cNvSpPr>
            <a:spLocks noGrp="1"/>
          </p:cNvSpPr>
          <p:nvPr>
            <p:ph type="title"/>
          </p:nvPr>
        </p:nvSpPr>
        <p:spPr/>
        <p:txBody>
          <a:bodyPr/>
          <a:lstStyle/>
          <a:p>
            <a:r>
              <a:rPr lang="en-US" dirty="0"/>
              <a:t>One-vs-all/One-vs-rest</a:t>
            </a:r>
          </a:p>
        </p:txBody>
      </p:sp>
      <p:sp>
        <p:nvSpPr>
          <p:cNvPr id="2" name="Content Placeholder 1">
            <a:extLst>
              <a:ext uri="{FF2B5EF4-FFF2-40B4-BE49-F238E27FC236}">
                <a16:creationId xmlns:a16="http://schemas.microsoft.com/office/drawing/2014/main" id="{C418926D-4B96-3877-BCDE-5A024CD3F521}"/>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D2548912-FE46-78A5-B1B9-B53623C25ECE}"/>
              </a:ext>
            </a:extLst>
          </p:cNvPr>
          <p:cNvPicPr>
            <a:picLocks noChangeAspect="1"/>
          </p:cNvPicPr>
          <p:nvPr/>
        </p:nvPicPr>
        <p:blipFill>
          <a:blip r:embed="rId3"/>
          <a:stretch>
            <a:fillRect/>
          </a:stretch>
        </p:blipFill>
        <p:spPr>
          <a:xfrm>
            <a:off x="1448260" y="1924049"/>
            <a:ext cx="3713675" cy="3822545"/>
          </a:xfrm>
          <a:prstGeom prst="rect">
            <a:avLst/>
          </a:prstGeom>
        </p:spPr>
      </p:pic>
      <p:pic>
        <p:nvPicPr>
          <p:cNvPr id="8" name="Picture 7">
            <a:extLst>
              <a:ext uri="{FF2B5EF4-FFF2-40B4-BE49-F238E27FC236}">
                <a16:creationId xmlns:a16="http://schemas.microsoft.com/office/drawing/2014/main" id="{AD15C782-29A5-8A62-5C8D-0E47B2E2BC83}"/>
              </a:ext>
            </a:extLst>
          </p:cNvPr>
          <p:cNvPicPr>
            <a:picLocks noChangeAspect="1"/>
          </p:cNvPicPr>
          <p:nvPr/>
        </p:nvPicPr>
        <p:blipFill>
          <a:blip r:embed="rId4"/>
          <a:stretch>
            <a:fillRect/>
          </a:stretch>
        </p:blipFill>
        <p:spPr>
          <a:xfrm>
            <a:off x="5437238" y="1825625"/>
            <a:ext cx="2949678" cy="4285944"/>
          </a:xfrm>
          <a:prstGeom prst="rect">
            <a:avLst/>
          </a:prstGeom>
        </p:spPr>
      </p:pic>
    </p:spTree>
    <p:extLst>
      <p:ext uri="{BB962C8B-B14F-4D97-AF65-F5344CB8AC3E}">
        <p14:creationId xmlns:p14="http://schemas.microsoft.com/office/powerpoint/2010/main" val="233913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922BB-C7B7-2809-9250-85DF6483DC36}"/>
              </a:ext>
            </a:extLst>
          </p:cNvPr>
          <p:cNvSpPr>
            <a:spLocks noGrp="1"/>
          </p:cNvSpPr>
          <p:nvPr>
            <p:ph idx="1"/>
          </p:nvPr>
        </p:nvSpPr>
        <p:spPr>
          <a:xfrm>
            <a:off x="838200" y="796413"/>
            <a:ext cx="10515600" cy="5380550"/>
          </a:xfrm>
        </p:spPr>
        <p:txBody>
          <a:bodyPr>
            <a:normAutofit/>
          </a:bodyPr>
          <a:lstStyle/>
          <a:p>
            <a:r>
              <a:rPr lang="en-GB" dirty="0"/>
              <a:t>As the name suggests, we train a binary classifier for every class where the class distribution is the target class versus the rest of the classes.</a:t>
            </a:r>
          </a:p>
          <a:p>
            <a:r>
              <a:rPr lang="en-GB" dirty="0"/>
              <a:t>For example, if you are working on a problem of predicting whether the given fruit is an apple, mango, or banana, you will train three binary classifiers.</a:t>
            </a:r>
          </a:p>
          <a:p>
            <a:r>
              <a:rPr lang="en-GB" dirty="0"/>
              <a:t>Classifier A: [apple] v/s [mango, banana]</a:t>
            </a:r>
          </a:p>
          <a:p>
            <a:r>
              <a:rPr lang="en-GB" dirty="0"/>
              <a:t>Classifier B: [mango] v/s [apple, banana]</a:t>
            </a:r>
          </a:p>
          <a:p>
            <a:r>
              <a:rPr lang="en-GB" dirty="0"/>
              <a:t>Classifier C: [banana] v/s [apple, mango]</a:t>
            </a:r>
          </a:p>
          <a:p>
            <a:r>
              <a:rPr lang="en-GB" dirty="0"/>
              <a:t>Voting is used to predict the final class, i.e., the binary classifier predicting the target class with the highest confidence is given as the final output and is commonly used with Logistic Regression.</a:t>
            </a:r>
          </a:p>
          <a:p>
            <a:endParaRPr lang="en-US" dirty="0"/>
          </a:p>
        </p:txBody>
      </p:sp>
    </p:spTree>
    <p:extLst>
      <p:ext uri="{BB962C8B-B14F-4D97-AF65-F5344CB8AC3E}">
        <p14:creationId xmlns:p14="http://schemas.microsoft.com/office/powerpoint/2010/main" val="2296734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9392C-27E6-7D25-FE2F-02107E6C2C22}"/>
              </a:ext>
            </a:extLst>
          </p:cNvPr>
          <p:cNvSpPr>
            <a:spLocks noGrp="1"/>
          </p:cNvSpPr>
          <p:nvPr>
            <p:ph type="title"/>
          </p:nvPr>
        </p:nvSpPr>
        <p:spPr/>
        <p:txBody>
          <a:bodyPr/>
          <a:lstStyle/>
          <a:p>
            <a:r>
              <a:rPr lang="en-US" dirty="0"/>
              <a:t>One-vs-all: How it works? </a:t>
            </a:r>
          </a:p>
        </p:txBody>
      </p:sp>
      <p:sp>
        <p:nvSpPr>
          <p:cNvPr id="3" name="Content Placeholder 2">
            <a:extLst>
              <a:ext uri="{FF2B5EF4-FFF2-40B4-BE49-F238E27FC236}">
                <a16:creationId xmlns:a16="http://schemas.microsoft.com/office/drawing/2014/main" id="{D6BCD672-8DAB-39C0-BE85-49371BF2692D}"/>
              </a:ext>
            </a:extLst>
          </p:cNvPr>
          <p:cNvSpPr>
            <a:spLocks noGrp="1"/>
          </p:cNvSpPr>
          <p:nvPr>
            <p:ph idx="1"/>
          </p:nvPr>
        </p:nvSpPr>
        <p:spPr/>
        <p:txBody>
          <a:bodyPr>
            <a:normAutofit lnSpcReduction="10000"/>
          </a:bodyPr>
          <a:lstStyle/>
          <a:p>
            <a:r>
              <a:rPr lang="en-US" dirty="0"/>
              <a:t>Split the training set into three separate binary classification problems</a:t>
            </a:r>
          </a:p>
          <a:p>
            <a:pPr lvl="1"/>
            <a:r>
              <a:rPr lang="en-US" dirty="0"/>
              <a:t>i.e. create a new fake training set</a:t>
            </a:r>
          </a:p>
          <a:p>
            <a:pPr lvl="2"/>
            <a:r>
              <a:rPr lang="en-US" dirty="0"/>
              <a:t>Triangle (1) vs crosses and squares (0) h</a:t>
            </a:r>
            <a:r>
              <a:rPr lang="el-GR" baseline="-25000" dirty="0"/>
              <a:t>θ</a:t>
            </a:r>
            <a:r>
              <a:rPr lang="el-GR" baseline="30000" dirty="0"/>
              <a:t>1</a:t>
            </a:r>
            <a:r>
              <a:rPr lang="el-GR" dirty="0"/>
              <a:t>(</a:t>
            </a:r>
            <a:r>
              <a:rPr lang="en-US" dirty="0"/>
              <a:t>x)</a:t>
            </a:r>
          </a:p>
          <a:p>
            <a:pPr lvl="3"/>
            <a:r>
              <a:rPr lang="en-US" dirty="0"/>
              <a:t>P(y=1 | x</a:t>
            </a:r>
            <a:r>
              <a:rPr lang="en-US" baseline="-25000" dirty="0"/>
              <a:t>1</a:t>
            </a:r>
            <a:r>
              <a:rPr lang="en-US" dirty="0"/>
              <a:t>; </a:t>
            </a:r>
            <a:r>
              <a:rPr lang="el-GR" dirty="0"/>
              <a:t>θ)</a:t>
            </a:r>
          </a:p>
          <a:p>
            <a:pPr lvl="2"/>
            <a:r>
              <a:rPr lang="en-US" dirty="0"/>
              <a:t>Crosses (1) vs triangle and square (0) h</a:t>
            </a:r>
            <a:r>
              <a:rPr lang="el-GR" baseline="-25000" dirty="0"/>
              <a:t>θ</a:t>
            </a:r>
            <a:r>
              <a:rPr lang="el-GR" baseline="30000" dirty="0"/>
              <a:t>2</a:t>
            </a:r>
            <a:r>
              <a:rPr lang="el-GR" dirty="0"/>
              <a:t>(</a:t>
            </a:r>
            <a:r>
              <a:rPr lang="en-US" dirty="0"/>
              <a:t>x)</a:t>
            </a:r>
          </a:p>
          <a:p>
            <a:pPr lvl="3"/>
            <a:r>
              <a:rPr lang="en-US" dirty="0"/>
              <a:t>P(y=1 | x</a:t>
            </a:r>
            <a:r>
              <a:rPr lang="en-US" baseline="-25000" dirty="0"/>
              <a:t>2</a:t>
            </a:r>
            <a:r>
              <a:rPr lang="en-US" dirty="0"/>
              <a:t>; </a:t>
            </a:r>
            <a:r>
              <a:rPr lang="el-GR" dirty="0"/>
              <a:t>θ)</a:t>
            </a:r>
          </a:p>
          <a:p>
            <a:pPr lvl="2"/>
            <a:r>
              <a:rPr lang="en-US" dirty="0"/>
              <a:t>Square (1) vs crosses and square (0) h</a:t>
            </a:r>
            <a:r>
              <a:rPr lang="el-GR" baseline="-25000" dirty="0"/>
              <a:t>θ</a:t>
            </a:r>
            <a:r>
              <a:rPr lang="el-GR" baseline="30000" dirty="0"/>
              <a:t>3</a:t>
            </a:r>
            <a:r>
              <a:rPr lang="el-GR" dirty="0"/>
              <a:t>(</a:t>
            </a:r>
            <a:r>
              <a:rPr lang="en-US" dirty="0"/>
              <a:t>x)</a:t>
            </a:r>
          </a:p>
          <a:p>
            <a:pPr lvl="3"/>
            <a:r>
              <a:rPr lang="en-US" dirty="0"/>
              <a:t>P(y=1 | x</a:t>
            </a:r>
            <a:r>
              <a:rPr lang="en-US" baseline="-25000" dirty="0"/>
              <a:t>3</a:t>
            </a:r>
            <a:r>
              <a:rPr lang="en-US" dirty="0"/>
              <a:t>; </a:t>
            </a:r>
            <a:r>
              <a:rPr lang="el-GR" dirty="0"/>
              <a:t>θ)</a:t>
            </a:r>
          </a:p>
          <a:p>
            <a:r>
              <a:rPr lang="en-GB" dirty="0"/>
              <a:t>Train a logistic regression classifier </a:t>
            </a:r>
            <a:r>
              <a:rPr lang="en-GB" dirty="0" err="1"/>
              <a:t>h</a:t>
            </a:r>
            <a:r>
              <a:rPr lang="en-GB" baseline="-25000" dirty="0" err="1"/>
              <a:t>θ</a:t>
            </a:r>
            <a:r>
              <a:rPr lang="en-GB" baseline="30000" dirty="0"/>
              <a:t>(</a:t>
            </a:r>
            <a:r>
              <a:rPr lang="en-GB" baseline="30000" dirty="0" err="1"/>
              <a:t>i</a:t>
            </a:r>
            <a:r>
              <a:rPr lang="en-GB" baseline="30000" dirty="0"/>
              <a:t>)</a:t>
            </a:r>
            <a:r>
              <a:rPr lang="en-GB" dirty="0"/>
              <a:t>(x) for each class </a:t>
            </a:r>
            <a:r>
              <a:rPr lang="en-GB" dirty="0" err="1"/>
              <a:t>i</a:t>
            </a:r>
            <a:r>
              <a:rPr lang="en-GB" dirty="0"/>
              <a:t> to predict the probability that y = </a:t>
            </a:r>
            <a:r>
              <a:rPr lang="en-GB" dirty="0" err="1"/>
              <a:t>i</a:t>
            </a:r>
            <a:endParaRPr lang="en-GB" dirty="0"/>
          </a:p>
          <a:p>
            <a:r>
              <a:rPr lang="en-GB" dirty="0"/>
              <a:t>On a new input, </a:t>
            </a:r>
            <a:r>
              <a:rPr lang="en-GB" i="1" dirty="0"/>
              <a:t>x</a:t>
            </a:r>
            <a:r>
              <a:rPr lang="en-GB" dirty="0"/>
              <a:t> to make a prediction, pick the class </a:t>
            </a:r>
            <a:r>
              <a:rPr lang="en-GB" i="1" dirty="0" err="1"/>
              <a:t>i</a:t>
            </a:r>
            <a:r>
              <a:rPr lang="en-GB" dirty="0"/>
              <a:t> that maximizes the probability that </a:t>
            </a:r>
            <a:r>
              <a:rPr lang="en-GB" dirty="0" err="1"/>
              <a:t>h</a:t>
            </a:r>
            <a:r>
              <a:rPr lang="en-GB" baseline="-25000" dirty="0" err="1"/>
              <a:t>θ</a:t>
            </a:r>
            <a:r>
              <a:rPr lang="en-GB" baseline="30000" dirty="0"/>
              <a:t>(</a:t>
            </a:r>
            <a:r>
              <a:rPr lang="en-GB" baseline="30000" dirty="0" err="1"/>
              <a:t>i</a:t>
            </a:r>
            <a:r>
              <a:rPr lang="en-GB" baseline="30000" dirty="0"/>
              <a:t>)</a:t>
            </a:r>
            <a:r>
              <a:rPr lang="en-GB" dirty="0"/>
              <a:t>(x) = 1 </a:t>
            </a:r>
          </a:p>
          <a:p>
            <a:endParaRPr lang="en-US" dirty="0"/>
          </a:p>
        </p:txBody>
      </p:sp>
    </p:spTree>
    <p:extLst>
      <p:ext uri="{BB962C8B-B14F-4D97-AF65-F5344CB8AC3E}">
        <p14:creationId xmlns:p14="http://schemas.microsoft.com/office/powerpoint/2010/main" val="2554331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C9680E-1569-059A-4E84-53E009FEFF57}"/>
              </a:ext>
            </a:extLst>
          </p:cNvPr>
          <p:cNvPicPr>
            <a:picLocks noChangeAspect="1"/>
          </p:cNvPicPr>
          <p:nvPr/>
        </p:nvPicPr>
        <p:blipFill>
          <a:blip r:embed="rId2"/>
          <a:stretch>
            <a:fillRect/>
          </a:stretch>
        </p:blipFill>
        <p:spPr>
          <a:xfrm>
            <a:off x="3195836" y="592623"/>
            <a:ext cx="5800328" cy="5672753"/>
          </a:xfrm>
          <a:prstGeom prst="rect">
            <a:avLst/>
          </a:prstGeom>
        </p:spPr>
      </p:pic>
    </p:spTree>
    <p:extLst>
      <p:ext uri="{BB962C8B-B14F-4D97-AF65-F5344CB8AC3E}">
        <p14:creationId xmlns:p14="http://schemas.microsoft.com/office/powerpoint/2010/main" val="408196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937</TotalTime>
  <Words>527</Words>
  <Application>Microsoft Office PowerPoint</Application>
  <PresentationFormat>Widescreen</PresentationFormat>
  <Paragraphs>35</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Machine Learning</vt:lpstr>
      <vt:lpstr>Multiclass Classification</vt:lpstr>
      <vt:lpstr>Examples</vt:lpstr>
      <vt:lpstr>PowerPoint Presentation</vt:lpstr>
      <vt:lpstr>One-vs-all/One-vs-rest</vt:lpstr>
      <vt:lpstr>PowerPoint Presentation</vt:lpstr>
      <vt:lpstr>One-vs-all: How it works?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Dr.Mahdiha Khalid</dc:creator>
  <cp:lastModifiedBy>Dr.Mahdiha Khalid</cp:lastModifiedBy>
  <cp:revision>52</cp:revision>
  <dcterms:created xsi:type="dcterms:W3CDTF">2026-02-17T10:11:18Z</dcterms:created>
  <dcterms:modified xsi:type="dcterms:W3CDTF">2026-03-19T05:54:00Z</dcterms:modified>
</cp:coreProperties>
</file>