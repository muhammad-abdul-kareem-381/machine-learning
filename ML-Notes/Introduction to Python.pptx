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591" r:id="rId2"/>
    <p:sldId id="607" r:id="rId3"/>
    <p:sldId id="596" r:id="rId4"/>
    <p:sldId id="595" r:id="rId5"/>
    <p:sldId id="598" r:id="rId6"/>
    <p:sldId id="603" r:id="rId7"/>
    <p:sldId id="629" r:id="rId8"/>
    <p:sldId id="594" r:id="rId9"/>
    <p:sldId id="597" r:id="rId10"/>
    <p:sldId id="605" r:id="rId11"/>
    <p:sldId id="592" r:id="rId12"/>
    <p:sldId id="599" r:id="rId13"/>
    <p:sldId id="604" r:id="rId14"/>
    <p:sldId id="593" r:id="rId15"/>
    <p:sldId id="616" r:id="rId16"/>
    <p:sldId id="630" r:id="rId17"/>
    <p:sldId id="608" r:id="rId18"/>
    <p:sldId id="602" r:id="rId19"/>
    <p:sldId id="631" r:id="rId20"/>
    <p:sldId id="632" r:id="rId21"/>
    <p:sldId id="612" r:id="rId22"/>
    <p:sldId id="622" r:id="rId23"/>
    <p:sldId id="633" r:id="rId24"/>
    <p:sldId id="620" r:id="rId25"/>
    <p:sldId id="621" r:id="rId26"/>
    <p:sldId id="806" r:id="rId27"/>
    <p:sldId id="807" r:id="rId28"/>
    <p:sldId id="808" r:id="rId29"/>
    <p:sldId id="809" r:id="rId30"/>
    <p:sldId id="810" r:id="rId31"/>
    <p:sldId id="811" r:id="rId32"/>
    <p:sldId id="812" r:id="rId33"/>
    <p:sldId id="813" r:id="rId34"/>
    <p:sldId id="814" r:id="rId35"/>
    <p:sldId id="815" r:id="rId36"/>
    <p:sldId id="816" r:id="rId37"/>
    <p:sldId id="817" r:id="rId38"/>
    <p:sldId id="818" r:id="rId39"/>
    <p:sldId id="819" r:id="rId40"/>
    <p:sldId id="820" r:id="rId41"/>
    <p:sldId id="821" r:id="rId42"/>
    <p:sldId id="822" r:id="rId43"/>
    <p:sldId id="823" r:id="rId44"/>
    <p:sldId id="824" r:id="rId45"/>
    <p:sldId id="825" r:id="rId46"/>
    <p:sldId id="826" r:id="rId47"/>
    <p:sldId id="827" r:id="rId4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7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7013B1-2CB7-4CDB-AF85-EA6D937C6EB6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9C2E1-A975-44E9-B06A-FAEBDEEA23A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9681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9C2E1-A975-44E9-B06A-FAEBDEEA23A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6849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3EDD6-0A4A-C540-9197-893F889A87ED}" type="slidenum">
              <a:rPr lang="de-DE" smtClean="0"/>
              <a:pPr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17401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9C2E1-A975-44E9-B06A-FAEBDEEA23A9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7678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3EDD6-0A4A-C540-9197-893F889A87ED}" type="slidenum">
              <a:rPr lang="de-DE" smtClean="0"/>
              <a:pPr/>
              <a:t>35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05019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81105-32E1-197D-C87D-B3E6D03629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D8A4B8-F5F6-B081-749B-A79D61735C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15C63-D77D-4395-D196-9E06DC580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132E-AA79-40DA-8D32-55CF47C48190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FBC88-352A-9637-FE40-C020004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6434A-3B60-7958-C643-75E231EA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E54FB-C78E-4DBF-BF04-DF196CF04D6E}" type="slidenum">
              <a:rPr lang="de-DE" smtClean="0"/>
              <a:t>‹#›</a:t>
            </a:fld>
            <a:endParaRPr lang="de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9D64F6-7242-DB4D-1930-A6819821A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50" y="0"/>
            <a:ext cx="1286256" cy="1828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4B17A5-3FF9-6059-8778-31CAF3B365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5270" y="0"/>
            <a:ext cx="163068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946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72890-1BD6-290B-0947-D0F9EA7D4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A7A1C-6C96-CF8B-05FC-5AFF53E95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C40DE-D033-9D08-54F5-846B1B7C6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132E-AA79-40DA-8D32-55CF47C48190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7E0A2-D7ED-63EB-575C-00012257D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6CA77-822F-6267-F6C1-DB71D1569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E54FB-C78E-4DBF-BF04-DF196CF04D6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7526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897E1-D577-EE08-7B8F-BA8F27F17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BCEA8-51DB-DC98-3CB9-D610987AB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1A0D1-2A8B-177C-DF36-825604279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132E-AA79-40DA-8D32-55CF47C48190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A13B8-D662-E974-0A90-F4BC5BAE8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A3637-AC5A-AF59-8CA6-BACF64A0E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E54FB-C78E-4DBF-BF04-DF196CF04D6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0929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929D9-895B-1505-9326-1A3438EEB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F048D-231A-DD25-C15E-1205390D0B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8F1AD-0FB5-98AE-447B-D71F450C3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16799-7ABD-D60C-9AF0-733703A63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132E-AA79-40DA-8D32-55CF47C48190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921958-7527-71DA-0831-012697243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AFDAB-DC1E-11AA-40D3-77107AD8A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E54FB-C78E-4DBF-BF04-DF196CF04D6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6936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DF9C8-D20D-7B91-C098-3225EE60E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DDB96-5C07-6DDB-52B0-995E2E7A4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039E1C-C1B9-F1CE-E2BD-7DD2B1A4D4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7FE11D-9276-F4CE-0072-F554F75B0E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95D6E-BCF6-81DB-090E-A6328EB621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A1DE1E-41D9-2E2E-9773-97A38CD3B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132E-AA79-40DA-8D32-55CF47C48190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3D2B08-EAC9-DF46-DEF2-7455C03E7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1E8AAA-EF4D-45F1-F749-90FF8E717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E54FB-C78E-4DBF-BF04-DF196CF04D6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4659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101E0-D848-0665-E3C5-0912833D6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171376-A460-7E87-439C-862F51494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132E-AA79-40DA-8D32-55CF47C48190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420A9A-0195-B4C9-8571-794F78055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79CB2C-F143-7C3C-2010-66BBFB461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E54FB-C78E-4DBF-BF04-DF196CF04D6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0426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0D9462-2F00-2278-0F35-F45B3BD41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132E-AA79-40DA-8D32-55CF47C48190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1129C6-9A7D-1817-1377-C075C7640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B5018-2282-D1E7-A002-21F71317E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E54FB-C78E-4DBF-BF04-DF196CF04D6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7898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E037D-79F2-4E24-9949-FCC5A1D14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628E9-10BF-011A-463B-1791347E7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755A7-AB15-099F-2BD2-D44320F60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FC02B8-1A21-5BD5-0E8D-B2DC2494F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132E-AA79-40DA-8D32-55CF47C48190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83859-C81C-235B-E72F-EF954D0D5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9F103-533B-1A7F-09BF-50B398707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E54FB-C78E-4DBF-BF04-DF196CF04D6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9734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CAC81-040D-ED03-6B3D-029D6177C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8A393E-F0F5-11D3-7841-052F7BDC56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EB9F0D-3EAC-5E71-C3B6-FEB43CC0B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CF1FD-212E-4D17-73E9-822AB70EE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132E-AA79-40DA-8D32-55CF47C48190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6DB64E-F110-4647-B5F7-1060B7D13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E0C94D-B56C-865A-1C1E-8DB142AB7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E54FB-C78E-4DBF-BF04-DF196CF04D6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4906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9B100-CF49-9C2C-EE40-45FEBD647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B1A282-79B5-FD24-BE39-F43CD9A3B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5FBDB-FA4C-650D-5B4D-CA8BA8BE7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132E-AA79-40DA-8D32-55CF47C48190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B5E8A-185C-CD7B-7D38-1E582EF09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6F59C-6F20-B32E-46FB-55362245F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E54FB-C78E-4DBF-BF04-DF196CF04D6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7133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E5864C-1BD9-F824-B6C3-61F5AAFB1E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F8360F-4C96-AB2E-1BF8-4C01B6663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C811D-6F0B-9C1C-B02D-96402EAD0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132E-AA79-40DA-8D32-55CF47C48190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06DF4-88CC-969A-6BCA-AD5B236AD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8BE86-6F3B-2023-4770-D231C174E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E54FB-C78E-4DBF-BF04-DF196CF04D6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73125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1"/>
          <p:cNvSpPr txBox="1">
            <a:spLocks/>
          </p:cNvSpPr>
          <p:nvPr userDrawn="1"/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sz="2800"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sz="2800"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sz="2800"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sz="2800"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fld id="{1F4B4C0F-8E60-CE41-8186-DD4AB1581340}" type="slidenum">
              <a:rPr lang="de-DE" sz="1200" noProof="0" smtClean="0">
                <a:latin typeface="+mn-lt"/>
                <a:ea typeface="Myriad Pro"/>
              </a:rPr>
              <a:pPr/>
              <a:t>‹#›</a:t>
            </a:fld>
            <a:endParaRPr lang="de-DE" sz="1200" noProof="0">
              <a:latin typeface="+mn-lt"/>
              <a:ea typeface="Myriad Pro"/>
            </a:endParaRPr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609600" y="973667"/>
            <a:ext cx="10972800" cy="560387"/>
          </a:xfrm>
        </p:spPr>
        <p:txBody>
          <a:bodyPr/>
          <a:lstStyle/>
          <a:p>
            <a:r>
              <a:rPr lang="de-DE" noProof="0"/>
              <a:t>Click to edit Master title style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0"/>
          </p:nvPr>
        </p:nvSpPr>
        <p:spPr>
          <a:xfrm>
            <a:off x="607485" y="1693334"/>
            <a:ext cx="10977033" cy="5164667"/>
          </a:xfrm>
        </p:spPr>
        <p:txBody>
          <a:bodyPr/>
          <a:lstStyle/>
          <a:p>
            <a:pPr lvl="0"/>
            <a:r>
              <a:rPr lang="de-DE" noProof="0"/>
              <a:t>Click to edit Master text styles</a:t>
            </a:r>
          </a:p>
          <a:p>
            <a:pPr lvl="1"/>
            <a:r>
              <a:rPr lang="de-DE" noProof="0"/>
              <a:t>Second level</a:t>
            </a:r>
          </a:p>
          <a:p>
            <a:pPr lvl="2"/>
            <a:r>
              <a:rPr lang="de-DE" noProof="0"/>
              <a:t>Third level</a:t>
            </a:r>
          </a:p>
          <a:p>
            <a:pPr lvl="3"/>
            <a:r>
              <a:rPr lang="de-DE" noProof="0"/>
              <a:t>Fourth level</a:t>
            </a:r>
          </a:p>
          <a:p>
            <a:pPr lvl="4"/>
            <a:r>
              <a:rPr lang="de-DE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0661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6DF288-E7A9-9976-C26F-9DEB9412D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B71D8-C37C-7584-DCBD-0DBABFED2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13E33-B035-EF41-009A-364BA1DFE6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A132E-AA79-40DA-8D32-55CF47C48190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718CC-5A31-D537-1B35-3E9ACA8B84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4C780-3B29-FAE9-72AF-6F23808E3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5E54FB-C78E-4DBF-BF04-DF196CF04D6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0345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code.visualstudio.com/Download" TargetMode="Externa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visualgit.readthedocs.io/en/latest/pages/naming_convention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code.visualstudio.com/Download" TargetMode="Externa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visualgit.readthedocs.io/en/latest/pages/naming_convention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2CA310-BEA9-454C-BAD7-B9D5D9598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What is Python?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DFDAD0-345C-4F3C-83AC-1F98ACF7FE3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noProof="0" dirty="0"/>
              <a:t>High level programming language</a:t>
            </a:r>
          </a:p>
          <a:p>
            <a:r>
              <a:rPr lang="en-GB" noProof="0" dirty="0"/>
              <a:t>First released in 1991 by </a:t>
            </a:r>
            <a:r>
              <a:rPr lang="de-DE" dirty="0"/>
              <a:t>Guido van Rossum</a:t>
            </a:r>
            <a:endParaRPr lang="en-GB" dirty="0"/>
          </a:p>
          <a:p>
            <a:r>
              <a:rPr lang="en-GB" noProof="0" dirty="0"/>
              <a:t>Object-oriented, imperative, functional and procedural</a:t>
            </a:r>
          </a:p>
          <a:p>
            <a:r>
              <a:rPr lang="en-GB" noProof="0" dirty="0"/>
              <a:t>Supported by many operating systems</a:t>
            </a:r>
          </a:p>
          <a:p>
            <a:r>
              <a:rPr lang="en-GB" noProof="0" dirty="0"/>
              <a:t>Commonly used for computation </a:t>
            </a:r>
            <a:r>
              <a:rPr lang="en-GB" dirty="0"/>
              <a:t>in</a:t>
            </a:r>
            <a:r>
              <a:rPr lang="en-GB" noProof="0" dirty="0"/>
              <a:t> the field of artificial intelligence and machine learning</a:t>
            </a:r>
          </a:p>
        </p:txBody>
      </p:sp>
      <p:pic>
        <p:nvPicPr>
          <p:cNvPr id="4" name="Grafik 4">
            <a:extLst>
              <a:ext uri="{FF2B5EF4-FFF2-40B4-BE49-F238E27FC236}">
                <a16:creationId xmlns:a16="http://schemas.microsoft.com/office/drawing/2014/main" id="{07C0D472-E5BE-6F03-1F45-551700F8D1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4258" y="973667"/>
            <a:ext cx="1690943" cy="1690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00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450782-7525-4A7A-815B-D9773D8A9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Why Python?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1E9613-A86D-434A-9923-78971F3E8A4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Wide scientific community: </a:t>
            </a:r>
          </a:p>
          <a:p>
            <a:pPr lvl="1"/>
            <a:r>
              <a:rPr lang="en-GB" dirty="0"/>
              <a:t>Many different helpful libraries</a:t>
            </a:r>
          </a:p>
          <a:p>
            <a:pPr lvl="1"/>
            <a:r>
              <a:rPr lang="en-GB" dirty="0"/>
              <a:t>Open source frameworks and tools</a:t>
            </a:r>
          </a:p>
          <a:p>
            <a:pPr lvl="1"/>
            <a:r>
              <a:rPr lang="en-GB" dirty="0"/>
              <a:t>Python Package Index (</a:t>
            </a:r>
            <a:r>
              <a:rPr lang="en-GB" dirty="0" err="1"/>
              <a:t>PyPI</a:t>
            </a:r>
            <a:r>
              <a:rPr lang="en-GB" dirty="0"/>
              <a:t>): </a:t>
            </a:r>
            <a:r>
              <a:rPr lang="de-DE" dirty="0"/>
              <a:t>433,519 </a:t>
            </a:r>
            <a:endParaRPr lang="en-GB" dirty="0"/>
          </a:p>
          <a:p>
            <a:r>
              <a:rPr lang="en-GB" dirty="0"/>
              <a:t>Easy to learn/use</a:t>
            </a:r>
          </a:p>
          <a:p>
            <a:r>
              <a:rPr lang="en-US" dirty="0"/>
              <a:t>Simplicity and consistency,</a:t>
            </a:r>
            <a:endParaRPr lang="en-GB" dirty="0"/>
          </a:p>
          <a:p>
            <a:r>
              <a:rPr lang="en-GB" dirty="0"/>
              <a:t>High-level language: ideas can be implemented quickly</a:t>
            </a:r>
          </a:p>
          <a:p>
            <a:r>
              <a:rPr lang="en-US" dirty="0"/>
              <a:t>Flexibility, </a:t>
            </a:r>
          </a:p>
          <a:p>
            <a:r>
              <a:rPr lang="en-US" dirty="0"/>
              <a:t>Platform independence</a:t>
            </a:r>
            <a:endParaRPr lang="en-GB" dirty="0"/>
          </a:p>
          <a:p>
            <a:endParaRPr lang="en-GB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0EF3A17-5AAD-CD01-8CA5-B40EA320C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34258" y="973667"/>
            <a:ext cx="1690943" cy="1690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763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81A398-73D2-49B3-9CFE-A373308D1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Installation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4B5543-7143-423F-BC08-B4E6E760604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b="1" noProof="0" dirty="0"/>
              <a:t>Windows</a:t>
            </a:r>
            <a:r>
              <a:rPr lang="en-GB" noProof="0" dirty="0"/>
              <a:t>: </a:t>
            </a:r>
            <a:r>
              <a:rPr lang="en-GB" dirty="0"/>
              <a:t>v</a:t>
            </a:r>
            <a:r>
              <a:rPr lang="en-GB" noProof="0" dirty="0" err="1"/>
              <a:t>isit</a:t>
            </a:r>
            <a:r>
              <a:rPr lang="en-GB" noProof="0" dirty="0"/>
              <a:t> </a:t>
            </a:r>
            <a:r>
              <a:rPr lang="en-GB" noProof="0" dirty="0">
                <a:hlinkClick r:id="rId2"/>
              </a:rPr>
              <a:t>https://www.python.org/downloads/</a:t>
            </a:r>
            <a:r>
              <a:rPr lang="en-GB" noProof="0" dirty="0"/>
              <a:t> to download Python (r</a:t>
            </a:r>
            <a:r>
              <a:rPr lang="en-GB" dirty="0" err="1"/>
              <a:t>ecommended</a:t>
            </a:r>
            <a:r>
              <a:rPr lang="en-GB" dirty="0"/>
              <a:t> version: 3.9 or above)</a:t>
            </a:r>
            <a:endParaRPr lang="en-GB" noProof="0" dirty="0"/>
          </a:p>
          <a:p>
            <a:r>
              <a:rPr lang="en-GB" b="1" noProof="0" dirty="0"/>
              <a:t>Linux</a:t>
            </a:r>
            <a:r>
              <a:rPr lang="en-GB" noProof="0" dirty="0"/>
              <a:t>: run the following command in terminal</a:t>
            </a:r>
          </a:p>
          <a:p>
            <a:pPr marL="376237" lvl="1" indent="0">
              <a:buNone/>
            </a:pPr>
            <a:r>
              <a:rPr lang="en-GB" sz="2000" i="1" dirty="0">
                <a:latin typeface="Consolas" panose="020B0609020204030204" pitchFamily="49" charset="0"/>
                <a:cs typeface="Arial" panose="020B0604020202020204" pitchFamily="34" charset="0"/>
              </a:rPr>
              <a:t>sudo apt-get install python3.9</a:t>
            </a:r>
          </a:p>
          <a:p>
            <a:pPr lvl="1"/>
            <a:endParaRPr lang="en-GB" noProof="0" dirty="0"/>
          </a:p>
        </p:txBody>
      </p:sp>
      <p:pic>
        <p:nvPicPr>
          <p:cNvPr id="5" name="Picture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DE2124AE-CCAD-640B-9BE3-9E9A0411C0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057" y="3429000"/>
            <a:ext cx="6813885" cy="332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660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9E15BB-014F-4FD0-B993-7D7717FC9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Installation 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A086D9-3AE0-4FA6-9C2C-581B6123DC8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noProof="0" dirty="0"/>
              <a:t>The choice of the IDE is up to you. I nevertheless recommend </a:t>
            </a:r>
            <a:r>
              <a:rPr lang="en-GB" b="1" noProof="0" dirty="0"/>
              <a:t>VS Code</a:t>
            </a:r>
            <a:r>
              <a:rPr lang="en-GB" noProof="0" dirty="0"/>
              <a:t> and will provide instructions for this IDE.</a:t>
            </a:r>
            <a:endParaRPr lang="en-GB" b="1" dirty="0"/>
          </a:p>
          <a:p>
            <a:pPr lvl="1"/>
            <a:r>
              <a:rPr lang="en-GB" noProof="0" dirty="0"/>
              <a:t>To download VS Code, visit </a:t>
            </a:r>
            <a:r>
              <a:rPr lang="en-GB" noProof="0" dirty="0">
                <a:hlinkClick r:id="rId2"/>
              </a:rPr>
              <a:t>https://code.visualstudio.com/Download</a:t>
            </a:r>
            <a:r>
              <a:rPr lang="en-GB" noProof="0" dirty="0"/>
              <a:t> 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D1A8EB4-1A5D-4138-9CD9-7059E7DEE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2823" y="2946154"/>
            <a:ext cx="6430704" cy="34546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30004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9E15BB-014F-4FD0-B993-7D7717FC9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Setup VS Code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A086D9-3AE0-4FA6-9C2C-581B6123DC8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noProof="0" dirty="0"/>
              <a:t>Open the „Extensions“ view by:</a:t>
            </a:r>
          </a:p>
          <a:p>
            <a:pPr lvl="1"/>
            <a:r>
              <a:rPr lang="en-GB" noProof="0" dirty="0"/>
              <a:t>Selecting „View“ -&gt; „Extensions“</a:t>
            </a:r>
          </a:p>
          <a:p>
            <a:pPr lvl="1"/>
            <a:r>
              <a:rPr lang="en-GB" noProof="0" dirty="0"/>
              <a:t>CTRL + Shift + X</a:t>
            </a:r>
          </a:p>
          <a:p>
            <a:r>
              <a:rPr lang="en-GB" noProof="0" dirty="0"/>
              <a:t>Search and install „Python“</a:t>
            </a:r>
          </a:p>
          <a:p>
            <a:pPr marL="0" indent="0">
              <a:buNone/>
            </a:pPr>
            <a:endParaRPr lang="en-GB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7209BFB-FA26-453A-8AE7-7F757EF6A5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44" t="12378" r="17080" b="16228"/>
          <a:stretch/>
        </p:blipFill>
        <p:spPr>
          <a:xfrm>
            <a:off x="6437194" y="1815154"/>
            <a:ext cx="614151" cy="61414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BF1E322-E8C7-474F-AC05-02E7628A5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569" y="3429001"/>
            <a:ext cx="6234862" cy="31884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18753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C8BBE8-02EF-4452-83B6-A907B58B2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VS Code (Python script)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F833C7-01A6-46FB-B085-7D8C9F9BB5E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776413" y="1866124"/>
            <a:ext cx="4571514" cy="4581331"/>
          </a:xfrm>
        </p:spPr>
        <p:txBody>
          <a:bodyPr>
            <a:normAutofit fontScale="92500"/>
          </a:bodyPr>
          <a:lstStyle/>
          <a:p>
            <a:r>
              <a:rPr lang="en-GB" noProof="0" dirty="0"/>
              <a:t>Create a new file (File - New File)</a:t>
            </a:r>
          </a:p>
          <a:p>
            <a:r>
              <a:rPr lang="en-GB" noProof="0" dirty="0"/>
              <a:t>Save the file (File-&gt; Save As…)</a:t>
            </a:r>
          </a:p>
          <a:p>
            <a:r>
              <a:rPr lang="en-GB" noProof="0" dirty="0"/>
              <a:t>Make sure it is of type python (.</a:t>
            </a:r>
            <a:r>
              <a:rPr lang="en-GB" noProof="0" dirty="0" err="1"/>
              <a:t>py</a:t>
            </a:r>
            <a:r>
              <a:rPr lang="en-GB" noProof="0" dirty="0"/>
              <a:t>)</a:t>
            </a:r>
          </a:p>
          <a:p>
            <a:r>
              <a:rPr lang="en-GB" noProof="0" dirty="0"/>
              <a:t>Scripts can be executed with F5 (debug mode), or right click + “Run Python file in terminal”</a:t>
            </a:r>
          </a:p>
          <a:p>
            <a:r>
              <a:rPr lang="en-GB" dirty="0"/>
              <a:t>To check your installation: print “Hello world!”</a:t>
            </a:r>
            <a:endParaRPr lang="en-GB" noProof="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DAC4C63-089A-483F-98A1-D4EF2015C7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5079" b="1383"/>
          <a:stretch/>
        </p:blipFill>
        <p:spPr>
          <a:xfrm>
            <a:off x="6589488" y="1800808"/>
            <a:ext cx="3528850" cy="423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827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3F13-BB03-463D-99F0-038134434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How to run Python code?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4C3AF-1495-47A7-BF77-02D938303B5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67581" y="1633174"/>
            <a:ext cx="8531976" cy="1735667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Two main ways to execute Python code:</a:t>
            </a:r>
          </a:p>
          <a:p>
            <a:pPr marL="719137" lvl="1" indent="-342900">
              <a:buFont typeface="+mj-lt"/>
              <a:buAutoNum type="arabicPeriod"/>
            </a:pPr>
            <a:r>
              <a:rPr lang="en-GB" dirty="0"/>
              <a:t>Start the </a:t>
            </a:r>
            <a:r>
              <a:rPr lang="en-GB" b="1" dirty="0"/>
              <a:t>Python interpreter </a:t>
            </a:r>
            <a:r>
              <a:rPr lang="en-GB" dirty="0"/>
              <a:t>by typing </a:t>
            </a:r>
            <a:r>
              <a:rPr lang="en-GB" dirty="0">
                <a:latin typeface="Consolas" panose="020B0609020204030204" pitchFamily="49" charset="0"/>
              </a:rPr>
              <a:t>&gt;</a:t>
            </a:r>
            <a:r>
              <a:rPr lang="en-GB" dirty="0"/>
              <a:t> </a:t>
            </a:r>
            <a:r>
              <a:rPr lang="en-GB" dirty="0">
                <a:latin typeface="Consolas" panose="020B0609020204030204" pitchFamily="49" charset="0"/>
              </a:rPr>
              <a:t>python</a:t>
            </a:r>
            <a:r>
              <a:rPr lang="en-GB" dirty="0"/>
              <a:t> in command line</a:t>
            </a:r>
            <a:br>
              <a:rPr lang="en-GB" dirty="0"/>
            </a:br>
            <a:endParaRPr lang="en-GB" dirty="0"/>
          </a:p>
          <a:p>
            <a:pPr marL="719137" lvl="1" indent="-342900">
              <a:buFont typeface="+mj-lt"/>
              <a:buAutoNum type="arabicPeriod"/>
            </a:pPr>
            <a:r>
              <a:rPr lang="en-GB" dirty="0"/>
              <a:t>Write a </a:t>
            </a:r>
            <a:r>
              <a:rPr lang="en-GB" b="1" dirty="0"/>
              <a:t>Python script </a:t>
            </a:r>
            <a:r>
              <a:rPr lang="en-GB" dirty="0"/>
              <a:t>(.</a:t>
            </a:r>
            <a:r>
              <a:rPr lang="en-GB" dirty="0" err="1"/>
              <a:t>py</a:t>
            </a:r>
            <a:r>
              <a:rPr lang="en-GB" dirty="0"/>
              <a:t> file) then execute it by typing &gt; python name_of_the_script.py in command line</a:t>
            </a:r>
          </a:p>
          <a:p>
            <a:pPr marL="719137" lvl="1" indent="-342900">
              <a:buFont typeface="+mj-lt"/>
              <a:buAutoNum type="arabicPeriod"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1F82E8-AD77-4F72-A1AA-E2E037A6F75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8495" y="3429001"/>
            <a:ext cx="5284832" cy="3300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264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D11DD7-110D-44BA-A595-728DDD5F7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Python Identifiers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0283E0-3D7C-4789-8697-57306EF6309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 noProof="0" dirty="0"/>
              <a:t>A </a:t>
            </a:r>
            <a:r>
              <a:rPr lang="en-GB" b="1" noProof="0" dirty="0"/>
              <a:t>Python identifier </a:t>
            </a:r>
            <a:r>
              <a:rPr lang="en-GB" noProof="0" dirty="0"/>
              <a:t>is a name used to identify a variable, function, class, module or other object:</a:t>
            </a:r>
          </a:p>
          <a:p>
            <a:pPr lvl="1"/>
            <a:r>
              <a:rPr lang="en-GB" noProof="0" dirty="0"/>
              <a:t>Starts with a letter A to Z or a to z or an underscore (_) followed by zero or more letters, underscores and digits (0 to 9).</a:t>
            </a:r>
          </a:p>
          <a:p>
            <a:pPr lvl="1"/>
            <a:r>
              <a:rPr lang="en-GB" noProof="0" dirty="0"/>
              <a:t>Case sensitive.</a:t>
            </a:r>
          </a:p>
          <a:p>
            <a:r>
              <a:rPr lang="en-GB" noProof="0" dirty="0"/>
              <a:t>When using </a:t>
            </a:r>
            <a:r>
              <a:rPr lang="en-GB" dirty="0"/>
              <a:t>a Python identifier, avoid:</a:t>
            </a:r>
          </a:p>
          <a:p>
            <a:pPr lvl="1"/>
            <a:r>
              <a:rPr lang="en-GB" noProof="0" dirty="0"/>
              <a:t>Using a Python keyword.</a:t>
            </a:r>
          </a:p>
          <a:p>
            <a:pPr lvl="1"/>
            <a:r>
              <a:rPr lang="en-GB" dirty="0"/>
              <a:t>Starting or ending the identifier with underscore (_) unless you have a specific reason to do so.</a:t>
            </a:r>
            <a:endParaRPr lang="en-GB" noProof="0" dirty="0"/>
          </a:p>
          <a:p>
            <a:r>
              <a:rPr lang="en-GB" dirty="0"/>
              <a:t>Python is a </a:t>
            </a:r>
            <a:r>
              <a:rPr lang="en-GB" b="1" dirty="0"/>
              <a:t>dynamically typed</a:t>
            </a:r>
            <a:r>
              <a:rPr lang="en-GB" dirty="0"/>
              <a:t> language:</a:t>
            </a:r>
          </a:p>
          <a:p>
            <a:pPr lvl="1"/>
            <a:r>
              <a:rPr lang="en-GB" noProof="0" dirty="0"/>
              <a:t>No need to declare any variable type.</a:t>
            </a:r>
          </a:p>
          <a:p>
            <a:pPr lvl="1"/>
            <a:r>
              <a:rPr lang="en-GB" dirty="0"/>
              <a:t>The type of a variable can be changed in the same script.</a:t>
            </a:r>
          </a:p>
          <a:p>
            <a:pPr lvl="1"/>
            <a:r>
              <a:rPr lang="en-GB" dirty="0"/>
              <a:t>E.g.: </a:t>
            </a:r>
            <a:r>
              <a:rPr lang="en-GB" sz="1400" dirty="0" err="1">
                <a:latin typeface="Consolas" panose="020B0609020204030204" pitchFamily="49" charset="0"/>
              </a:rPr>
              <a:t>aVariable</a:t>
            </a:r>
            <a:r>
              <a:rPr lang="en-GB" sz="1400" dirty="0">
                <a:latin typeface="Consolas" panose="020B0609020204030204" pitchFamily="49" charset="0"/>
              </a:rPr>
              <a:t> = 0</a:t>
            </a:r>
            <a:br>
              <a:rPr lang="en-GB" sz="1400" dirty="0">
                <a:latin typeface="Consolas" panose="020B0609020204030204" pitchFamily="49" charset="0"/>
              </a:rPr>
            </a:br>
            <a:r>
              <a:rPr lang="en-GB" sz="1400" dirty="0">
                <a:latin typeface="Consolas" panose="020B0609020204030204" pitchFamily="49" charset="0"/>
              </a:rPr>
              <a:t>     …</a:t>
            </a:r>
            <a:br>
              <a:rPr lang="en-GB" sz="1400" dirty="0">
                <a:latin typeface="Consolas" panose="020B0609020204030204" pitchFamily="49" charset="0"/>
              </a:rPr>
            </a:br>
            <a:r>
              <a:rPr lang="en-GB" sz="1400" dirty="0">
                <a:latin typeface="Consolas" panose="020B0609020204030204" pitchFamily="49" charset="0"/>
              </a:rPr>
              <a:t>     </a:t>
            </a:r>
            <a:r>
              <a:rPr lang="en-GB" sz="1400" dirty="0" err="1">
                <a:latin typeface="Consolas" panose="020B0609020204030204" pitchFamily="49" charset="0"/>
              </a:rPr>
              <a:t>aVariable</a:t>
            </a:r>
            <a:r>
              <a:rPr lang="en-GB" sz="1400" dirty="0">
                <a:latin typeface="Consolas" panose="020B0609020204030204" pitchFamily="49" charset="0"/>
              </a:rPr>
              <a:t> = “Hello world!”</a:t>
            </a:r>
          </a:p>
        </p:txBody>
      </p:sp>
    </p:spTree>
    <p:extLst>
      <p:ext uri="{BB962C8B-B14F-4D97-AF65-F5344CB8AC3E}">
        <p14:creationId xmlns:p14="http://schemas.microsoft.com/office/powerpoint/2010/main" val="3431448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6A9C79-5927-4AA2-9661-59FDFBBD6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Python keywords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A238F7-6DCA-4B53-AEA5-B5F8A50185E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noProof="0" dirty="0"/>
              <a:t>Reserved words (cannot use them as constant or variable)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7CD3A5B-B07F-48A9-A24A-F78EF75BD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284" y="2276956"/>
            <a:ext cx="6427432" cy="399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194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F7D7A5-6A0F-4C62-B5CE-985CC6DC9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Naming conventions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CEA6DF-76C5-496B-9543-59B5B2C3D9E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noProof="0" dirty="0"/>
              <a:t>Class names start with an uppercase letter. All other identifiers start with a lowercase letter.</a:t>
            </a:r>
          </a:p>
          <a:p>
            <a:r>
              <a:rPr lang="en-GB" noProof="0" dirty="0"/>
              <a:t>Starting an identifier with a single leading underscore indicates that the identifier is private.</a:t>
            </a:r>
          </a:p>
          <a:p>
            <a:r>
              <a:rPr lang="en-GB" noProof="0" dirty="0"/>
              <a:t>Starting an identifier with two leading underscores indicates a strongly private identifier.</a:t>
            </a:r>
          </a:p>
          <a:p>
            <a:r>
              <a:rPr lang="en-GB" noProof="0" dirty="0"/>
              <a:t>Identifiers which start and end with two trailing underscores  are language-defined special names. The most useful examples are:</a:t>
            </a:r>
          </a:p>
          <a:p>
            <a:pPr lvl="1"/>
            <a:r>
              <a:rPr lang="en-GB" noProof="0" dirty="0">
                <a:latin typeface="Consolas" panose="020B0609020204030204" pitchFamily="49" charset="0"/>
              </a:rPr>
              <a:t>__</a:t>
            </a:r>
            <a:r>
              <a:rPr lang="en-GB" noProof="0" dirty="0" err="1">
                <a:latin typeface="Consolas" panose="020B0609020204030204" pitchFamily="49" charset="0"/>
              </a:rPr>
              <a:t>init</a:t>
            </a:r>
            <a:r>
              <a:rPr lang="en-GB" noProof="0" dirty="0">
                <a:latin typeface="Consolas" panose="020B0609020204030204" pitchFamily="49" charset="0"/>
              </a:rPr>
              <a:t>__ </a:t>
            </a:r>
            <a:r>
              <a:rPr lang="en-GB" noProof="0" dirty="0"/>
              <a:t>which refer to the class constructor</a:t>
            </a:r>
          </a:p>
          <a:p>
            <a:pPr lvl="1"/>
            <a:r>
              <a:rPr lang="en-GB" noProof="0" dirty="0">
                <a:latin typeface="Consolas" panose="020B0609020204030204" pitchFamily="49" charset="0"/>
              </a:rPr>
              <a:t>__name__ </a:t>
            </a:r>
            <a:r>
              <a:rPr lang="en-GB" noProof="0" dirty="0"/>
              <a:t>and </a:t>
            </a:r>
            <a:r>
              <a:rPr lang="en-GB" noProof="0" dirty="0">
                <a:latin typeface="Consolas" panose="020B0609020204030204" pitchFamily="49" charset="0"/>
              </a:rPr>
              <a:t>__main__ </a:t>
            </a:r>
            <a:r>
              <a:rPr lang="en-GB" noProof="0" dirty="0"/>
              <a:t>which are used to define a main file:</a:t>
            </a:r>
            <a:br>
              <a:rPr lang="en-GB" noProof="0" dirty="0"/>
            </a:br>
            <a:br>
              <a:rPr lang="en-GB" noProof="0" dirty="0"/>
            </a:br>
            <a:r>
              <a:rPr lang="en-GB" sz="1600" dirty="0">
                <a:latin typeface="Consolas" panose="020B0609020204030204" pitchFamily="49" charset="0"/>
              </a:rPr>
              <a:t>if __name__ == “___main__”:</a:t>
            </a:r>
            <a:br>
              <a:rPr lang="en-GB" sz="1600" dirty="0">
                <a:latin typeface="Consolas" panose="020B0609020204030204" pitchFamily="49" charset="0"/>
              </a:rPr>
            </a:br>
            <a:r>
              <a:rPr lang="en-GB" sz="1600" dirty="0">
                <a:latin typeface="Consolas" panose="020B0609020204030204" pitchFamily="49" charset="0"/>
              </a:rPr>
              <a:t>     ……</a:t>
            </a:r>
          </a:p>
          <a:p>
            <a:endParaRPr lang="en-GB" noProof="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4EA93DC-FEB2-4D2E-9DAE-9620CED7F6AD}"/>
              </a:ext>
            </a:extLst>
          </p:cNvPr>
          <p:cNvSpPr/>
          <p:nvPr/>
        </p:nvSpPr>
        <p:spPr>
          <a:xfrm>
            <a:off x="6274886" y="1010833"/>
            <a:ext cx="39359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400" dirty="0">
                <a:hlinkClick r:id="rId3"/>
              </a:rPr>
              <a:t>https://visualgit.readthedocs.io/en/latest/pages/naming_convention.html</a:t>
            </a:r>
            <a:r>
              <a:rPr lang="de-DE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8581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EDD473-F6B5-4F7B-B607-B6F7ECE64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853350"/>
            <a:ext cx="8229600" cy="560387"/>
          </a:xfrm>
        </p:spPr>
        <p:txBody>
          <a:bodyPr>
            <a:normAutofit fontScale="90000"/>
          </a:bodyPr>
          <a:lstStyle/>
          <a:p>
            <a:r>
              <a:rPr lang="en-GB" noProof="0" dirty="0"/>
              <a:t>Indentation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6A8FAD-1BB9-4CC0-B2F8-4970E60F46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79614" y="1488796"/>
            <a:ext cx="4638900" cy="5164667"/>
          </a:xfrm>
        </p:spPr>
        <p:txBody>
          <a:bodyPr>
            <a:normAutofit fontScale="92500" lnSpcReduction="10000"/>
          </a:bodyPr>
          <a:lstStyle/>
          <a:p>
            <a:r>
              <a:rPr lang="en-GB" noProof="0" dirty="0"/>
              <a:t>In Python, no braces to indicate blocks of code</a:t>
            </a:r>
          </a:p>
          <a:p>
            <a:r>
              <a:rPr lang="en-GB" noProof="0" dirty="0"/>
              <a:t>Denoted by </a:t>
            </a:r>
            <a:r>
              <a:rPr lang="en-GB" b="1" noProof="0" dirty="0"/>
              <a:t>line indentation</a:t>
            </a:r>
          </a:p>
          <a:p>
            <a:r>
              <a:rPr lang="en-GB" noProof="0" dirty="0"/>
              <a:t>Number of spaces in the indentation up to you, but all statements within the block must be indented the same amount</a:t>
            </a:r>
          </a:p>
          <a:p>
            <a:pPr lvl="1"/>
            <a:r>
              <a:rPr lang="en-GB" dirty="0"/>
              <a:t>Commonly used indentations: </a:t>
            </a:r>
            <a:r>
              <a:rPr lang="en-GB" b="1" dirty="0"/>
              <a:t>tabs</a:t>
            </a:r>
            <a:r>
              <a:rPr lang="en-GB" dirty="0"/>
              <a:t> or </a:t>
            </a:r>
            <a:r>
              <a:rPr lang="en-GB" b="1" dirty="0"/>
              <a:t>4 spaces.</a:t>
            </a:r>
          </a:p>
          <a:p>
            <a:r>
              <a:rPr lang="en-GB" noProof="0" dirty="0"/>
              <a:t>Notes: </a:t>
            </a:r>
          </a:p>
          <a:p>
            <a:pPr lvl="1"/>
            <a:r>
              <a:rPr lang="en-GB" noProof="0" dirty="0"/>
              <a:t>mixing spaces and tabs together </a:t>
            </a:r>
            <a:r>
              <a:rPr lang="en-GB" noProof="0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GB" noProof="0" dirty="0"/>
              <a:t>error!</a:t>
            </a:r>
          </a:p>
          <a:p>
            <a:pPr lvl="1"/>
            <a:r>
              <a:rPr lang="en-GB" dirty="0"/>
              <a:t>no need to use any character to denote an end of line (e.g. “;”)</a:t>
            </a:r>
            <a:endParaRPr lang="en-GB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5F984B6-3EC9-4975-A28D-A3CD79CD55ED}"/>
              </a:ext>
            </a:extLst>
          </p:cNvPr>
          <p:cNvGrpSpPr/>
          <p:nvPr/>
        </p:nvGrpSpPr>
        <p:grpSpPr>
          <a:xfrm>
            <a:off x="6833118" y="1368309"/>
            <a:ext cx="3377682" cy="2199791"/>
            <a:chOff x="872835" y="3539884"/>
            <a:chExt cx="4738255" cy="3140230"/>
          </a:xfrm>
        </p:grpSpPr>
        <p:sp>
          <p:nvSpPr>
            <p:cNvPr id="10" name="Rechteck 3">
              <a:extLst>
                <a:ext uri="{FF2B5EF4-FFF2-40B4-BE49-F238E27FC236}">
                  <a16:creationId xmlns:a16="http://schemas.microsoft.com/office/drawing/2014/main" id="{695FE8FB-5519-42FD-AAFA-2F0023094506}"/>
                </a:ext>
              </a:extLst>
            </p:cNvPr>
            <p:cNvSpPr/>
            <p:nvPr/>
          </p:nvSpPr>
          <p:spPr>
            <a:xfrm>
              <a:off x="872836" y="3539884"/>
              <a:ext cx="3463637" cy="60955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de-DE" sz="16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Block 1</a:t>
              </a:r>
            </a:p>
          </p:txBody>
        </p:sp>
        <p:sp>
          <p:nvSpPr>
            <p:cNvPr id="11" name="Rechteck 4">
              <a:extLst>
                <a:ext uri="{FF2B5EF4-FFF2-40B4-BE49-F238E27FC236}">
                  <a16:creationId xmlns:a16="http://schemas.microsoft.com/office/drawing/2014/main" id="{12D9C046-0218-4802-881A-4FA8989966FC}"/>
                </a:ext>
              </a:extLst>
            </p:cNvPr>
            <p:cNvSpPr/>
            <p:nvPr/>
          </p:nvSpPr>
          <p:spPr>
            <a:xfrm>
              <a:off x="872835" y="6070563"/>
              <a:ext cx="3463637" cy="60955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16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Block 1, continuation</a:t>
              </a:r>
            </a:p>
          </p:txBody>
        </p:sp>
        <p:sp>
          <p:nvSpPr>
            <p:cNvPr id="12" name="Rechteck 5">
              <a:extLst>
                <a:ext uri="{FF2B5EF4-FFF2-40B4-BE49-F238E27FC236}">
                  <a16:creationId xmlns:a16="http://schemas.microsoft.com/office/drawing/2014/main" id="{ACFDF27A-F472-42E0-8C8F-65787801F662}"/>
                </a:ext>
              </a:extLst>
            </p:cNvPr>
            <p:cNvSpPr/>
            <p:nvPr/>
          </p:nvSpPr>
          <p:spPr>
            <a:xfrm>
              <a:off x="1537854" y="4170701"/>
              <a:ext cx="3463637" cy="609551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de-DE" sz="16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Block 2</a:t>
              </a:r>
            </a:p>
          </p:txBody>
        </p:sp>
        <p:sp>
          <p:nvSpPr>
            <p:cNvPr id="13" name="Rechteck 6">
              <a:extLst>
                <a:ext uri="{FF2B5EF4-FFF2-40B4-BE49-F238E27FC236}">
                  <a16:creationId xmlns:a16="http://schemas.microsoft.com/office/drawing/2014/main" id="{108DC296-9A67-44BD-AD83-F607A906E5AB}"/>
                </a:ext>
              </a:extLst>
            </p:cNvPr>
            <p:cNvSpPr/>
            <p:nvPr/>
          </p:nvSpPr>
          <p:spPr>
            <a:xfrm>
              <a:off x="1537854" y="5432335"/>
              <a:ext cx="3463637" cy="609551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16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Block 2, continuation</a:t>
              </a:r>
            </a:p>
          </p:txBody>
        </p:sp>
        <p:sp>
          <p:nvSpPr>
            <p:cNvPr id="14" name="Rechteck 7">
              <a:extLst>
                <a:ext uri="{FF2B5EF4-FFF2-40B4-BE49-F238E27FC236}">
                  <a16:creationId xmlns:a16="http://schemas.microsoft.com/office/drawing/2014/main" id="{B74D5520-B608-4AD8-AB10-FDE967A91E85}"/>
                </a:ext>
              </a:extLst>
            </p:cNvPr>
            <p:cNvSpPr/>
            <p:nvPr/>
          </p:nvSpPr>
          <p:spPr>
            <a:xfrm>
              <a:off x="2147453" y="4801518"/>
              <a:ext cx="3463637" cy="60955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de-DE" sz="16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Block 3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1861841-2AF6-42B3-B790-A1150CB088BC}"/>
              </a:ext>
            </a:extLst>
          </p:cNvPr>
          <p:cNvGrpSpPr/>
          <p:nvPr/>
        </p:nvGrpSpPr>
        <p:grpSpPr>
          <a:xfrm>
            <a:off x="6833118" y="4235514"/>
            <a:ext cx="3377682" cy="1943426"/>
            <a:chOff x="872835" y="3539884"/>
            <a:chExt cx="4738255" cy="3140230"/>
          </a:xfrm>
        </p:grpSpPr>
        <p:sp>
          <p:nvSpPr>
            <p:cNvPr id="16" name="Rechteck 3">
              <a:extLst>
                <a:ext uri="{FF2B5EF4-FFF2-40B4-BE49-F238E27FC236}">
                  <a16:creationId xmlns:a16="http://schemas.microsoft.com/office/drawing/2014/main" id="{7A5DCB18-AD15-4AF5-A13D-E909B307582F}"/>
                </a:ext>
              </a:extLst>
            </p:cNvPr>
            <p:cNvSpPr/>
            <p:nvPr/>
          </p:nvSpPr>
          <p:spPr>
            <a:xfrm>
              <a:off x="872836" y="3539884"/>
              <a:ext cx="3463637" cy="60955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for </a:t>
              </a:r>
              <a:r>
                <a:rPr lang="en-GB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idx</a:t>
              </a:r>
              <a:r>
                <a:rPr lang="en-GB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 in range(n):</a:t>
              </a:r>
            </a:p>
          </p:txBody>
        </p:sp>
        <p:sp>
          <p:nvSpPr>
            <p:cNvPr id="17" name="Rechteck 4">
              <a:extLst>
                <a:ext uri="{FF2B5EF4-FFF2-40B4-BE49-F238E27FC236}">
                  <a16:creationId xmlns:a16="http://schemas.microsoft.com/office/drawing/2014/main" id="{A16BB139-5A30-4A67-99AC-656B24980FE4}"/>
                </a:ext>
              </a:extLst>
            </p:cNvPr>
            <p:cNvSpPr/>
            <p:nvPr/>
          </p:nvSpPr>
          <p:spPr>
            <a:xfrm>
              <a:off x="872835" y="6070563"/>
              <a:ext cx="3463637" cy="60955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Task outside for</a:t>
              </a:r>
            </a:p>
          </p:txBody>
        </p:sp>
        <p:sp>
          <p:nvSpPr>
            <p:cNvPr id="18" name="Rechteck 5">
              <a:extLst>
                <a:ext uri="{FF2B5EF4-FFF2-40B4-BE49-F238E27FC236}">
                  <a16:creationId xmlns:a16="http://schemas.microsoft.com/office/drawing/2014/main" id="{A0794EFE-2213-4AF4-8008-6D6D34C9CDB0}"/>
                </a:ext>
              </a:extLst>
            </p:cNvPr>
            <p:cNvSpPr/>
            <p:nvPr/>
          </p:nvSpPr>
          <p:spPr>
            <a:xfrm>
              <a:off x="1537854" y="4170701"/>
              <a:ext cx="3463637" cy="609551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if B:</a:t>
              </a:r>
            </a:p>
          </p:txBody>
        </p:sp>
        <p:sp>
          <p:nvSpPr>
            <p:cNvPr id="19" name="Rechteck 6">
              <a:extLst>
                <a:ext uri="{FF2B5EF4-FFF2-40B4-BE49-F238E27FC236}">
                  <a16:creationId xmlns:a16="http://schemas.microsoft.com/office/drawing/2014/main" id="{3B9EC7B7-1660-48BF-B01A-4CACAA137695}"/>
                </a:ext>
              </a:extLst>
            </p:cNvPr>
            <p:cNvSpPr/>
            <p:nvPr/>
          </p:nvSpPr>
          <p:spPr>
            <a:xfrm>
              <a:off x="1537854" y="5432335"/>
              <a:ext cx="3463637" cy="609551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Task inside for</a:t>
              </a:r>
              <a:r>
                <a:rPr lang="en-GB" sz="24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	</a:t>
              </a:r>
            </a:p>
          </p:txBody>
        </p:sp>
        <p:sp>
          <p:nvSpPr>
            <p:cNvPr id="20" name="Rechteck 7">
              <a:extLst>
                <a:ext uri="{FF2B5EF4-FFF2-40B4-BE49-F238E27FC236}">
                  <a16:creationId xmlns:a16="http://schemas.microsoft.com/office/drawing/2014/main" id="{12E8EF8F-CF4D-4E96-A92A-B74D5B521CC5}"/>
                </a:ext>
              </a:extLst>
            </p:cNvPr>
            <p:cNvSpPr/>
            <p:nvPr/>
          </p:nvSpPr>
          <p:spPr>
            <a:xfrm>
              <a:off x="2147453" y="4801518"/>
              <a:ext cx="3463637" cy="60955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Task inside if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2100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99B199-9B6E-4064-8679-6F345B422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Multi-Line Statements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64FE944-296A-44F1-89BB-734C8C9BC6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noProof="0" dirty="0"/>
              <a:t>Statements in Python typically end with a new line</a:t>
            </a:r>
          </a:p>
          <a:p>
            <a:r>
              <a:rPr lang="en-GB" noProof="0" dirty="0"/>
              <a:t>Use of the line continuation character (\)</a:t>
            </a:r>
          </a:p>
          <a:p>
            <a:pPr marL="793750" lvl="2" indent="0">
              <a:buNone/>
            </a:pPr>
            <a:r>
              <a:rPr lang="en-GB" i="1" dirty="0"/>
              <a:t>total = item_one + \</a:t>
            </a:r>
          </a:p>
          <a:p>
            <a:pPr marL="793750" lvl="2" indent="0">
              <a:buNone/>
            </a:pPr>
            <a:r>
              <a:rPr lang="en-GB" i="1" dirty="0"/>
              <a:t>        item_two + \</a:t>
            </a:r>
          </a:p>
          <a:p>
            <a:pPr marL="793750" lvl="2" indent="0">
              <a:buNone/>
            </a:pPr>
            <a:r>
              <a:rPr lang="en-GB" i="1" dirty="0"/>
              <a:t>        item_three</a:t>
            </a:r>
          </a:p>
          <a:p>
            <a:r>
              <a:rPr lang="en-GB" noProof="0" dirty="0"/>
              <a:t>Statements contained within the [], {}, or () brackets do not need to use the line continuation character</a:t>
            </a:r>
          </a:p>
          <a:p>
            <a:pPr marL="798512" lvl="2" indent="0">
              <a:buNone/>
            </a:pPr>
            <a:r>
              <a:rPr lang="en-GB" i="1" dirty="0"/>
              <a:t>days = ['Monday', 'Tuesday', 'Wednesday',</a:t>
            </a:r>
          </a:p>
          <a:p>
            <a:pPr marL="798512" lvl="2" indent="0">
              <a:buNone/>
            </a:pPr>
            <a:r>
              <a:rPr lang="en-GB" i="1" dirty="0"/>
              <a:t>        'Thursday', 'Friday']</a:t>
            </a:r>
          </a:p>
        </p:txBody>
      </p:sp>
    </p:spTree>
    <p:extLst>
      <p:ext uri="{BB962C8B-B14F-4D97-AF65-F5344CB8AC3E}">
        <p14:creationId xmlns:p14="http://schemas.microsoft.com/office/powerpoint/2010/main" val="3742279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F23F2D-C04C-475C-ABD1-236D9552F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Quotation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C26D081-06CF-4CCD-98A8-954B339B8D6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noProof="0" dirty="0"/>
              <a:t>Python accepts single ('), double (") and triple (''' or """) quotes to denote string literals</a:t>
            </a:r>
          </a:p>
          <a:p>
            <a:r>
              <a:rPr lang="en-GB" noProof="0" dirty="0"/>
              <a:t>Start and end same type</a:t>
            </a:r>
          </a:p>
          <a:p>
            <a:r>
              <a:rPr lang="en-GB" noProof="0" dirty="0"/>
              <a:t>Triple quotes are used to span the string across multiple lines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C3603A7-5691-4D1C-97D4-541DEE9267F8}"/>
              </a:ext>
            </a:extLst>
          </p:cNvPr>
          <p:cNvSpPr txBox="1"/>
          <p:nvPr/>
        </p:nvSpPr>
        <p:spPr>
          <a:xfrm>
            <a:off x="3051629" y="4275666"/>
            <a:ext cx="6088743" cy="16086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word =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'word'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sentence =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"This is a sentence."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paragraph =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"""This is a paragraph. It is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made up of multiple lines and sentences."""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159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02E133-F418-414B-A1B4-85121E066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Comments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FBD22B-62C2-47C6-9394-1430DB909B9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79614" y="1887298"/>
            <a:ext cx="3919264" cy="4191001"/>
          </a:xfrm>
        </p:spPr>
        <p:txBody>
          <a:bodyPr>
            <a:normAutofit fontScale="92500" lnSpcReduction="20000"/>
          </a:bodyPr>
          <a:lstStyle/>
          <a:p>
            <a:r>
              <a:rPr lang="en-GB" noProof="0" dirty="0"/>
              <a:t>A </a:t>
            </a:r>
            <a:r>
              <a:rPr lang="en-GB" b="1" noProof="0" dirty="0"/>
              <a:t>hash sign (#) </a:t>
            </a:r>
            <a:r>
              <a:rPr lang="en-GB" noProof="0" dirty="0"/>
              <a:t>that is not inside a string literal begins a comment -&gt; whole line is commented (ignored by the interpreter)</a:t>
            </a:r>
          </a:p>
          <a:p>
            <a:r>
              <a:rPr lang="en-GB" noProof="0" dirty="0"/>
              <a:t>Can be used to comment multiple lines in a row</a:t>
            </a:r>
          </a:p>
          <a:p>
            <a:r>
              <a:rPr lang="en-GB" b="1" noProof="0" dirty="0"/>
              <a:t>Triple-quoted string </a:t>
            </a:r>
            <a:r>
              <a:rPr lang="en-GB" noProof="0" dirty="0"/>
              <a:t>is also ignored by Python interpreter and can be used as a multiline comments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E9D7D12-8E2B-4A5E-BC67-5B11DC001FBA}"/>
              </a:ext>
            </a:extLst>
          </p:cNvPr>
          <p:cNvSpPr txBox="1"/>
          <p:nvPr/>
        </p:nvSpPr>
        <p:spPr>
          <a:xfrm>
            <a:off x="7166430" y="2705655"/>
            <a:ext cx="3044371" cy="25542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#This is a comment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"Hello World"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2000" dirty="0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'''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This is 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a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multirow comment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'''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2036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071E3E-41F3-47B2-B96E-3703CE508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Basic operations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E7B2F6-BA82-4B6E-91C5-BDA0BBB9238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79614" y="1693334"/>
            <a:ext cx="8459787" cy="5164667"/>
          </a:xfrm>
        </p:spPr>
        <p:txBody>
          <a:bodyPr/>
          <a:lstStyle/>
          <a:p>
            <a:r>
              <a:rPr lang="en-US" dirty="0"/>
              <a:t>The operators +, -, * and / work just like in most other languages</a:t>
            </a:r>
          </a:p>
          <a:p>
            <a:r>
              <a:rPr lang="en-US" dirty="0"/>
              <a:t>The standard comparison operators are written the same as in C: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&lt; 	(less than)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&gt;	(greater than)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== 	(equal to)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 &lt;= 	(less than or equal to)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 &gt;= 	(greater than or equal to)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!= 	(not equal to)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Modulo operation: 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Floor division:  a // b</a:t>
            </a:r>
          </a:p>
        </p:txBody>
      </p:sp>
    </p:spTree>
    <p:extLst>
      <p:ext uri="{BB962C8B-B14F-4D97-AF65-F5344CB8AC3E}">
        <p14:creationId xmlns:p14="http://schemas.microsoft.com/office/powerpoint/2010/main" val="497167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B20614-F023-46E0-8747-88FD5CF72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Assigning values to variables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D544A0-B823-4D7A-964D-7069620EEFD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79614" y="1513219"/>
            <a:ext cx="8232775" cy="2194745"/>
          </a:xfrm>
        </p:spPr>
        <p:txBody>
          <a:bodyPr>
            <a:normAutofit lnSpcReduction="10000"/>
          </a:bodyPr>
          <a:lstStyle/>
          <a:p>
            <a:r>
              <a:rPr lang="en-GB" noProof="0" dirty="0"/>
              <a:t>Variables do not need explicit declaration to reserve memory space</a:t>
            </a:r>
          </a:p>
          <a:p>
            <a:r>
              <a:rPr lang="en-GB" noProof="0" dirty="0"/>
              <a:t>No type needed</a:t>
            </a:r>
          </a:p>
          <a:p>
            <a:r>
              <a:rPr lang="en-GB" noProof="0" dirty="0"/>
              <a:t>Equal sign (=) </a:t>
            </a:r>
          </a:p>
          <a:p>
            <a:r>
              <a:rPr lang="en-GB" noProof="0" dirty="0"/>
              <a:t>delete entire variables: </a:t>
            </a:r>
            <a:r>
              <a:rPr lang="en-GB" i="1" noProof="0" dirty="0"/>
              <a:t>del *variable name*</a:t>
            </a:r>
          </a:p>
          <a:p>
            <a:endParaRPr lang="en-GB" noProof="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806EBCB-B9A2-4724-AB29-C898611D1359}"/>
              </a:ext>
            </a:extLst>
          </p:cNvPr>
          <p:cNvSpPr txBox="1"/>
          <p:nvPr/>
        </p:nvSpPr>
        <p:spPr>
          <a:xfrm>
            <a:off x="3051629" y="3652545"/>
            <a:ext cx="6088743" cy="2969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# An integer assignment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counter = </a:t>
            </a:r>
            <a:r>
              <a:rPr lang="en-US" sz="1600" dirty="0">
                <a:solidFill>
                  <a:srgbClr val="09885A"/>
                </a:solidFill>
                <a:latin typeface="Consolas" panose="020B0609020204030204" pitchFamily="49" charset="0"/>
              </a:rPr>
              <a:t>100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# A floating point 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miles = </a:t>
            </a:r>
            <a:r>
              <a:rPr lang="en-US" sz="1600" dirty="0">
                <a:solidFill>
                  <a:srgbClr val="09885A"/>
                </a:solidFill>
                <a:latin typeface="Consolas" panose="020B0609020204030204" pitchFamily="49" charset="0"/>
              </a:rPr>
              <a:t>1000.0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# A string 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name =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"John"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# one line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counter, miles, name = </a:t>
            </a:r>
            <a:r>
              <a:rPr lang="en-US" sz="1600" dirty="0">
                <a:solidFill>
                  <a:srgbClr val="09885A"/>
                </a:solidFill>
                <a:latin typeface="Consolas" panose="020B0609020204030204" pitchFamily="49" charset="0"/>
              </a:rPr>
              <a:t>100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85A"/>
                </a:solidFill>
                <a:latin typeface="Consolas" panose="020B0609020204030204" pitchFamily="49" charset="0"/>
              </a:rPr>
              <a:t>1000.0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"John"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# Assign single value to several variables 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a = b = c = </a:t>
            </a:r>
            <a:r>
              <a:rPr lang="en-US" sz="16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</a:p>
          <a:p>
            <a:r>
              <a:rPr lang="de-DE" sz="1600" dirty="0">
                <a:solidFill>
                  <a:srgbClr val="008000"/>
                </a:solidFill>
                <a:latin typeface="Consolas" panose="020B0609020204030204" pitchFamily="49" charset="0"/>
              </a:rPr>
              <a:t># Delete a variable</a:t>
            </a:r>
            <a:endParaRPr lang="de-DE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AF00DB"/>
                </a:solidFill>
                <a:latin typeface="Consolas" panose="020B0609020204030204" pitchFamily="49" charset="0"/>
              </a:rPr>
              <a:t>del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 a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341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372459-CE89-44F8-9BC9-8650B8D2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Standard data types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85AF83-6B8A-48B3-B2E3-091E0933488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noProof="0" dirty="0"/>
              <a:t>Python has six standard data types </a:t>
            </a:r>
          </a:p>
          <a:p>
            <a:pPr lvl="1"/>
            <a:r>
              <a:rPr lang="en-GB" noProof="0" dirty="0"/>
              <a:t>Numbers</a:t>
            </a:r>
          </a:p>
          <a:p>
            <a:pPr lvl="1"/>
            <a:r>
              <a:rPr lang="en-GB" dirty="0"/>
              <a:t>Boolean</a:t>
            </a:r>
            <a:endParaRPr lang="en-GB" noProof="0" dirty="0"/>
          </a:p>
          <a:p>
            <a:pPr lvl="1"/>
            <a:r>
              <a:rPr lang="en-GB" noProof="0" dirty="0"/>
              <a:t>String</a:t>
            </a:r>
          </a:p>
          <a:p>
            <a:pPr lvl="1"/>
            <a:r>
              <a:rPr lang="en-GB" noProof="0" dirty="0"/>
              <a:t>List</a:t>
            </a:r>
          </a:p>
          <a:p>
            <a:pPr lvl="1"/>
            <a:r>
              <a:rPr lang="en-GB" noProof="0" dirty="0"/>
              <a:t>Tuple</a:t>
            </a:r>
          </a:p>
          <a:p>
            <a:pPr lvl="1"/>
            <a:r>
              <a:rPr lang="en-GB" noProof="0" dirty="0"/>
              <a:t>Dictionary</a:t>
            </a:r>
          </a:p>
          <a:p>
            <a:r>
              <a:rPr lang="en-GB" dirty="0"/>
              <a:t>For numbers: integer, float, complex</a:t>
            </a:r>
          </a:p>
          <a:p>
            <a:r>
              <a:rPr lang="en-GB" noProof="0" dirty="0"/>
              <a:t>For Booleans: </a:t>
            </a:r>
            <a:r>
              <a:rPr lang="en-GB" noProof="0" dirty="0">
                <a:latin typeface="Consolas" panose="020B0609020204030204" pitchFamily="49" charset="0"/>
              </a:rPr>
              <a:t>True, False</a:t>
            </a:r>
          </a:p>
          <a:p>
            <a:pPr lvl="1"/>
            <a:r>
              <a:rPr lang="en-GB" dirty="0"/>
              <a:t>Note: in Python 3.x, Booleans inherit from integers, i.e. </a:t>
            </a:r>
            <a:br>
              <a:rPr lang="en-GB" dirty="0"/>
            </a:br>
            <a:r>
              <a:rPr lang="en-GB" dirty="0">
                <a:latin typeface="Consolas" panose="020B0609020204030204" pitchFamily="49" charset="0"/>
              </a:rPr>
              <a:t>True == 1 </a:t>
            </a:r>
            <a:r>
              <a:rPr lang="en-GB" dirty="0"/>
              <a:t>and </a:t>
            </a:r>
            <a:r>
              <a:rPr lang="en-GB" dirty="0">
                <a:latin typeface="Consolas" panose="020B0609020204030204" pitchFamily="49" charset="0"/>
              </a:rPr>
              <a:t>False == 0 </a:t>
            </a:r>
            <a:r>
              <a:rPr lang="en-GB" dirty="0"/>
              <a:t>will both return </a:t>
            </a:r>
            <a:r>
              <a:rPr lang="en-GB" dirty="0">
                <a:latin typeface="Consolas" panose="020B0609020204030204" pitchFamily="49" charset="0"/>
              </a:rPr>
              <a:t>True</a:t>
            </a:r>
            <a:r>
              <a:rPr lang="en-GB" dirty="0"/>
              <a:t>.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1910824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CB0A0F-E160-4DB6-9626-AAA6FDDC1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Lists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EAF2F1-58C5-4DF9-A52A-E2A705C6297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79614" y="1693334"/>
            <a:ext cx="8232775" cy="2435322"/>
          </a:xfrm>
        </p:spPr>
        <p:txBody>
          <a:bodyPr>
            <a:normAutofit fontScale="92500" lnSpcReduction="10000"/>
          </a:bodyPr>
          <a:lstStyle/>
          <a:p>
            <a:r>
              <a:rPr lang="en-GB" noProof="0" dirty="0"/>
              <a:t>Items separated by commas and enclosed within square brackets ([])</a:t>
            </a:r>
          </a:p>
          <a:p>
            <a:pPr lvl="1"/>
            <a:r>
              <a:rPr lang="en-GB" noProof="0" dirty="0"/>
              <a:t>Similar to arrays in C.</a:t>
            </a:r>
          </a:p>
          <a:p>
            <a:r>
              <a:rPr lang="en-GB" b="1" noProof="0" dirty="0"/>
              <a:t>Indexing starts at 0</a:t>
            </a:r>
          </a:p>
          <a:p>
            <a:r>
              <a:rPr lang="en-GB" noProof="0" dirty="0"/>
              <a:t>Items can be of different data type</a:t>
            </a:r>
          </a:p>
          <a:p>
            <a:r>
              <a:rPr lang="en-GB" noProof="0" dirty="0"/>
              <a:t>Items can deleted: </a:t>
            </a:r>
            <a:r>
              <a:rPr lang="en-GB" i="1" noProof="0" dirty="0"/>
              <a:t>del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8CE05B7-C4C2-4120-AD04-B1B8E81335AB}"/>
              </a:ext>
            </a:extLst>
          </p:cNvPr>
          <p:cNvSpPr txBox="1"/>
          <p:nvPr/>
        </p:nvSpPr>
        <p:spPr>
          <a:xfrm>
            <a:off x="2883560" y="4287938"/>
            <a:ext cx="6424881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GB" sz="1400" dirty="0">
                <a:solidFill>
                  <a:srgbClr val="267F99"/>
                </a:solidFill>
                <a:latin typeface="Consolas" panose="020B0609020204030204" pitchFamily="49" charset="0"/>
              </a:rPr>
              <a:t>list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= [ </a:t>
            </a:r>
            <a:r>
              <a:rPr lang="en-GB" sz="1400" dirty="0">
                <a:solidFill>
                  <a:srgbClr val="A31515"/>
                </a:solidFill>
                <a:latin typeface="Consolas" panose="020B0609020204030204" pitchFamily="49" charset="0"/>
              </a:rPr>
              <a:t>'abcd'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400" dirty="0">
                <a:solidFill>
                  <a:srgbClr val="09885A"/>
                </a:solidFill>
                <a:latin typeface="Consolas" panose="020B0609020204030204" pitchFamily="49" charset="0"/>
              </a:rPr>
              <a:t>786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, </a:t>
            </a:r>
            <a:r>
              <a:rPr lang="en-GB" sz="1400" dirty="0">
                <a:solidFill>
                  <a:srgbClr val="09885A"/>
                </a:solidFill>
                <a:latin typeface="Consolas" panose="020B0609020204030204" pitchFamily="49" charset="0"/>
              </a:rPr>
              <a:t>2.23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400" dirty="0">
                <a:solidFill>
                  <a:srgbClr val="A31515"/>
                </a:solidFill>
                <a:latin typeface="Consolas" panose="020B0609020204030204" pitchFamily="49" charset="0"/>
              </a:rPr>
              <a:t>'john'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400" dirty="0">
                <a:solidFill>
                  <a:srgbClr val="09885A"/>
                </a:solidFill>
                <a:latin typeface="Consolas" panose="020B0609020204030204" pitchFamily="49" charset="0"/>
              </a:rPr>
              <a:t>70.2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]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tinylist = [</a:t>
            </a:r>
            <a:r>
              <a:rPr lang="en-GB" sz="1400" dirty="0">
                <a:solidFill>
                  <a:srgbClr val="09885A"/>
                </a:solidFill>
                <a:latin typeface="Consolas" panose="020B0609020204030204" pitchFamily="49" charset="0"/>
              </a:rPr>
              <a:t>123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400" dirty="0">
                <a:solidFill>
                  <a:srgbClr val="A31515"/>
                </a:solidFill>
                <a:latin typeface="Consolas" panose="020B0609020204030204" pitchFamily="49" charset="0"/>
              </a:rPr>
              <a:t>'john'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b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1400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400" dirty="0">
                <a:solidFill>
                  <a:srgbClr val="267F99"/>
                </a:solidFill>
                <a:latin typeface="Consolas" panose="020B0609020204030204" pitchFamily="49" charset="0"/>
              </a:rPr>
              <a:t>list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GB" sz="1400" dirty="0">
                <a:solidFill>
                  <a:srgbClr val="008000"/>
                </a:solidFill>
                <a:latin typeface="Consolas" panose="020B0609020204030204" pitchFamily="49" charset="0"/>
              </a:rPr>
              <a:t># Prints complete list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(list[</a:t>
            </a:r>
            <a:r>
              <a:rPr lang="en-GB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]) </a:t>
            </a:r>
            <a:r>
              <a:rPr lang="en-GB" sz="1400" dirty="0">
                <a:solidFill>
                  <a:srgbClr val="008000"/>
                </a:solidFill>
                <a:latin typeface="Consolas" panose="020B0609020204030204" pitchFamily="49" charset="0"/>
              </a:rPr>
              <a:t># Prints first element of the list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(list[</a:t>
            </a:r>
            <a:r>
              <a:rPr lang="en-GB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GB" sz="1400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]) </a:t>
            </a:r>
            <a:r>
              <a:rPr lang="en-GB" sz="1400" dirty="0">
                <a:solidFill>
                  <a:srgbClr val="008000"/>
                </a:solidFill>
                <a:latin typeface="Consolas" panose="020B0609020204030204" pitchFamily="49" charset="0"/>
              </a:rPr>
              <a:t># Prints elements starting from 2nd till 3rd 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(list[</a:t>
            </a:r>
            <a:r>
              <a:rPr lang="en-GB" sz="1400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:]) </a:t>
            </a:r>
            <a:r>
              <a:rPr lang="en-GB" sz="1400" dirty="0">
                <a:solidFill>
                  <a:srgbClr val="008000"/>
                </a:solidFill>
                <a:latin typeface="Consolas" panose="020B0609020204030204" pitchFamily="49" charset="0"/>
              </a:rPr>
              <a:t># Prints elements starting from 3rd element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(tinylist * </a:t>
            </a:r>
            <a:r>
              <a:rPr lang="en-GB" sz="1400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GB" sz="1400" dirty="0">
                <a:solidFill>
                  <a:srgbClr val="008000"/>
                </a:solidFill>
                <a:latin typeface="Consolas" panose="020B0609020204030204" pitchFamily="49" charset="0"/>
              </a:rPr>
              <a:t># Prints list two times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400" dirty="0">
                <a:solidFill>
                  <a:srgbClr val="267F99"/>
                </a:solidFill>
                <a:latin typeface="Consolas" panose="020B0609020204030204" pitchFamily="49" charset="0"/>
              </a:rPr>
              <a:t>list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+ tinylist) </a:t>
            </a:r>
            <a:r>
              <a:rPr lang="en-GB" sz="1400" dirty="0">
                <a:solidFill>
                  <a:srgbClr val="008000"/>
                </a:solidFill>
                <a:latin typeface="Consolas" panose="020B0609020204030204" pitchFamily="49" charset="0"/>
              </a:rPr>
              <a:t># Prints concatenated lists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73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61976E-959C-4EAB-B959-FBB9C91CB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IF statement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61630B0-F725-4AB1-988E-E380950FEA0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89004" y="3136493"/>
            <a:ext cx="2821797" cy="190744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Form</a:t>
            </a:r>
          </a:p>
          <a:p>
            <a:pPr marL="393700" lvl="1" indent="0">
              <a:buNone/>
            </a:pPr>
            <a:r>
              <a:rPr lang="en-GB" dirty="0"/>
              <a:t>if </a:t>
            </a:r>
            <a:r>
              <a:rPr lang="en-GB" i="1" dirty="0"/>
              <a:t>condition</a:t>
            </a:r>
            <a:r>
              <a:rPr lang="en-GB" dirty="0"/>
              <a:t> :</a:t>
            </a:r>
          </a:p>
          <a:p>
            <a:pPr marL="776287" lvl="2" indent="0">
              <a:buNone/>
            </a:pPr>
            <a:r>
              <a:rPr lang="en-GB" i="1" dirty="0"/>
              <a:t>c</a:t>
            </a:r>
            <a:r>
              <a:rPr lang="en-GB" i="1" noProof="0" dirty="0"/>
              <a:t>ode block</a:t>
            </a:r>
          </a:p>
          <a:p>
            <a:r>
              <a:rPr lang="en-GB" noProof="0" dirty="0"/>
              <a:t>Elif/else are optional</a:t>
            </a:r>
          </a:p>
          <a:p>
            <a:endParaRPr lang="en-GB" noProof="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9FE2BC2-5E10-4CB2-B414-44D8C6742D83}"/>
              </a:ext>
            </a:extLst>
          </p:cNvPr>
          <p:cNvSpPr txBox="1"/>
          <p:nvPr/>
        </p:nvSpPr>
        <p:spPr>
          <a:xfrm>
            <a:off x="2161577" y="2915463"/>
            <a:ext cx="4518169" cy="23495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US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x &lt; </a:t>
            </a:r>
            <a:r>
              <a:rPr lang="en-US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	x = </a:t>
            </a:r>
            <a:r>
              <a:rPr lang="en-US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	print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'Negative changed to zero'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elif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x == </a:t>
            </a:r>
            <a:r>
              <a:rPr lang="en-US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	print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'Zero'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elif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x == </a:t>
            </a:r>
            <a:r>
              <a:rPr lang="en-US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	print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'Single'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	print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'More'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57092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3BD948-59F6-4005-AEA6-19E15C4FC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Loops - For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3FEC708B-B5F5-4B0F-88B6-B8DE63337F3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79614" y="1693334"/>
            <a:ext cx="8232775" cy="925176"/>
          </a:xfrm>
        </p:spPr>
        <p:txBody>
          <a:bodyPr>
            <a:normAutofit lnSpcReduction="10000"/>
          </a:bodyPr>
          <a:lstStyle/>
          <a:p>
            <a:r>
              <a:rPr lang="en-GB" noProof="0" dirty="0"/>
              <a:t>Iterates over the items of any sequence</a:t>
            </a:r>
          </a:p>
          <a:p>
            <a:r>
              <a:rPr lang="en-GB" noProof="0" dirty="0"/>
              <a:t>Iterate over a slice copy of the entire list with </a:t>
            </a:r>
            <a:r>
              <a:rPr lang="en-GB" i="1" noProof="0" dirty="0"/>
              <a:t>list[:]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E263FE1-96BD-444D-AD95-9F1FC4AD2736}"/>
              </a:ext>
            </a:extLst>
          </p:cNvPr>
          <p:cNvSpPr txBox="1"/>
          <p:nvPr/>
        </p:nvSpPr>
        <p:spPr>
          <a:xfrm>
            <a:off x="3075709" y="2736560"/>
            <a:ext cx="6040582" cy="1031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GB" dirty="0">
                <a:solidFill>
                  <a:srgbClr val="267F99"/>
                </a:solidFill>
                <a:latin typeface="Consolas" panose="020B0609020204030204" pitchFamily="49" charset="0"/>
              </a:rPr>
              <a:t>list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'element1'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'element2'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'element3'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GB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element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267F99"/>
                </a:solidFill>
                <a:latin typeface="Consolas" panose="020B0609020204030204" pitchFamily="49" charset="0"/>
              </a:rPr>
              <a:t>list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solidFill>
                  <a:srgbClr val="795E26"/>
                </a:solidFill>
                <a:latin typeface="Consolas" panose="020B0609020204030204" pitchFamily="49" charset="0"/>
              </a:rPr>
              <a:t>	print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(element)</a:t>
            </a:r>
          </a:p>
        </p:txBody>
      </p:sp>
      <p:sp>
        <p:nvSpPr>
          <p:cNvPr id="6" name="Inhaltsplatzhalter 6">
            <a:extLst>
              <a:ext uri="{FF2B5EF4-FFF2-40B4-BE49-F238E27FC236}">
                <a16:creationId xmlns:a16="http://schemas.microsoft.com/office/drawing/2014/main" id="{B7F4773E-04D2-464D-AA37-EAF0D7191AD4}"/>
              </a:ext>
            </a:extLst>
          </p:cNvPr>
          <p:cNvSpPr txBox="1">
            <a:spLocks/>
          </p:cNvSpPr>
          <p:nvPr/>
        </p:nvSpPr>
        <p:spPr>
          <a:xfrm>
            <a:off x="1978026" y="3893700"/>
            <a:ext cx="8232775" cy="560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4800" indent="-304800" algn="l" rtl="0" eaLnBrk="1" fontAlgn="base" hangingPunct="1">
              <a:spcBef>
                <a:spcPct val="50000"/>
              </a:spcBef>
              <a:spcAft>
                <a:spcPct val="0"/>
              </a:spcAft>
              <a:buChar char="•"/>
              <a:tabLst>
                <a:tab pos="1974850" algn="l"/>
                <a:tab pos="2873375" algn="l"/>
              </a:tabLst>
              <a:defRPr sz="2200">
                <a:solidFill>
                  <a:schemeClr val="tx1"/>
                </a:solidFill>
                <a:latin typeface="+mn-lt"/>
                <a:ea typeface="Myriad Pro"/>
                <a:cs typeface="+mn-cs"/>
              </a:defRPr>
            </a:lvl1pPr>
            <a:lvl2pPr marL="698500" indent="-322263" algn="l" rtl="0" eaLnBrk="1" fontAlgn="base" hangingPunct="1">
              <a:spcBef>
                <a:spcPct val="15000"/>
              </a:spcBef>
              <a:spcAft>
                <a:spcPct val="0"/>
              </a:spcAft>
              <a:buChar char="–"/>
              <a:tabLst>
                <a:tab pos="1974850" algn="l"/>
                <a:tab pos="2873375" algn="l"/>
              </a:tabLst>
              <a:defRPr>
                <a:solidFill>
                  <a:schemeClr val="tx1"/>
                </a:solidFill>
                <a:latin typeface="+mn-lt"/>
                <a:ea typeface="Myriad Pro"/>
              </a:defRPr>
            </a:lvl2pPr>
            <a:lvl3pPr marL="1098550" indent="-300038" algn="l" rtl="0" eaLnBrk="1" fontAlgn="base" hangingPunct="1">
              <a:spcBef>
                <a:spcPct val="10000"/>
              </a:spcBef>
              <a:spcAft>
                <a:spcPct val="0"/>
              </a:spcAft>
              <a:buFont typeface="Wingdings" charset="2"/>
              <a:buChar char="§"/>
              <a:tabLst>
                <a:tab pos="1974850" algn="l"/>
                <a:tab pos="2873375" algn="l"/>
              </a:tabLst>
              <a:defRPr sz="1600">
                <a:solidFill>
                  <a:schemeClr val="tx1"/>
                </a:solidFill>
                <a:latin typeface="+mn-lt"/>
                <a:ea typeface="Myriad Pro"/>
              </a:defRPr>
            </a:lvl3pPr>
            <a:lvl4pPr marL="1346200" indent="-176213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·"/>
              <a:tabLst>
                <a:tab pos="1974850" algn="l"/>
                <a:tab pos="2873375" algn="l"/>
              </a:tabLst>
              <a:defRPr sz="1400">
                <a:solidFill>
                  <a:schemeClr val="tx1"/>
                </a:solidFill>
                <a:latin typeface="+mn-lt"/>
                <a:ea typeface="Myriad Pro"/>
              </a:defRPr>
            </a:lvl4pPr>
            <a:lvl5pPr marL="1646238" indent="-174625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tabLst>
                <a:tab pos="1974850" algn="l"/>
                <a:tab pos="2873375" algn="l"/>
              </a:tabLst>
              <a:defRPr sz="1200">
                <a:solidFill>
                  <a:schemeClr val="tx1"/>
                </a:solidFill>
                <a:latin typeface="+mn-lt"/>
                <a:ea typeface="Myriad Pro"/>
              </a:defRPr>
            </a:lvl5pPr>
            <a:lvl6pPr marL="2103438" indent="-174625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tabLst>
                <a:tab pos="1974850" algn="l"/>
                <a:tab pos="2873375" algn="l"/>
              </a:tabLst>
              <a:defRPr sz="1200">
                <a:solidFill>
                  <a:schemeClr val="tx1"/>
                </a:solidFill>
                <a:latin typeface="+mn-lt"/>
              </a:defRPr>
            </a:lvl6pPr>
            <a:lvl7pPr marL="2560638" indent="-174625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tabLst>
                <a:tab pos="1974850" algn="l"/>
                <a:tab pos="2873375" algn="l"/>
              </a:tabLst>
              <a:defRPr sz="1200">
                <a:solidFill>
                  <a:schemeClr val="tx1"/>
                </a:solidFill>
                <a:latin typeface="+mn-lt"/>
              </a:defRPr>
            </a:lvl7pPr>
            <a:lvl8pPr marL="3017838" indent="-174625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tabLst>
                <a:tab pos="1974850" algn="l"/>
                <a:tab pos="2873375" algn="l"/>
              </a:tabLst>
              <a:defRPr sz="1200">
                <a:solidFill>
                  <a:schemeClr val="tx1"/>
                </a:solidFill>
                <a:latin typeface="+mn-lt"/>
              </a:defRPr>
            </a:lvl8pPr>
            <a:lvl9pPr marL="3475038" indent="-174625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tabLst>
                <a:tab pos="1974850" algn="l"/>
                <a:tab pos="2873375" algn="l"/>
              </a:tabLst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Iterate over a sequence of numbers: </a:t>
            </a:r>
            <a:r>
              <a:rPr lang="en-US" i="1" dirty="0"/>
              <a:t>range - </a:t>
            </a:r>
            <a:r>
              <a:rPr lang="en-US" dirty="0"/>
              <a:t>function</a:t>
            </a:r>
            <a:endParaRPr lang="en-GB" kern="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F45538C-797E-4C8E-8698-A56C09DEEB67}"/>
              </a:ext>
            </a:extLst>
          </p:cNvPr>
          <p:cNvSpPr txBox="1"/>
          <p:nvPr/>
        </p:nvSpPr>
        <p:spPr>
          <a:xfrm>
            <a:off x="3405042" y="4944139"/>
            <a:ext cx="2689370" cy="6248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GB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i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795E26"/>
                </a:solidFill>
                <a:latin typeface="Consolas" panose="020B0609020204030204" pitchFamily="49" charset="0"/>
              </a:rPr>
              <a:t>range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GB" dirty="0">
                <a:solidFill>
                  <a:srgbClr val="795E26"/>
                </a:solidFill>
                <a:latin typeface="Consolas" panose="020B0609020204030204" pitchFamily="49" charset="0"/>
              </a:rPr>
              <a:t>	print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(i)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89EF79A-0C11-462A-9669-D7497D248636}"/>
              </a:ext>
            </a:extLst>
          </p:cNvPr>
          <p:cNvSpPr txBox="1"/>
          <p:nvPr/>
        </p:nvSpPr>
        <p:spPr>
          <a:xfrm>
            <a:off x="7232072" y="4558114"/>
            <a:ext cx="484910" cy="15359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de-DE" dirty="0">
                <a:solidFill>
                  <a:srgbClr val="AF00DB"/>
                </a:solidFill>
                <a:latin typeface="Consolas" panose="020B0609020204030204" pitchFamily="49" charset="0"/>
              </a:rPr>
              <a:t>0</a:t>
            </a:r>
          </a:p>
          <a:p>
            <a:pPr algn="ctr"/>
            <a:r>
              <a:rPr lang="de-DE" dirty="0">
                <a:solidFill>
                  <a:srgbClr val="AF00DB"/>
                </a:solidFill>
                <a:latin typeface="Consolas" panose="020B0609020204030204" pitchFamily="49" charset="0"/>
              </a:rPr>
              <a:t>1</a:t>
            </a:r>
          </a:p>
          <a:p>
            <a:pPr algn="ctr"/>
            <a:r>
              <a:rPr lang="de-DE" dirty="0">
                <a:solidFill>
                  <a:srgbClr val="AF00DB"/>
                </a:solidFill>
                <a:latin typeface="Consolas" panose="020B0609020204030204" pitchFamily="49" charset="0"/>
              </a:rPr>
              <a:t>2</a:t>
            </a:r>
          </a:p>
          <a:p>
            <a:pPr algn="ctr"/>
            <a:r>
              <a:rPr lang="de-DE" dirty="0">
                <a:solidFill>
                  <a:srgbClr val="AF00DB"/>
                </a:solidFill>
                <a:latin typeface="Consolas" panose="020B0609020204030204" pitchFamily="49" charset="0"/>
              </a:rPr>
              <a:t>3</a:t>
            </a:r>
          </a:p>
          <a:p>
            <a:pPr algn="ctr"/>
            <a:r>
              <a:rPr lang="de-DE" dirty="0">
                <a:solidFill>
                  <a:srgbClr val="AF00DB"/>
                </a:solidFill>
                <a:latin typeface="Consolas" panose="020B0609020204030204" pitchFamily="49" charset="0"/>
              </a:rPr>
              <a:t>4</a:t>
            </a:r>
            <a:endParaRPr lang="de-DE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Pfeil: nach rechts 4">
            <a:extLst>
              <a:ext uri="{FF2B5EF4-FFF2-40B4-BE49-F238E27FC236}">
                <a16:creationId xmlns:a16="http://schemas.microsoft.com/office/drawing/2014/main" id="{231A0E19-6B57-4CD1-A569-06248916F7F0}"/>
              </a:ext>
            </a:extLst>
          </p:cNvPr>
          <p:cNvSpPr/>
          <p:nvPr/>
        </p:nvSpPr>
        <p:spPr>
          <a:xfrm>
            <a:off x="6261461" y="5062867"/>
            <a:ext cx="803563" cy="3873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262D6AC-1A3C-43C0-8BE0-97409183D4C2}"/>
              </a:ext>
            </a:extLst>
          </p:cNvPr>
          <p:cNvSpPr txBox="1"/>
          <p:nvPr/>
        </p:nvSpPr>
        <p:spPr>
          <a:xfrm>
            <a:off x="5770283" y="486788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*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1664CE2-969A-428B-A552-9FF0D72BEBD4}"/>
              </a:ext>
            </a:extLst>
          </p:cNvPr>
          <p:cNvSpPr txBox="1"/>
          <p:nvPr/>
        </p:nvSpPr>
        <p:spPr>
          <a:xfrm>
            <a:off x="4113164" y="6246256"/>
            <a:ext cx="378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* </a:t>
            </a:r>
            <a:r>
              <a:rPr lang="en-GB" i="1" dirty="0"/>
              <a:t>range() </a:t>
            </a:r>
            <a:r>
              <a:rPr lang="en-GB" dirty="0"/>
              <a:t>returns an iterator, not a list!</a:t>
            </a:r>
          </a:p>
        </p:txBody>
      </p:sp>
    </p:spTree>
    <p:extLst>
      <p:ext uri="{BB962C8B-B14F-4D97-AF65-F5344CB8AC3E}">
        <p14:creationId xmlns:p14="http://schemas.microsoft.com/office/powerpoint/2010/main" val="8448190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3BD948-59F6-4005-AEA6-19E15C4FC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Loops - While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3FEC708B-B5F5-4B0F-88B6-B8DE63337F3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79614" y="1693334"/>
            <a:ext cx="8232775" cy="1911986"/>
          </a:xfrm>
        </p:spPr>
        <p:txBody>
          <a:bodyPr>
            <a:normAutofit/>
          </a:bodyPr>
          <a:lstStyle/>
          <a:p>
            <a:r>
              <a:rPr lang="en-GB" noProof="0" dirty="0"/>
              <a:t>The while statement is used for repeated execution as long as an expression is true</a:t>
            </a:r>
          </a:p>
          <a:p>
            <a:r>
              <a:rPr lang="en-GB" noProof="0" dirty="0"/>
              <a:t>Optional else clause: will be executed the first time the expression is false and the loop terminates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E263FE1-96BD-444D-AD95-9F1FC4AD2736}"/>
              </a:ext>
            </a:extLst>
          </p:cNvPr>
          <p:cNvSpPr txBox="1"/>
          <p:nvPr/>
        </p:nvSpPr>
        <p:spPr>
          <a:xfrm>
            <a:off x="4410009" y="4011613"/>
            <a:ext cx="3371983" cy="1835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i = </a:t>
            </a:r>
            <a:r>
              <a:rPr lang="en-GB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AF00DB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i&lt;</a:t>
            </a:r>
            <a:r>
              <a:rPr lang="en-GB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solidFill>
                  <a:srgbClr val="795E26"/>
                </a:solidFill>
                <a:latin typeface="Consolas" panose="020B0609020204030204" pitchFamily="49" charset="0"/>
              </a:rPr>
              <a:t>	print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(i)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	i += </a:t>
            </a:r>
            <a:r>
              <a:rPr lang="en-GB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</a:p>
          <a:p>
            <a:r>
              <a:rPr lang="en-GB" dirty="0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solidFill>
                  <a:srgbClr val="795E26"/>
                </a:solidFill>
                <a:latin typeface="Consolas" panose="020B0609020204030204" pitchFamily="49" charset="0"/>
              </a:rPr>
              <a:t>	print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"Finished"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GB" dirty="0">
              <a:solidFill>
                <a:srgbClr val="09885A"/>
              </a:solidFill>
              <a:latin typeface="Consolas" panose="020B0609020204030204" pitchFamily="49" charset="0"/>
            </a:endParaRPr>
          </a:p>
          <a:p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Inhaltsplatzhalter 6">
            <a:extLst>
              <a:ext uri="{FF2B5EF4-FFF2-40B4-BE49-F238E27FC236}">
                <a16:creationId xmlns:a16="http://schemas.microsoft.com/office/drawing/2014/main" id="{1898E017-C6A3-43A4-B997-1760A75427D3}"/>
              </a:ext>
            </a:extLst>
          </p:cNvPr>
          <p:cNvSpPr txBox="1">
            <a:spLocks/>
          </p:cNvSpPr>
          <p:nvPr/>
        </p:nvSpPr>
        <p:spPr>
          <a:xfrm>
            <a:off x="1978026" y="6253346"/>
            <a:ext cx="7941830" cy="56038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04800" indent="-304800" algn="l" rtl="0" eaLnBrk="1" fontAlgn="base" hangingPunct="1">
              <a:spcBef>
                <a:spcPct val="50000"/>
              </a:spcBef>
              <a:spcAft>
                <a:spcPct val="0"/>
              </a:spcAft>
              <a:buChar char="•"/>
              <a:tabLst>
                <a:tab pos="1974850" algn="l"/>
                <a:tab pos="2873375" algn="l"/>
              </a:tabLst>
              <a:defRPr sz="2200">
                <a:solidFill>
                  <a:schemeClr val="tx1"/>
                </a:solidFill>
                <a:latin typeface="+mn-lt"/>
                <a:ea typeface="Myriad Pro"/>
                <a:cs typeface="+mn-cs"/>
              </a:defRPr>
            </a:lvl1pPr>
            <a:lvl2pPr marL="698500" indent="-322263" algn="l" rtl="0" eaLnBrk="1" fontAlgn="base" hangingPunct="1">
              <a:spcBef>
                <a:spcPct val="15000"/>
              </a:spcBef>
              <a:spcAft>
                <a:spcPct val="0"/>
              </a:spcAft>
              <a:buChar char="–"/>
              <a:tabLst>
                <a:tab pos="1974850" algn="l"/>
                <a:tab pos="2873375" algn="l"/>
              </a:tabLst>
              <a:defRPr>
                <a:solidFill>
                  <a:schemeClr val="tx1"/>
                </a:solidFill>
                <a:latin typeface="+mn-lt"/>
                <a:ea typeface="Myriad Pro"/>
              </a:defRPr>
            </a:lvl2pPr>
            <a:lvl3pPr marL="1098550" indent="-300038" algn="l" rtl="0" eaLnBrk="1" fontAlgn="base" hangingPunct="1">
              <a:spcBef>
                <a:spcPct val="10000"/>
              </a:spcBef>
              <a:spcAft>
                <a:spcPct val="0"/>
              </a:spcAft>
              <a:buFont typeface="Wingdings" charset="2"/>
              <a:buChar char="§"/>
              <a:tabLst>
                <a:tab pos="1974850" algn="l"/>
                <a:tab pos="2873375" algn="l"/>
              </a:tabLst>
              <a:defRPr sz="1600">
                <a:solidFill>
                  <a:schemeClr val="tx1"/>
                </a:solidFill>
                <a:latin typeface="+mn-lt"/>
                <a:ea typeface="Myriad Pro"/>
              </a:defRPr>
            </a:lvl3pPr>
            <a:lvl4pPr marL="1346200" indent="-176213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·"/>
              <a:tabLst>
                <a:tab pos="1974850" algn="l"/>
                <a:tab pos="2873375" algn="l"/>
              </a:tabLst>
              <a:defRPr sz="1400">
                <a:solidFill>
                  <a:schemeClr val="tx1"/>
                </a:solidFill>
                <a:latin typeface="+mn-lt"/>
                <a:ea typeface="Myriad Pro"/>
              </a:defRPr>
            </a:lvl4pPr>
            <a:lvl5pPr marL="1646238" indent="-174625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tabLst>
                <a:tab pos="1974850" algn="l"/>
                <a:tab pos="2873375" algn="l"/>
              </a:tabLst>
              <a:defRPr sz="1200">
                <a:solidFill>
                  <a:schemeClr val="tx1"/>
                </a:solidFill>
                <a:latin typeface="+mn-lt"/>
                <a:ea typeface="Myriad Pro"/>
              </a:defRPr>
            </a:lvl5pPr>
            <a:lvl6pPr marL="2103438" indent="-174625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tabLst>
                <a:tab pos="1974850" algn="l"/>
                <a:tab pos="2873375" algn="l"/>
              </a:tabLst>
              <a:defRPr sz="1200">
                <a:solidFill>
                  <a:schemeClr val="tx1"/>
                </a:solidFill>
                <a:latin typeface="+mn-lt"/>
              </a:defRPr>
            </a:lvl6pPr>
            <a:lvl7pPr marL="2560638" indent="-174625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tabLst>
                <a:tab pos="1974850" algn="l"/>
                <a:tab pos="2873375" algn="l"/>
              </a:tabLst>
              <a:defRPr sz="1200">
                <a:solidFill>
                  <a:schemeClr val="tx1"/>
                </a:solidFill>
                <a:latin typeface="+mn-lt"/>
              </a:defRPr>
            </a:lvl7pPr>
            <a:lvl8pPr marL="3017838" indent="-174625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tabLst>
                <a:tab pos="1974850" algn="l"/>
                <a:tab pos="2873375" algn="l"/>
              </a:tabLst>
              <a:defRPr sz="1200">
                <a:solidFill>
                  <a:schemeClr val="tx1"/>
                </a:solidFill>
                <a:latin typeface="+mn-lt"/>
              </a:defRPr>
            </a:lvl8pPr>
            <a:lvl9pPr marL="3475038" indent="-174625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tabLst>
                <a:tab pos="1974850" algn="l"/>
                <a:tab pos="2873375" algn="l"/>
              </a:tabLst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The </a:t>
            </a:r>
            <a:r>
              <a:rPr lang="en-US" i="1" kern="0" dirty="0"/>
              <a:t>break</a:t>
            </a:r>
            <a:r>
              <a:rPr lang="en-US" kern="0" dirty="0"/>
              <a:t> statement, like in C, breaks out of the innermost enclosing </a:t>
            </a:r>
            <a:r>
              <a:rPr lang="en-US" i="1" kern="0" dirty="0"/>
              <a:t>for </a:t>
            </a:r>
            <a:r>
              <a:rPr lang="en-US" kern="0" dirty="0"/>
              <a:t>or</a:t>
            </a:r>
            <a:r>
              <a:rPr lang="en-US" i="1" kern="0" dirty="0"/>
              <a:t> while</a:t>
            </a:r>
            <a:r>
              <a:rPr lang="en-US" kern="0" dirty="0"/>
              <a:t> loop.</a:t>
            </a:r>
            <a:endParaRPr lang="en-GB" kern="0" dirty="0"/>
          </a:p>
        </p:txBody>
      </p:sp>
    </p:spTree>
    <p:extLst>
      <p:ext uri="{BB962C8B-B14F-4D97-AF65-F5344CB8AC3E}">
        <p14:creationId xmlns:p14="http://schemas.microsoft.com/office/powerpoint/2010/main" val="22789479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089D4C-5D1A-440D-9D40-1D7EDACC3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Conclusion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5BE0D3-8B72-435E-8741-CCBBF5E6F5D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79614" y="1693334"/>
            <a:ext cx="8232775" cy="5164667"/>
          </a:xfrm>
        </p:spPr>
        <p:txBody>
          <a:bodyPr/>
          <a:lstStyle/>
          <a:p>
            <a:r>
              <a:rPr lang="en-GB" dirty="0"/>
              <a:t>Basic informal introduction to Python</a:t>
            </a:r>
          </a:p>
          <a:p>
            <a:r>
              <a:rPr lang="en-GB" dirty="0"/>
              <a:t>First basic Python exercises </a:t>
            </a:r>
          </a:p>
          <a:p>
            <a:r>
              <a:rPr lang="en-GB" dirty="0"/>
              <a:t>Next week: Data Structures and Functions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8C05552-A98D-4384-AD89-6395D0EA03F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5725" y="4076050"/>
            <a:ext cx="2712428" cy="180828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61016E0-9AB6-4576-A9C1-D55A61A48587}"/>
              </a:ext>
            </a:extLst>
          </p:cNvPr>
          <p:cNvGrpSpPr/>
          <p:nvPr/>
        </p:nvGrpSpPr>
        <p:grpSpPr>
          <a:xfrm>
            <a:off x="2803725" y="3943179"/>
            <a:ext cx="3377682" cy="2199791"/>
            <a:chOff x="872835" y="3539884"/>
            <a:chExt cx="4738255" cy="3140230"/>
          </a:xfrm>
        </p:grpSpPr>
        <p:sp>
          <p:nvSpPr>
            <p:cNvPr id="12" name="Rechteck 3">
              <a:extLst>
                <a:ext uri="{FF2B5EF4-FFF2-40B4-BE49-F238E27FC236}">
                  <a16:creationId xmlns:a16="http://schemas.microsoft.com/office/drawing/2014/main" id="{A07F702D-6EF3-4424-872E-352A3BF97D23}"/>
                </a:ext>
              </a:extLst>
            </p:cNvPr>
            <p:cNvSpPr/>
            <p:nvPr/>
          </p:nvSpPr>
          <p:spPr>
            <a:xfrm>
              <a:off x="872836" y="3539884"/>
              <a:ext cx="3463637" cy="60955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de-DE" sz="16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Block 1</a:t>
              </a:r>
            </a:p>
          </p:txBody>
        </p:sp>
        <p:sp>
          <p:nvSpPr>
            <p:cNvPr id="13" name="Rechteck 4">
              <a:extLst>
                <a:ext uri="{FF2B5EF4-FFF2-40B4-BE49-F238E27FC236}">
                  <a16:creationId xmlns:a16="http://schemas.microsoft.com/office/drawing/2014/main" id="{3B2B48ED-A8D5-4C09-90B8-58810E1AC07A}"/>
                </a:ext>
              </a:extLst>
            </p:cNvPr>
            <p:cNvSpPr/>
            <p:nvPr/>
          </p:nvSpPr>
          <p:spPr>
            <a:xfrm>
              <a:off x="872835" y="6070563"/>
              <a:ext cx="3463637" cy="60955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16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Block 1, continuation</a:t>
              </a:r>
            </a:p>
          </p:txBody>
        </p:sp>
        <p:sp>
          <p:nvSpPr>
            <p:cNvPr id="14" name="Rechteck 5">
              <a:extLst>
                <a:ext uri="{FF2B5EF4-FFF2-40B4-BE49-F238E27FC236}">
                  <a16:creationId xmlns:a16="http://schemas.microsoft.com/office/drawing/2014/main" id="{30985C4A-3A5B-4DD1-BEFC-7F5850FC6D17}"/>
                </a:ext>
              </a:extLst>
            </p:cNvPr>
            <p:cNvSpPr/>
            <p:nvPr/>
          </p:nvSpPr>
          <p:spPr>
            <a:xfrm>
              <a:off x="1537854" y="4170701"/>
              <a:ext cx="3463637" cy="609551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de-DE" sz="16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Block 2</a:t>
              </a:r>
            </a:p>
          </p:txBody>
        </p:sp>
        <p:sp>
          <p:nvSpPr>
            <p:cNvPr id="15" name="Rechteck 6">
              <a:extLst>
                <a:ext uri="{FF2B5EF4-FFF2-40B4-BE49-F238E27FC236}">
                  <a16:creationId xmlns:a16="http://schemas.microsoft.com/office/drawing/2014/main" id="{B20AF7D3-E2C4-4D78-BAFF-86523578202D}"/>
                </a:ext>
              </a:extLst>
            </p:cNvPr>
            <p:cNvSpPr/>
            <p:nvPr/>
          </p:nvSpPr>
          <p:spPr>
            <a:xfrm>
              <a:off x="1537854" y="5432335"/>
              <a:ext cx="3463637" cy="609551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16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Block 2, continuation</a:t>
              </a:r>
            </a:p>
          </p:txBody>
        </p:sp>
        <p:sp>
          <p:nvSpPr>
            <p:cNvPr id="16" name="Rechteck 7">
              <a:extLst>
                <a:ext uri="{FF2B5EF4-FFF2-40B4-BE49-F238E27FC236}">
                  <a16:creationId xmlns:a16="http://schemas.microsoft.com/office/drawing/2014/main" id="{B2716B81-A55B-47D4-9D39-895CF16B768A}"/>
                </a:ext>
              </a:extLst>
            </p:cNvPr>
            <p:cNvSpPr/>
            <p:nvPr/>
          </p:nvSpPr>
          <p:spPr>
            <a:xfrm>
              <a:off x="2147453" y="4801518"/>
              <a:ext cx="3463637" cy="60955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de-DE" sz="16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Block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08734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75E034-C29D-4489-95DB-9387ADF15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Exercise 1</a:t>
            </a:r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98C3590-E1AE-4F79-BB98-1D101E37678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en-GB" dirty="0"/>
              <a:t>Write a program </a:t>
            </a:r>
            <a:r>
              <a:rPr lang="en-GB" dirty="0" err="1">
                <a:latin typeface="consolas"/>
              </a:rPr>
              <a:t>printNegative</a:t>
            </a:r>
            <a:r>
              <a:rPr lang="en-GB" dirty="0">
                <a:latin typeface="consolas"/>
              </a:rPr>
              <a:t> </a:t>
            </a:r>
            <a:r>
              <a:rPr lang="en-GB" dirty="0"/>
              <a:t>which prints all negative elements of an integer or float input list.</a:t>
            </a:r>
            <a:br>
              <a:rPr lang="en-GB" dirty="0"/>
            </a:br>
            <a:endParaRPr lang="en-GB" dirty="0"/>
          </a:p>
          <a:p>
            <a:pPr marL="342900" indent="-342900">
              <a:buFont typeface="Arial"/>
              <a:buChar char="•"/>
            </a:pPr>
            <a:r>
              <a:rPr lang="en-GB" dirty="0"/>
              <a:t>Write a program </a:t>
            </a:r>
            <a:r>
              <a:rPr lang="en-GB" dirty="0" err="1">
                <a:latin typeface="consolas"/>
              </a:rPr>
              <a:t>filterOdd</a:t>
            </a:r>
            <a:r>
              <a:rPr lang="en-GB" dirty="0">
                <a:latin typeface="consolas"/>
              </a:rPr>
              <a:t> </a:t>
            </a:r>
            <a:r>
              <a:rPr lang="en-GB" dirty="0"/>
              <a:t>which takes a list of integers as input and returns a sub-list of the input containing only its odd elements (tip: </a:t>
            </a:r>
            <a:r>
              <a:rPr lang="en-GB" dirty="0">
                <a:latin typeface="Myriad Pro"/>
              </a:rPr>
              <a:t>the</a:t>
            </a:r>
            <a:r>
              <a:rPr lang="en-GB" dirty="0"/>
              <a:t> </a:t>
            </a:r>
            <a:r>
              <a:rPr lang="en-GB" dirty="0">
                <a:latin typeface="Myriad Pro"/>
              </a:rPr>
              <a:t>Python modulo operator is </a:t>
            </a:r>
            <a:r>
              <a:rPr lang="en-GB" dirty="0">
                <a:latin typeface="consolas"/>
              </a:rPr>
              <a:t>%</a:t>
            </a:r>
            <a:r>
              <a:rPr lang="en-GB" dirty="0">
                <a:latin typeface="Myriad Pro"/>
              </a:rPr>
              <a:t>; e.g. </a:t>
            </a:r>
            <a:r>
              <a:rPr lang="en-GB" dirty="0">
                <a:latin typeface="consolas"/>
              </a:rPr>
              <a:t>7%2 </a:t>
            </a:r>
            <a:r>
              <a:rPr lang="en-GB" dirty="0"/>
              <a:t>returns </a:t>
            </a:r>
            <a:r>
              <a:rPr lang="en-GB" dirty="0">
                <a:latin typeface="Consolas"/>
              </a:rPr>
              <a:t>1</a:t>
            </a:r>
            <a:r>
              <a:rPr lang="en-GB" dirty="0"/>
              <a:t>).</a:t>
            </a:r>
            <a:br>
              <a:rPr lang="en-GB" dirty="0"/>
            </a:br>
            <a:endParaRPr lang="en-GB" dirty="0"/>
          </a:p>
          <a:p>
            <a:pPr marL="342900" indent="-342900">
              <a:buFont typeface="Arial"/>
              <a:buChar char="•"/>
            </a:pPr>
            <a:r>
              <a:rPr lang="en-GB" dirty="0"/>
              <a:t>Write a program </a:t>
            </a:r>
            <a:r>
              <a:rPr lang="en-GB" dirty="0" err="1">
                <a:latin typeface="consolas"/>
              </a:rPr>
              <a:t>removeDuplicate</a:t>
            </a:r>
            <a:r>
              <a:rPr lang="en-GB" dirty="0">
                <a:latin typeface="consolas"/>
              </a:rPr>
              <a:t> </a:t>
            </a:r>
            <a:r>
              <a:rPr lang="en-GB" dirty="0"/>
              <a:t>which takes a list of any type as input, and returns a list without any duplicate elements as output.</a:t>
            </a:r>
          </a:p>
        </p:txBody>
      </p:sp>
    </p:spTree>
    <p:extLst>
      <p:ext uri="{BB962C8B-B14F-4D97-AF65-F5344CB8AC3E}">
        <p14:creationId xmlns:p14="http://schemas.microsoft.com/office/powerpoint/2010/main" val="17085280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75E034-C29D-4489-95DB-9387ADF15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Exercise 2</a:t>
            </a:r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98C3590-E1AE-4F79-BB98-1D101E37678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/>
              <a:t>Write a function </a:t>
            </a:r>
            <a:r>
              <a:rPr lang="en-GB" dirty="0" err="1">
                <a:latin typeface="consolas"/>
              </a:rPr>
              <a:t>printReverseString</a:t>
            </a:r>
            <a:r>
              <a:rPr lang="en-GB" dirty="0">
                <a:latin typeface="consolas"/>
              </a:rPr>
              <a:t> </a:t>
            </a:r>
            <a:r>
              <a:rPr lang="en-GB" dirty="0"/>
              <a:t>which takes a sentence under the string format as input (e.g. </a:t>
            </a:r>
            <a:r>
              <a:rPr lang="en-GB" dirty="0">
                <a:latin typeface="consolas"/>
              </a:rPr>
              <a:t>"Hello world!"</a:t>
            </a:r>
            <a:r>
              <a:rPr lang="en-GB" dirty="0"/>
              <a:t>) and prints the sentence with words in the reverse order (e.g. </a:t>
            </a:r>
            <a:r>
              <a:rPr lang="en-GB" dirty="0">
                <a:latin typeface="consolas"/>
              </a:rPr>
              <a:t>"world! Hello"</a:t>
            </a:r>
            <a:r>
              <a:rPr lang="en-GB" dirty="0"/>
              <a:t>).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Tips:</a:t>
            </a:r>
          </a:p>
          <a:p>
            <a:pPr marL="736600" lvl="1" indent="-342900">
              <a:buFont typeface="Arial"/>
              <a:buChar char="•"/>
            </a:pPr>
            <a:r>
              <a:rPr lang="en-GB" sz="2200" dirty="0"/>
              <a:t>A sentence is an ensemble of words separated by spaces</a:t>
            </a:r>
          </a:p>
          <a:p>
            <a:pPr marL="736600" lvl="1" indent="-342900">
              <a:buFont typeface="Arial"/>
              <a:buChar char="•"/>
            </a:pPr>
            <a:r>
              <a:rPr lang="en-GB" sz="2200" dirty="0"/>
              <a:t>The Python string methods </a:t>
            </a:r>
            <a:r>
              <a:rPr lang="en-GB" sz="2200" dirty="0">
                <a:latin typeface="consolas"/>
              </a:rPr>
              <a:t>split </a:t>
            </a:r>
            <a:r>
              <a:rPr lang="en-GB" sz="2200" dirty="0"/>
              <a:t>and </a:t>
            </a:r>
            <a:r>
              <a:rPr lang="en-GB" sz="2200" dirty="0">
                <a:latin typeface="consolas"/>
              </a:rPr>
              <a:t>join </a:t>
            </a:r>
            <a:r>
              <a:rPr lang="en-GB" sz="2200" dirty="0"/>
              <a:t>should be useful for this exercise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82505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75E034-C29D-4489-95DB-9387ADF15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Exercise 3</a:t>
            </a:r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98C3590-E1AE-4F79-BB98-1D101E37678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/>
              <a:t>Write a function </a:t>
            </a:r>
            <a:r>
              <a:rPr lang="en-GB" dirty="0" err="1">
                <a:latin typeface="Consolas"/>
              </a:rPr>
              <a:t>distanceToSun</a:t>
            </a:r>
            <a:r>
              <a:rPr lang="en-GB" dirty="0">
                <a:latin typeface="Consolas"/>
              </a:rPr>
              <a:t> </a:t>
            </a:r>
            <a:r>
              <a:rPr lang="en-GB" dirty="0"/>
              <a:t>which asks the user to input the name of a planet of our solar system in command line, and prints the distance between the planet and the Sun in kilometres.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Tips:</a:t>
            </a:r>
            <a:endParaRPr lang="en-US" dirty="0"/>
          </a:p>
          <a:p>
            <a:pPr marL="736600" lvl="1" indent="-342900">
              <a:buFont typeface="Arial"/>
              <a:buChar char="•"/>
            </a:pPr>
            <a:r>
              <a:rPr lang="en-GB" sz="2200" dirty="0"/>
              <a:t>Pick the online source of your choice to find distances between planets and the Sun.</a:t>
            </a:r>
          </a:p>
          <a:p>
            <a:pPr marL="736600" lvl="1" indent="-342900">
              <a:buFont typeface="Arial"/>
              <a:buChar char="•"/>
            </a:pPr>
            <a:r>
              <a:rPr lang="en-GB" sz="2200" dirty="0"/>
              <a:t>Asking for an user input in terminal can be done using the </a:t>
            </a:r>
            <a:r>
              <a:rPr lang="en-GB" sz="2200" dirty="0" err="1">
                <a:latin typeface="Consolas"/>
              </a:rPr>
              <a:t>userInput</a:t>
            </a:r>
            <a:r>
              <a:rPr lang="en-GB" sz="2200" dirty="0">
                <a:latin typeface="Consolas"/>
              </a:rPr>
              <a:t> = input("text to display")</a:t>
            </a:r>
            <a:r>
              <a:rPr lang="en-GB" sz="2200" dirty="0"/>
              <a:t> syntax.</a:t>
            </a:r>
            <a:endParaRPr lang="en-GB" dirty="0"/>
          </a:p>
          <a:p>
            <a:pPr marL="736600" lvl="1" indent="-342900">
              <a:buFont typeface="Arial"/>
              <a:buChar char="•"/>
            </a:pPr>
            <a:r>
              <a:rPr lang="en-GB" sz="2200" dirty="0"/>
              <a:t>Remember to treat the case where the user input is invalid.</a:t>
            </a:r>
          </a:p>
          <a:p>
            <a:pPr marL="736600" lvl="1" indent="-342900">
              <a:buFont typeface="Arial"/>
              <a:buChar char="•"/>
            </a:pPr>
            <a:r>
              <a:rPr lang="en-GB" sz="2200" dirty="0"/>
              <a:t>Stopping a function can be done using </a:t>
            </a:r>
            <a:r>
              <a:rPr lang="en-GB" sz="2200" dirty="0">
                <a:latin typeface="Consolas"/>
              </a:rPr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29613284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2CA310-BEA9-454C-BAD7-B9D5D9598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What is Python?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DFDAD0-345C-4F3C-83AC-1F98ACF7FE3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noProof="0" dirty="0"/>
              <a:t>High level programming language</a:t>
            </a:r>
          </a:p>
          <a:p>
            <a:r>
              <a:rPr lang="en-GB" noProof="0" dirty="0"/>
              <a:t>First released in 1991 by </a:t>
            </a:r>
            <a:r>
              <a:rPr lang="de-DE" dirty="0"/>
              <a:t>Guido van Rossum</a:t>
            </a:r>
            <a:endParaRPr lang="en-GB" dirty="0"/>
          </a:p>
          <a:p>
            <a:r>
              <a:rPr lang="en-GB" noProof="0" dirty="0"/>
              <a:t>Object-oriented, imperative, functional and procedural</a:t>
            </a:r>
          </a:p>
          <a:p>
            <a:r>
              <a:rPr lang="en-GB" noProof="0" dirty="0"/>
              <a:t>Supported by many operating systems</a:t>
            </a:r>
          </a:p>
          <a:p>
            <a:r>
              <a:rPr lang="en-GB" noProof="0" dirty="0"/>
              <a:t>Commonly used for computation </a:t>
            </a:r>
            <a:r>
              <a:rPr lang="en-GB" dirty="0"/>
              <a:t>in</a:t>
            </a:r>
            <a:r>
              <a:rPr lang="en-GB" noProof="0" dirty="0"/>
              <a:t> the field of artificial intelligence and machine learning</a:t>
            </a:r>
          </a:p>
        </p:txBody>
      </p:sp>
      <p:pic>
        <p:nvPicPr>
          <p:cNvPr id="4" name="Grafik 4">
            <a:extLst>
              <a:ext uri="{FF2B5EF4-FFF2-40B4-BE49-F238E27FC236}">
                <a16:creationId xmlns:a16="http://schemas.microsoft.com/office/drawing/2014/main" id="{07C0D472-E5BE-6F03-1F45-551700F8D1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4258" y="973667"/>
            <a:ext cx="1690943" cy="1690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2567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450782-7525-4A7A-815B-D9773D8A9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Why Python?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1E9613-A86D-434A-9923-78971F3E8A4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Wide scientific community: </a:t>
            </a:r>
          </a:p>
          <a:p>
            <a:pPr lvl="1"/>
            <a:r>
              <a:rPr lang="en-GB" dirty="0"/>
              <a:t>Many different helpful libraries</a:t>
            </a:r>
          </a:p>
          <a:p>
            <a:pPr lvl="1"/>
            <a:r>
              <a:rPr lang="en-GB" dirty="0"/>
              <a:t>Open source frameworks and tools</a:t>
            </a:r>
          </a:p>
          <a:p>
            <a:pPr lvl="1"/>
            <a:r>
              <a:rPr lang="en-GB" dirty="0"/>
              <a:t>Python Package Index (</a:t>
            </a:r>
            <a:r>
              <a:rPr lang="en-GB" dirty="0" err="1"/>
              <a:t>PyPI</a:t>
            </a:r>
            <a:r>
              <a:rPr lang="en-GB" dirty="0"/>
              <a:t>): </a:t>
            </a:r>
            <a:r>
              <a:rPr lang="de-DE" dirty="0"/>
              <a:t>433,519 </a:t>
            </a:r>
            <a:endParaRPr lang="en-GB" dirty="0"/>
          </a:p>
          <a:p>
            <a:r>
              <a:rPr lang="en-GB" dirty="0"/>
              <a:t>Easy to learn/use</a:t>
            </a:r>
          </a:p>
          <a:p>
            <a:r>
              <a:rPr lang="en-US" dirty="0"/>
              <a:t>Simplicity and consistency,</a:t>
            </a:r>
            <a:endParaRPr lang="en-GB" dirty="0"/>
          </a:p>
          <a:p>
            <a:r>
              <a:rPr lang="en-GB" dirty="0"/>
              <a:t>High-level language: ideas can be implemented quickly</a:t>
            </a:r>
          </a:p>
          <a:p>
            <a:r>
              <a:rPr lang="en-US" dirty="0"/>
              <a:t>Flexibility, </a:t>
            </a:r>
          </a:p>
          <a:p>
            <a:r>
              <a:rPr lang="en-US" dirty="0"/>
              <a:t>Platform independence</a:t>
            </a:r>
            <a:endParaRPr lang="en-GB" dirty="0"/>
          </a:p>
          <a:p>
            <a:endParaRPr lang="en-GB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0EF3A17-5AAD-CD01-8CA5-B40EA320C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34258" y="973667"/>
            <a:ext cx="1690943" cy="1690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0913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81A398-73D2-49B3-9CFE-A373308D1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Installation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4B5543-7143-423F-BC08-B4E6E760604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b="1" noProof="0" dirty="0"/>
              <a:t>Windows</a:t>
            </a:r>
            <a:r>
              <a:rPr lang="en-GB" noProof="0" dirty="0"/>
              <a:t>: </a:t>
            </a:r>
            <a:r>
              <a:rPr lang="en-GB" dirty="0"/>
              <a:t>v</a:t>
            </a:r>
            <a:r>
              <a:rPr lang="en-GB" noProof="0" dirty="0" err="1"/>
              <a:t>isit</a:t>
            </a:r>
            <a:r>
              <a:rPr lang="en-GB" noProof="0" dirty="0"/>
              <a:t> </a:t>
            </a:r>
            <a:r>
              <a:rPr lang="en-GB" noProof="0" dirty="0">
                <a:hlinkClick r:id="rId2"/>
              </a:rPr>
              <a:t>https://www.python.org/downloads/</a:t>
            </a:r>
            <a:r>
              <a:rPr lang="en-GB" noProof="0" dirty="0"/>
              <a:t> to download Python (r</a:t>
            </a:r>
            <a:r>
              <a:rPr lang="en-GB" dirty="0" err="1"/>
              <a:t>ecommended</a:t>
            </a:r>
            <a:r>
              <a:rPr lang="en-GB" dirty="0"/>
              <a:t> version: 3.9 or above)</a:t>
            </a:r>
            <a:endParaRPr lang="en-GB" noProof="0" dirty="0"/>
          </a:p>
          <a:p>
            <a:r>
              <a:rPr lang="en-GB" b="1" noProof="0" dirty="0"/>
              <a:t>Linux</a:t>
            </a:r>
            <a:r>
              <a:rPr lang="en-GB" noProof="0" dirty="0"/>
              <a:t>: run the following command in terminal</a:t>
            </a:r>
          </a:p>
          <a:p>
            <a:pPr marL="376237" lvl="1" indent="0">
              <a:buNone/>
            </a:pPr>
            <a:r>
              <a:rPr lang="en-GB" sz="2000" i="1" dirty="0">
                <a:latin typeface="Consolas" panose="020B0609020204030204" pitchFamily="49" charset="0"/>
                <a:cs typeface="Arial" panose="020B0604020202020204" pitchFamily="34" charset="0"/>
              </a:rPr>
              <a:t>sudo apt-get install python3.9</a:t>
            </a:r>
          </a:p>
          <a:p>
            <a:pPr lvl="1"/>
            <a:endParaRPr lang="en-GB" noProof="0" dirty="0"/>
          </a:p>
        </p:txBody>
      </p:sp>
      <p:pic>
        <p:nvPicPr>
          <p:cNvPr id="5" name="Picture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DE2124AE-CCAD-640B-9BE3-9E9A0411C0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057" y="3429000"/>
            <a:ext cx="6813885" cy="332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7274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9E15BB-014F-4FD0-B993-7D7717FC9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Installation 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A086D9-3AE0-4FA6-9C2C-581B6123DC8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noProof="0" dirty="0"/>
              <a:t>The choice of the IDE is up to you. I nevertheless recommend </a:t>
            </a:r>
            <a:r>
              <a:rPr lang="en-GB" b="1" noProof="0" dirty="0"/>
              <a:t>VS Code</a:t>
            </a:r>
            <a:r>
              <a:rPr lang="en-GB" noProof="0" dirty="0"/>
              <a:t> and will provide instructions for this IDE.</a:t>
            </a:r>
            <a:endParaRPr lang="en-GB" b="1" dirty="0"/>
          </a:p>
          <a:p>
            <a:pPr lvl="1"/>
            <a:r>
              <a:rPr lang="en-GB" noProof="0" dirty="0"/>
              <a:t>To download VS Code, visit </a:t>
            </a:r>
            <a:r>
              <a:rPr lang="en-GB" noProof="0" dirty="0">
                <a:hlinkClick r:id="rId2"/>
              </a:rPr>
              <a:t>https://code.visualstudio.com/Download</a:t>
            </a:r>
            <a:r>
              <a:rPr lang="en-GB" noProof="0" dirty="0"/>
              <a:t> 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D1A8EB4-1A5D-4138-9CD9-7059E7DEE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2823" y="2946154"/>
            <a:ext cx="6430704" cy="34546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817442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9E15BB-014F-4FD0-B993-7D7717FC9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Setup VS Code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A086D9-3AE0-4FA6-9C2C-581B6123DC8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noProof="0" dirty="0"/>
              <a:t>Open the „Extensions“ view by:</a:t>
            </a:r>
          </a:p>
          <a:p>
            <a:pPr lvl="1"/>
            <a:r>
              <a:rPr lang="en-GB" noProof="0" dirty="0"/>
              <a:t>Selecting „View“ -&gt; „Extensions“</a:t>
            </a:r>
          </a:p>
          <a:p>
            <a:pPr lvl="1"/>
            <a:r>
              <a:rPr lang="en-GB" noProof="0" dirty="0"/>
              <a:t>CTRL + Shift + X</a:t>
            </a:r>
          </a:p>
          <a:p>
            <a:r>
              <a:rPr lang="en-GB" noProof="0" dirty="0"/>
              <a:t>Search and install „Python“</a:t>
            </a:r>
          </a:p>
          <a:p>
            <a:pPr marL="0" indent="0">
              <a:buNone/>
            </a:pPr>
            <a:endParaRPr lang="en-GB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7209BFB-FA26-453A-8AE7-7F757EF6A5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44" t="12378" r="17080" b="16228"/>
          <a:stretch/>
        </p:blipFill>
        <p:spPr>
          <a:xfrm>
            <a:off x="6437194" y="1815154"/>
            <a:ext cx="614151" cy="61414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BF1E322-E8C7-474F-AC05-02E7628A5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569" y="3429001"/>
            <a:ext cx="6234862" cy="31884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884439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C8BBE8-02EF-4452-83B6-A907B58B2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VS Code (Python script)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F833C7-01A6-46FB-B085-7D8C9F9BB5E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776413" y="1866124"/>
            <a:ext cx="4571514" cy="4581331"/>
          </a:xfrm>
        </p:spPr>
        <p:txBody>
          <a:bodyPr>
            <a:normAutofit fontScale="92500"/>
          </a:bodyPr>
          <a:lstStyle/>
          <a:p>
            <a:r>
              <a:rPr lang="en-GB" noProof="0" dirty="0"/>
              <a:t>Create a new file (File - New File)</a:t>
            </a:r>
          </a:p>
          <a:p>
            <a:r>
              <a:rPr lang="en-GB" noProof="0" dirty="0"/>
              <a:t>Save the file (File-&gt; Save As…)</a:t>
            </a:r>
          </a:p>
          <a:p>
            <a:r>
              <a:rPr lang="en-GB" noProof="0" dirty="0"/>
              <a:t>Make sure it is of type python (.</a:t>
            </a:r>
            <a:r>
              <a:rPr lang="en-GB" noProof="0" dirty="0" err="1"/>
              <a:t>py</a:t>
            </a:r>
            <a:r>
              <a:rPr lang="en-GB" noProof="0" dirty="0"/>
              <a:t>)</a:t>
            </a:r>
          </a:p>
          <a:p>
            <a:r>
              <a:rPr lang="en-GB" noProof="0" dirty="0"/>
              <a:t>Scripts can be executed with F5 (debug mode), or right click + “Run Python file in terminal”</a:t>
            </a:r>
          </a:p>
          <a:p>
            <a:r>
              <a:rPr lang="en-GB" dirty="0"/>
              <a:t>To check your installation: print “Hello world!”</a:t>
            </a:r>
            <a:endParaRPr lang="en-GB" noProof="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DAC4C63-089A-483F-98A1-D4EF2015C7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5079" b="1383"/>
          <a:stretch/>
        </p:blipFill>
        <p:spPr>
          <a:xfrm>
            <a:off x="6589488" y="1800808"/>
            <a:ext cx="3528850" cy="423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0130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3F13-BB03-463D-99F0-038134434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How to run Python code?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4C3AF-1495-47A7-BF77-02D938303B5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67581" y="1633174"/>
            <a:ext cx="8531976" cy="1735667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Two main ways to execute Python code:</a:t>
            </a:r>
          </a:p>
          <a:p>
            <a:pPr marL="719137" lvl="1" indent="-342900">
              <a:buFont typeface="+mj-lt"/>
              <a:buAutoNum type="arabicPeriod"/>
            </a:pPr>
            <a:r>
              <a:rPr lang="en-GB" dirty="0"/>
              <a:t>Start the </a:t>
            </a:r>
            <a:r>
              <a:rPr lang="en-GB" b="1" dirty="0"/>
              <a:t>Python interpreter </a:t>
            </a:r>
            <a:r>
              <a:rPr lang="en-GB" dirty="0"/>
              <a:t>by typing </a:t>
            </a:r>
            <a:r>
              <a:rPr lang="en-GB" dirty="0">
                <a:latin typeface="Consolas" panose="020B0609020204030204" pitchFamily="49" charset="0"/>
              </a:rPr>
              <a:t>&gt;</a:t>
            </a:r>
            <a:r>
              <a:rPr lang="en-GB" dirty="0"/>
              <a:t> </a:t>
            </a:r>
            <a:r>
              <a:rPr lang="en-GB" dirty="0">
                <a:latin typeface="Consolas" panose="020B0609020204030204" pitchFamily="49" charset="0"/>
              </a:rPr>
              <a:t>python</a:t>
            </a:r>
            <a:r>
              <a:rPr lang="en-GB" dirty="0"/>
              <a:t> in command line</a:t>
            </a:r>
            <a:br>
              <a:rPr lang="en-GB" dirty="0"/>
            </a:br>
            <a:endParaRPr lang="en-GB" dirty="0"/>
          </a:p>
          <a:p>
            <a:pPr marL="719137" lvl="1" indent="-342900">
              <a:buFont typeface="+mj-lt"/>
              <a:buAutoNum type="arabicPeriod"/>
            </a:pPr>
            <a:r>
              <a:rPr lang="en-GB" dirty="0"/>
              <a:t>Write a </a:t>
            </a:r>
            <a:r>
              <a:rPr lang="en-GB" b="1" dirty="0"/>
              <a:t>Python script </a:t>
            </a:r>
            <a:r>
              <a:rPr lang="en-GB" dirty="0"/>
              <a:t>(.</a:t>
            </a:r>
            <a:r>
              <a:rPr lang="en-GB" dirty="0" err="1"/>
              <a:t>py</a:t>
            </a:r>
            <a:r>
              <a:rPr lang="en-GB" dirty="0"/>
              <a:t> file) then execute it by typing &gt; python name_of_the_script.py in command line</a:t>
            </a:r>
          </a:p>
          <a:p>
            <a:pPr marL="719137" lvl="1" indent="-342900">
              <a:buFont typeface="+mj-lt"/>
              <a:buAutoNum type="arabicPeriod"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1F82E8-AD77-4F72-A1AA-E2E037A6F75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8495" y="3429001"/>
            <a:ext cx="5284832" cy="3300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0538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D11DD7-110D-44BA-A595-728DDD5F7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Python Identifiers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0283E0-3D7C-4789-8697-57306EF6309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 noProof="0" dirty="0"/>
              <a:t>A </a:t>
            </a:r>
            <a:r>
              <a:rPr lang="en-GB" b="1" noProof="0" dirty="0"/>
              <a:t>Python identifier </a:t>
            </a:r>
            <a:r>
              <a:rPr lang="en-GB" noProof="0" dirty="0"/>
              <a:t>is a name used to identify a variable, function, class, module or other object:</a:t>
            </a:r>
          </a:p>
          <a:p>
            <a:pPr lvl="1"/>
            <a:r>
              <a:rPr lang="en-GB" noProof="0" dirty="0"/>
              <a:t>Starts with a letter A to Z or a to z or an underscore (_) followed by zero or more letters, underscores and digits (0 to 9).</a:t>
            </a:r>
          </a:p>
          <a:p>
            <a:pPr lvl="1"/>
            <a:r>
              <a:rPr lang="en-GB" noProof="0" dirty="0"/>
              <a:t>Case sensitive.</a:t>
            </a:r>
          </a:p>
          <a:p>
            <a:r>
              <a:rPr lang="en-GB" noProof="0" dirty="0"/>
              <a:t>When using </a:t>
            </a:r>
            <a:r>
              <a:rPr lang="en-GB" dirty="0"/>
              <a:t>a Python identifier, avoid:</a:t>
            </a:r>
          </a:p>
          <a:p>
            <a:pPr lvl="1"/>
            <a:r>
              <a:rPr lang="en-GB" noProof="0" dirty="0"/>
              <a:t>Using a Python keyword.</a:t>
            </a:r>
          </a:p>
          <a:p>
            <a:pPr lvl="1"/>
            <a:r>
              <a:rPr lang="en-GB" dirty="0"/>
              <a:t>Starting or ending the identifier with underscore (_) unless you have a specific reason to do so.</a:t>
            </a:r>
            <a:endParaRPr lang="en-GB" noProof="0" dirty="0"/>
          </a:p>
          <a:p>
            <a:r>
              <a:rPr lang="en-GB" dirty="0"/>
              <a:t>Python is a </a:t>
            </a:r>
            <a:r>
              <a:rPr lang="en-GB" b="1" dirty="0"/>
              <a:t>dynamically typed</a:t>
            </a:r>
            <a:r>
              <a:rPr lang="en-GB" dirty="0"/>
              <a:t> language:</a:t>
            </a:r>
          </a:p>
          <a:p>
            <a:pPr lvl="1"/>
            <a:r>
              <a:rPr lang="en-GB" noProof="0" dirty="0"/>
              <a:t>No need to declare any variable type.</a:t>
            </a:r>
          </a:p>
          <a:p>
            <a:pPr lvl="1"/>
            <a:r>
              <a:rPr lang="en-GB" dirty="0"/>
              <a:t>The type of a variable can be changed in the same script.</a:t>
            </a:r>
          </a:p>
          <a:p>
            <a:pPr lvl="1"/>
            <a:r>
              <a:rPr lang="en-GB" dirty="0"/>
              <a:t>E.g.: </a:t>
            </a:r>
            <a:r>
              <a:rPr lang="en-GB" sz="1400" dirty="0" err="1">
                <a:latin typeface="Consolas" panose="020B0609020204030204" pitchFamily="49" charset="0"/>
              </a:rPr>
              <a:t>aVariable</a:t>
            </a:r>
            <a:r>
              <a:rPr lang="en-GB" sz="1400" dirty="0">
                <a:latin typeface="Consolas" panose="020B0609020204030204" pitchFamily="49" charset="0"/>
              </a:rPr>
              <a:t> = 0</a:t>
            </a:r>
            <a:br>
              <a:rPr lang="en-GB" sz="1400" dirty="0">
                <a:latin typeface="Consolas" panose="020B0609020204030204" pitchFamily="49" charset="0"/>
              </a:rPr>
            </a:br>
            <a:r>
              <a:rPr lang="en-GB" sz="1400" dirty="0">
                <a:latin typeface="Consolas" panose="020B0609020204030204" pitchFamily="49" charset="0"/>
              </a:rPr>
              <a:t>     …</a:t>
            </a:r>
            <a:br>
              <a:rPr lang="en-GB" sz="1400" dirty="0">
                <a:latin typeface="Consolas" panose="020B0609020204030204" pitchFamily="49" charset="0"/>
              </a:rPr>
            </a:br>
            <a:r>
              <a:rPr lang="en-GB" sz="1400" dirty="0">
                <a:latin typeface="Consolas" panose="020B0609020204030204" pitchFamily="49" charset="0"/>
              </a:rPr>
              <a:t>     </a:t>
            </a:r>
            <a:r>
              <a:rPr lang="en-GB" sz="1400" dirty="0" err="1">
                <a:latin typeface="Consolas" panose="020B0609020204030204" pitchFamily="49" charset="0"/>
              </a:rPr>
              <a:t>aVariable</a:t>
            </a:r>
            <a:r>
              <a:rPr lang="en-GB" sz="1400" dirty="0">
                <a:latin typeface="Consolas" panose="020B0609020204030204" pitchFamily="49" charset="0"/>
              </a:rPr>
              <a:t> = “Hello world!”</a:t>
            </a:r>
          </a:p>
        </p:txBody>
      </p:sp>
    </p:spTree>
    <p:extLst>
      <p:ext uri="{BB962C8B-B14F-4D97-AF65-F5344CB8AC3E}">
        <p14:creationId xmlns:p14="http://schemas.microsoft.com/office/powerpoint/2010/main" val="21134942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6A9C79-5927-4AA2-9661-59FDFBBD6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Python keywords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A238F7-6DCA-4B53-AEA5-B5F8A50185E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noProof="0" dirty="0"/>
              <a:t>Reserved words (cannot use them as constant or variable)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7CD3A5B-B07F-48A9-A24A-F78EF75BD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284" y="2276956"/>
            <a:ext cx="6427432" cy="399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7353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F7D7A5-6A0F-4C62-B5CE-985CC6DC9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Naming conventions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CEA6DF-76C5-496B-9543-59B5B2C3D9E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noProof="0" dirty="0"/>
              <a:t>Class names start with an uppercase letter. All other identifiers start with a lowercase letter.</a:t>
            </a:r>
          </a:p>
          <a:p>
            <a:r>
              <a:rPr lang="en-GB" noProof="0" dirty="0"/>
              <a:t>Starting an identifier with a single leading underscore indicates that the identifier is private.</a:t>
            </a:r>
          </a:p>
          <a:p>
            <a:r>
              <a:rPr lang="en-GB" noProof="0" dirty="0"/>
              <a:t>Starting an identifier with two leading underscores indicates a strongly private identifier.</a:t>
            </a:r>
          </a:p>
          <a:p>
            <a:r>
              <a:rPr lang="en-GB" noProof="0" dirty="0"/>
              <a:t>Identifiers which start and end with two trailing underscores  are language-defined special names. The most useful examples are:</a:t>
            </a:r>
          </a:p>
          <a:p>
            <a:pPr lvl="1"/>
            <a:r>
              <a:rPr lang="en-GB" noProof="0" dirty="0">
                <a:latin typeface="Consolas" panose="020B0609020204030204" pitchFamily="49" charset="0"/>
              </a:rPr>
              <a:t>__</a:t>
            </a:r>
            <a:r>
              <a:rPr lang="en-GB" noProof="0" dirty="0" err="1">
                <a:latin typeface="Consolas" panose="020B0609020204030204" pitchFamily="49" charset="0"/>
              </a:rPr>
              <a:t>init</a:t>
            </a:r>
            <a:r>
              <a:rPr lang="en-GB" noProof="0" dirty="0">
                <a:latin typeface="Consolas" panose="020B0609020204030204" pitchFamily="49" charset="0"/>
              </a:rPr>
              <a:t>__ </a:t>
            </a:r>
            <a:r>
              <a:rPr lang="en-GB" noProof="0" dirty="0"/>
              <a:t>which refer to the class constructor</a:t>
            </a:r>
          </a:p>
          <a:p>
            <a:pPr lvl="1"/>
            <a:r>
              <a:rPr lang="en-GB" noProof="0" dirty="0">
                <a:latin typeface="Consolas" panose="020B0609020204030204" pitchFamily="49" charset="0"/>
              </a:rPr>
              <a:t>__name__ </a:t>
            </a:r>
            <a:r>
              <a:rPr lang="en-GB" noProof="0" dirty="0"/>
              <a:t>and </a:t>
            </a:r>
            <a:r>
              <a:rPr lang="en-GB" noProof="0" dirty="0">
                <a:latin typeface="Consolas" panose="020B0609020204030204" pitchFamily="49" charset="0"/>
              </a:rPr>
              <a:t>__main__ </a:t>
            </a:r>
            <a:r>
              <a:rPr lang="en-GB" noProof="0" dirty="0"/>
              <a:t>which are used to define a main file:</a:t>
            </a:r>
            <a:br>
              <a:rPr lang="en-GB" noProof="0" dirty="0"/>
            </a:br>
            <a:br>
              <a:rPr lang="en-GB" noProof="0" dirty="0"/>
            </a:br>
            <a:r>
              <a:rPr lang="en-GB" sz="1600" dirty="0">
                <a:latin typeface="Consolas" panose="020B0609020204030204" pitchFamily="49" charset="0"/>
              </a:rPr>
              <a:t>if __name__ == “___main__”:</a:t>
            </a:r>
            <a:br>
              <a:rPr lang="en-GB" sz="1600" dirty="0">
                <a:latin typeface="Consolas" panose="020B0609020204030204" pitchFamily="49" charset="0"/>
              </a:rPr>
            </a:br>
            <a:r>
              <a:rPr lang="en-GB" sz="1600" dirty="0">
                <a:latin typeface="Consolas" panose="020B0609020204030204" pitchFamily="49" charset="0"/>
              </a:rPr>
              <a:t>     ……</a:t>
            </a:r>
          </a:p>
          <a:p>
            <a:endParaRPr lang="en-GB" noProof="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4EA93DC-FEB2-4D2E-9DAE-9620CED7F6AD}"/>
              </a:ext>
            </a:extLst>
          </p:cNvPr>
          <p:cNvSpPr/>
          <p:nvPr/>
        </p:nvSpPr>
        <p:spPr>
          <a:xfrm>
            <a:off x="6274886" y="1010833"/>
            <a:ext cx="39359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400" dirty="0">
                <a:hlinkClick r:id="rId3"/>
              </a:rPr>
              <a:t>https://visualgit.readthedocs.io/en/latest/pages/naming_convention.html</a:t>
            </a:r>
            <a:r>
              <a:rPr lang="de-DE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69620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EDD473-F6B5-4F7B-B607-B6F7ECE64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853350"/>
            <a:ext cx="8229600" cy="560387"/>
          </a:xfrm>
        </p:spPr>
        <p:txBody>
          <a:bodyPr>
            <a:normAutofit fontScale="90000"/>
          </a:bodyPr>
          <a:lstStyle/>
          <a:p>
            <a:r>
              <a:rPr lang="en-GB" noProof="0" dirty="0"/>
              <a:t>Indentation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6A8FAD-1BB9-4CC0-B2F8-4970E60F46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79614" y="1488796"/>
            <a:ext cx="4638900" cy="5164667"/>
          </a:xfrm>
        </p:spPr>
        <p:txBody>
          <a:bodyPr>
            <a:normAutofit fontScale="92500" lnSpcReduction="10000"/>
          </a:bodyPr>
          <a:lstStyle/>
          <a:p>
            <a:r>
              <a:rPr lang="en-GB" noProof="0" dirty="0"/>
              <a:t>In Python, no braces to indicate blocks of code</a:t>
            </a:r>
          </a:p>
          <a:p>
            <a:r>
              <a:rPr lang="en-GB" noProof="0" dirty="0"/>
              <a:t>Denoted by </a:t>
            </a:r>
            <a:r>
              <a:rPr lang="en-GB" b="1" noProof="0" dirty="0"/>
              <a:t>line indentation</a:t>
            </a:r>
          </a:p>
          <a:p>
            <a:r>
              <a:rPr lang="en-GB" noProof="0" dirty="0"/>
              <a:t>Number of spaces in the indentation up to you, but all statements within the block must be indented the same amount</a:t>
            </a:r>
          </a:p>
          <a:p>
            <a:pPr lvl="1"/>
            <a:r>
              <a:rPr lang="en-GB" dirty="0"/>
              <a:t>Commonly used indentations: </a:t>
            </a:r>
            <a:r>
              <a:rPr lang="en-GB" b="1" dirty="0"/>
              <a:t>tabs</a:t>
            </a:r>
            <a:r>
              <a:rPr lang="en-GB" dirty="0"/>
              <a:t> or </a:t>
            </a:r>
            <a:r>
              <a:rPr lang="en-GB" b="1" dirty="0"/>
              <a:t>4 spaces.</a:t>
            </a:r>
          </a:p>
          <a:p>
            <a:r>
              <a:rPr lang="en-GB" noProof="0" dirty="0"/>
              <a:t>Notes: </a:t>
            </a:r>
          </a:p>
          <a:p>
            <a:pPr lvl="1"/>
            <a:r>
              <a:rPr lang="en-GB" noProof="0" dirty="0"/>
              <a:t>mixing spaces and tabs together </a:t>
            </a:r>
            <a:r>
              <a:rPr lang="en-GB" noProof="0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GB" noProof="0" dirty="0"/>
              <a:t>error!</a:t>
            </a:r>
          </a:p>
          <a:p>
            <a:pPr lvl="1"/>
            <a:r>
              <a:rPr lang="en-GB" dirty="0"/>
              <a:t>no need to use any character to denote an end of line (e.g. “;”)</a:t>
            </a:r>
            <a:endParaRPr lang="en-GB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5F984B6-3EC9-4975-A28D-A3CD79CD55ED}"/>
              </a:ext>
            </a:extLst>
          </p:cNvPr>
          <p:cNvGrpSpPr/>
          <p:nvPr/>
        </p:nvGrpSpPr>
        <p:grpSpPr>
          <a:xfrm>
            <a:off x="6833118" y="1368309"/>
            <a:ext cx="3377682" cy="2199791"/>
            <a:chOff x="872835" y="3539884"/>
            <a:chExt cx="4738255" cy="3140230"/>
          </a:xfrm>
        </p:grpSpPr>
        <p:sp>
          <p:nvSpPr>
            <p:cNvPr id="10" name="Rechteck 3">
              <a:extLst>
                <a:ext uri="{FF2B5EF4-FFF2-40B4-BE49-F238E27FC236}">
                  <a16:creationId xmlns:a16="http://schemas.microsoft.com/office/drawing/2014/main" id="{695FE8FB-5519-42FD-AAFA-2F0023094506}"/>
                </a:ext>
              </a:extLst>
            </p:cNvPr>
            <p:cNvSpPr/>
            <p:nvPr/>
          </p:nvSpPr>
          <p:spPr>
            <a:xfrm>
              <a:off x="872836" y="3539884"/>
              <a:ext cx="3463637" cy="60955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de-DE" sz="16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Block 1</a:t>
              </a:r>
            </a:p>
          </p:txBody>
        </p:sp>
        <p:sp>
          <p:nvSpPr>
            <p:cNvPr id="11" name="Rechteck 4">
              <a:extLst>
                <a:ext uri="{FF2B5EF4-FFF2-40B4-BE49-F238E27FC236}">
                  <a16:creationId xmlns:a16="http://schemas.microsoft.com/office/drawing/2014/main" id="{12D9C046-0218-4802-881A-4FA8989966FC}"/>
                </a:ext>
              </a:extLst>
            </p:cNvPr>
            <p:cNvSpPr/>
            <p:nvPr/>
          </p:nvSpPr>
          <p:spPr>
            <a:xfrm>
              <a:off x="872835" y="6070563"/>
              <a:ext cx="3463637" cy="60955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16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Block 1, continuation</a:t>
              </a:r>
            </a:p>
          </p:txBody>
        </p:sp>
        <p:sp>
          <p:nvSpPr>
            <p:cNvPr id="12" name="Rechteck 5">
              <a:extLst>
                <a:ext uri="{FF2B5EF4-FFF2-40B4-BE49-F238E27FC236}">
                  <a16:creationId xmlns:a16="http://schemas.microsoft.com/office/drawing/2014/main" id="{ACFDF27A-F472-42E0-8C8F-65787801F662}"/>
                </a:ext>
              </a:extLst>
            </p:cNvPr>
            <p:cNvSpPr/>
            <p:nvPr/>
          </p:nvSpPr>
          <p:spPr>
            <a:xfrm>
              <a:off x="1537854" y="4170701"/>
              <a:ext cx="3463637" cy="609551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de-DE" sz="16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Block 2</a:t>
              </a:r>
            </a:p>
          </p:txBody>
        </p:sp>
        <p:sp>
          <p:nvSpPr>
            <p:cNvPr id="13" name="Rechteck 6">
              <a:extLst>
                <a:ext uri="{FF2B5EF4-FFF2-40B4-BE49-F238E27FC236}">
                  <a16:creationId xmlns:a16="http://schemas.microsoft.com/office/drawing/2014/main" id="{108DC296-9A67-44BD-AD83-F607A906E5AB}"/>
                </a:ext>
              </a:extLst>
            </p:cNvPr>
            <p:cNvSpPr/>
            <p:nvPr/>
          </p:nvSpPr>
          <p:spPr>
            <a:xfrm>
              <a:off x="1537854" y="5432335"/>
              <a:ext cx="3463637" cy="609551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16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Block 2, continuation</a:t>
              </a:r>
            </a:p>
          </p:txBody>
        </p:sp>
        <p:sp>
          <p:nvSpPr>
            <p:cNvPr id="14" name="Rechteck 7">
              <a:extLst>
                <a:ext uri="{FF2B5EF4-FFF2-40B4-BE49-F238E27FC236}">
                  <a16:creationId xmlns:a16="http://schemas.microsoft.com/office/drawing/2014/main" id="{B74D5520-B608-4AD8-AB10-FDE967A91E85}"/>
                </a:ext>
              </a:extLst>
            </p:cNvPr>
            <p:cNvSpPr/>
            <p:nvPr/>
          </p:nvSpPr>
          <p:spPr>
            <a:xfrm>
              <a:off x="2147453" y="4801518"/>
              <a:ext cx="3463637" cy="60955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de-DE" sz="16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Block 3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1861841-2AF6-42B3-B790-A1150CB088BC}"/>
              </a:ext>
            </a:extLst>
          </p:cNvPr>
          <p:cNvGrpSpPr/>
          <p:nvPr/>
        </p:nvGrpSpPr>
        <p:grpSpPr>
          <a:xfrm>
            <a:off x="6833118" y="4235514"/>
            <a:ext cx="3377682" cy="1943426"/>
            <a:chOff x="872835" y="3539884"/>
            <a:chExt cx="4738255" cy="3140230"/>
          </a:xfrm>
        </p:grpSpPr>
        <p:sp>
          <p:nvSpPr>
            <p:cNvPr id="16" name="Rechteck 3">
              <a:extLst>
                <a:ext uri="{FF2B5EF4-FFF2-40B4-BE49-F238E27FC236}">
                  <a16:creationId xmlns:a16="http://schemas.microsoft.com/office/drawing/2014/main" id="{7A5DCB18-AD15-4AF5-A13D-E909B307582F}"/>
                </a:ext>
              </a:extLst>
            </p:cNvPr>
            <p:cNvSpPr/>
            <p:nvPr/>
          </p:nvSpPr>
          <p:spPr>
            <a:xfrm>
              <a:off x="872836" y="3539884"/>
              <a:ext cx="3463637" cy="60955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for </a:t>
              </a:r>
              <a:r>
                <a:rPr lang="en-GB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idx</a:t>
              </a:r>
              <a:r>
                <a:rPr lang="en-GB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 in range(n):</a:t>
              </a:r>
            </a:p>
          </p:txBody>
        </p:sp>
        <p:sp>
          <p:nvSpPr>
            <p:cNvPr id="17" name="Rechteck 4">
              <a:extLst>
                <a:ext uri="{FF2B5EF4-FFF2-40B4-BE49-F238E27FC236}">
                  <a16:creationId xmlns:a16="http://schemas.microsoft.com/office/drawing/2014/main" id="{A16BB139-5A30-4A67-99AC-656B24980FE4}"/>
                </a:ext>
              </a:extLst>
            </p:cNvPr>
            <p:cNvSpPr/>
            <p:nvPr/>
          </p:nvSpPr>
          <p:spPr>
            <a:xfrm>
              <a:off x="872835" y="6070563"/>
              <a:ext cx="3463637" cy="60955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Task outside for</a:t>
              </a:r>
            </a:p>
          </p:txBody>
        </p:sp>
        <p:sp>
          <p:nvSpPr>
            <p:cNvPr id="18" name="Rechteck 5">
              <a:extLst>
                <a:ext uri="{FF2B5EF4-FFF2-40B4-BE49-F238E27FC236}">
                  <a16:creationId xmlns:a16="http://schemas.microsoft.com/office/drawing/2014/main" id="{A0794EFE-2213-4AF4-8008-6D6D34C9CDB0}"/>
                </a:ext>
              </a:extLst>
            </p:cNvPr>
            <p:cNvSpPr/>
            <p:nvPr/>
          </p:nvSpPr>
          <p:spPr>
            <a:xfrm>
              <a:off x="1537854" y="4170701"/>
              <a:ext cx="3463637" cy="609551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if B:</a:t>
              </a:r>
            </a:p>
          </p:txBody>
        </p:sp>
        <p:sp>
          <p:nvSpPr>
            <p:cNvPr id="19" name="Rechteck 6">
              <a:extLst>
                <a:ext uri="{FF2B5EF4-FFF2-40B4-BE49-F238E27FC236}">
                  <a16:creationId xmlns:a16="http://schemas.microsoft.com/office/drawing/2014/main" id="{3B9EC7B7-1660-48BF-B01A-4CACAA137695}"/>
                </a:ext>
              </a:extLst>
            </p:cNvPr>
            <p:cNvSpPr/>
            <p:nvPr/>
          </p:nvSpPr>
          <p:spPr>
            <a:xfrm>
              <a:off x="1537854" y="5432335"/>
              <a:ext cx="3463637" cy="609551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Task inside for</a:t>
              </a:r>
              <a:r>
                <a:rPr lang="en-GB" sz="24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	</a:t>
              </a:r>
            </a:p>
          </p:txBody>
        </p:sp>
        <p:sp>
          <p:nvSpPr>
            <p:cNvPr id="20" name="Rechteck 7">
              <a:extLst>
                <a:ext uri="{FF2B5EF4-FFF2-40B4-BE49-F238E27FC236}">
                  <a16:creationId xmlns:a16="http://schemas.microsoft.com/office/drawing/2014/main" id="{12E8EF8F-CF4D-4E96-A92A-B74D5B521CC5}"/>
                </a:ext>
              </a:extLst>
            </p:cNvPr>
            <p:cNvSpPr/>
            <p:nvPr/>
          </p:nvSpPr>
          <p:spPr>
            <a:xfrm>
              <a:off x="2147453" y="4801518"/>
              <a:ext cx="3463637" cy="60955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Task inside if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81355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99B199-9B6E-4064-8679-6F345B422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Multi-Line Statements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64FE944-296A-44F1-89BB-734C8C9BC6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noProof="0" dirty="0"/>
              <a:t>Statements in Python typically end with a new line</a:t>
            </a:r>
          </a:p>
          <a:p>
            <a:r>
              <a:rPr lang="en-GB" noProof="0" dirty="0"/>
              <a:t>Use of the line continuation character (\)</a:t>
            </a:r>
          </a:p>
          <a:p>
            <a:pPr marL="793750" lvl="2" indent="0">
              <a:buNone/>
            </a:pPr>
            <a:r>
              <a:rPr lang="en-GB" i="1" dirty="0"/>
              <a:t>total = item_one + \</a:t>
            </a:r>
          </a:p>
          <a:p>
            <a:pPr marL="793750" lvl="2" indent="0">
              <a:buNone/>
            </a:pPr>
            <a:r>
              <a:rPr lang="en-GB" i="1" dirty="0"/>
              <a:t>        item_two + \</a:t>
            </a:r>
          </a:p>
          <a:p>
            <a:pPr marL="793750" lvl="2" indent="0">
              <a:buNone/>
            </a:pPr>
            <a:r>
              <a:rPr lang="en-GB" i="1" dirty="0"/>
              <a:t>        item_three</a:t>
            </a:r>
          </a:p>
          <a:p>
            <a:r>
              <a:rPr lang="en-GB" noProof="0" dirty="0"/>
              <a:t>Statements contained within the [], {}, or () brackets do not need to use the line continuation character</a:t>
            </a:r>
          </a:p>
          <a:p>
            <a:pPr marL="798512" lvl="2" indent="0">
              <a:buNone/>
            </a:pPr>
            <a:r>
              <a:rPr lang="en-GB" i="1" dirty="0"/>
              <a:t>days = ['Monday', 'Tuesday', 'Wednesday',</a:t>
            </a:r>
          </a:p>
          <a:p>
            <a:pPr marL="798512" lvl="2" indent="0">
              <a:buNone/>
            </a:pPr>
            <a:r>
              <a:rPr lang="en-GB" i="1" dirty="0"/>
              <a:t>        'Thursday', 'Friday']</a:t>
            </a:r>
          </a:p>
        </p:txBody>
      </p:sp>
    </p:spTree>
    <p:extLst>
      <p:ext uri="{BB962C8B-B14F-4D97-AF65-F5344CB8AC3E}">
        <p14:creationId xmlns:p14="http://schemas.microsoft.com/office/powerpoint/2010/main" val="37485540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F23F2D-C04C-475C-ABD1-236D9552F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Quotation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C26D081-06CF-4CCD-98A8-954B339B8D6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noProof="0" dirty="0"/>
              <a:t>Python accepts single ('), double (") and triple (''' or """) quotes to denote string literals</a:t>
            </a:r>
          </a:p>
          <a:p>
            <a:r>
              <a:rPr lang="en-GB" noProof="0" dirty="0"/>
              <a:t>Start and end same type</a:t>
            </a:r>
          </a:p>
          <a:p>
            <a:r>
              <a:rPr lang="en-GB" noProof="0" dirty="0"/>
              <a:t>Triple quotes are used to span the string across multiple lines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C3603A7-5691-4D1C-97D4-541DEE9267F8}"/>
              </a:ext>
            </a:extLst>
          </p:cNvPr>
          <p:cNvSpPr txBox="1"/>
          <p:nvPr/>
        </p:nvSpPr>
        <p:spPr>
          <a:xfrm>
            <a:off x="3051629" y="4275666"/>
            <a:ext cx="6088743" cy="16086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word =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'word'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sentence =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"This is a sentence."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paragraph =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"""This is a paragraph. It is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made up of multiple lines and sentences."""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8643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02E133-F418-414B-A1B4-85121E066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Comments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FBD22B-62C2-47C6-9394-1430DB909B9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79614" y="1887298"/>
            <a:ext cx="3919264" cy="4191001"/>
          </a:xfrm>
        </p:spPr>
        <p:txBody>
          <a:bodyPr>
            <a:normAutofit fontScale="92500" lnSpcReduction="20000"/>
          </a:bodyPr>
          <a:lstStyle/>
          <a:p>
            <a:r>
              <a:rPr lang="en-GB" noProof="0" dirty="0"/>
              <a:t>A </a:t>
            </a:r>
            <a:r>
              <a:rPr lang="en-GB" b="1" noProof="0" dirty="0"/>
              <a:t>hash sign (#) </a:t>
            </a:r>
            <a:r>
              <a:rPr lang="en-GB" noProof="0" dirty="0"/>
              <a:t>that is not inside a string literal begins a comment -&gt; whole line is commented (ignored by the interpreter)</a:t>
            </a:r>
          </a:p>
          <a:p>
            <a:r>
              <a:rPr lang="en-GB" noProof="0" dirty="0"/>
              <a:t>Can be used to comment multiple lines in a row</a:t>
            </a:r>
          </a:p>
          <a:p>
            <a:r>
              <a:rPr lang="en-GB" b="1" noProof="0" dirty="0"/>
              <a:t>Triple-quoted string </a:t>
            </a:r>
            <a:r>
              <a:rPr lang="en-GB" noProof="0" dirty="0"/>
              <a:t>is also ignored by Python interpreter and can be used as a multiline comments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E9D7D12-8E2B-4A5E-BC67-5B11DC001FBA}"/>
              </a:ext>
            </a:extLst>
          </p:cNvPr>
          <p:cNvSpPr txBox="1"/>
          <p:nvPr/>
        </p:nvSpPr>
        <p:spPr>
          <a:xfrm>
            <a:off x="7166430" y="2705655"/>
            <a:ext cx="3044371" cy="25542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#This is a comment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"Hello World"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2000" dirty="0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'''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This is 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a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multirow comment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'''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3068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071E3E-41F3-47B2-B96E-3703CE508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Basic operations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E7B2F6-BA82-4B6E-91C5-BDA0BBB9238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79614" y="1693334"/>
            <a:ext cx="8459787" cy="5164667"/>
          </a:xfrm>
        </p:spPr>
        <p:txBody>
          <a:bodyPr/>
          <a:lstStyle/>
          <a:p>
            <a:r>
              <a:rPr lang="en-US" dirty="0"/>
              <a:t>The operators +, -, * and / work just like in most other languages</a:t>
            </a:r>
          </a:p>
          <a:p>
            <a:r>
              <a:rPr lang="en-US" dirty="0"/>
              <a:t>The standard comparison operators are written the same as in C: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&lt; 	(less than)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&gt;	(greater than)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== 	(equal to)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 &lt;= 	(less than or equal to)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 &gt;= 	(greater than or equal to)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!= 	(not equal to)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Modulo operation: 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Floor division:  a // b</a:t>
            </a:r>
          </a:p>
        </p:txBody>
      </p:sp>
    </p:spTree>
    <p:extLst>
      <p:ext uri="{BB962C8B-B14F-4D97-AF65-F5344CB8AC3E}">
        <p14:creationId xmlns:p14="http://schemas.microsoft.com/office/powerpoint/2010/main" val="24308047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B20614-F023-46E0-8747-88FD5CF72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Assigning values to variables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D544A0-B823-4D7A-964D-7069620EEFD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79614" y="1513219"/>
            <a:ext cx="8232775" cy="2194745"/>
          </a:xfrm>
        </p:spPr>
        <p:txBody>
          <a:bodyPr>
            <a:normAutofit lnSpcReduction="10000"/>
          </a:bodyPr>
          <a:lstStyle/>
          <a:p>
            <a:r>
              <a:rPr lang="en-GB" noProof="0" dirty="0"/>
              <a:t>Variables do not need explicit declaration to reserve memory space</a:t>
            </a:r>
          </a:p>
          <a:p>
            <a:r>
              <a:rPr lang="en-GB" noProof="0" dirty="0"/>
              <a:t>No type needed</a:t>
            </a:r>
          </a:p>
          <a:p>
            <a:r>
              <a:rPr lang="en-GB" noProof="0" dirty="0"/>
              <a:t>Equal sign (=) </a:t>
            </a:r>
          </a:p>
          <a:p>
            <a:r>
              <a:rPr lang="en-GB" noProof="0" dirty="0"/>
              <a:t>delete entire variables: </a:t>
            </a:r>
            <a:r>
              <a:rPr lang="en-GB" i="1" noProof="0" dirty="0"/>
              <a:t>del *variable name*</a:t>
            </a:r>
          </a:p>
          <a:p>
            <a:endParaRPr lang="en-GB" noProof="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806EBCB-B9A2-4724-AB29-C898611D1359}"/>
              </a:ext>
            </a:extLst>
          </p:cNvPr>
          <p:cNvSpPr txBox="1"/>
          <p:nvPr/>
        </p:nvSpPr>
        <p:spPr>
          <a:xfrm>
            <a:off x="3051629" y="3652545"/>
            <a:ext cx="6088743" cy="2969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# An integer assignment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counter = </a:t>
            </a:r>
            <a:r>
              <a:rPr lang="en-US" sz="1600" dirty="0">
                <a:solidFill>
                  <a:srgbClr val="09885A"/>
                </a:solidFill>
                <a:latin typeface="Consolas" panose="020B0609020204030204" pitchFamily="49" charset="0"/>
              </a:rPr>
              <a:t>100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# A floating point 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miles = </a:t>
            </a:r>
            <a:r>
              <a:rPr lang="en-US" sz="1600" dirty="0">
                <a:solidFill>
                  <a:srgbClr val="09885A"/>
                </a:solidFill>
                <a:latin typeface="Consolas" panose="020B0609020204030204" pitchFamily="49" charset="0"/>
              </a:rPr>
              <a:t>1000.0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# A string 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name =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"John"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# one line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counter, miles, name = </a:t>
            </a:r>
            <a:r>
              <a:rPr lang="en-US" sz="1600" dirty="0">
                <a:solidFill>
                  <a:srgbClr val="09885A"/>
                </a:solidFill>
                <a:latin typeface="Consolas" panose="020B0609020204030204" pitchFamily="49" charset="0"/>
              </a:rPr>
              <a:t>100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85A"/>
                </a:solidFill>
                <a:latin typeface="Consolas" panose="020B0609020204030204" pitchFamily="49" charset="0"/>
              </a:rPr>
              <a:t>1000.0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"John"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# Assign single value to several variables 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a = b = c = </a:t>
            </a:r>
            <a:r>
              <a:rPr lang="en-US" sz="16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</a:p>
          <a:p>
            <a:r>
              <a:rPr lang="de-DE" sz="1600" dirty="0">
                <a:solidFill>
                  <a:srgbClr val="008000"/>
                </a:solidFill>
                <a:latin typeface="Consolas" panose="020B0609020204030204" pitchFamily="49" charset="0"/>
              </a:rPr>
              <a:t># Delete a variable</a:t>
            </a:r>
            <a:endParaRPr lang="de-DE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AF00DB"/>
                </a:solidFill>
                <a:latin typeface="Consolas" panose="020B0609020204030204" pitchFamily="49" charset="0"/>
              </a:rPr>
              <a:t>del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 a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660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372459-CE89-44F8-9BC9-8650B8D2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Standard data types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85AF83-6B8A-48B3-B2E3-091E0933488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noProof="0" dirty="0"/>
              <a:t>Python has six standard data types </a:t>
            </a:r>
          </a:p>
          <a:p>
            <a:pPr lvl="1"/>
            <a:r>
              <a:rPr lang="en-GB" noProof="0" dirty="0"/>
              <a:t>Numbers</a:t>
            </a:r>
          </a:p>
          <a:p>
            <a:pPr lvl="1"/>
            <a:r>
              <a:rPr lang="en-GB" dirty="0"/>
              <a:t>Boolean</a:t>
            </a:r>
            <a:endParaRPr lang="en-GB" noProof="0" dirty="0"/>
          </a:p>
          <a:p>
            <a:pPr lvl="1"/>
            <a:r>
              <a:rPr lang="en-GB" noProof="0" dirty="0"/>
              <a:t>String</a:t>
            </a:r>
          </a:p>
          <a:p>
            <a:pPr lvl="1"/>
            <a:r>
              <a:rPr lang="en-GB" noProof="0" dirty="0"/>
              <a:t>List</a:t>
            </a:r>
          </a:p>
          <a:p>
            <a:pPr lvl="1"/>
            <a:r>
              <a:rPr lang="en-GB" noProof="0" dirty="0"/>
              <a:t>Tuple</a:t>
            </a:r>
          </a:p>
          <a:p>
            <a:pPr lvl="1"/>
            <a:r>
              <a:rPr lang="en-GB" noProof="0" dirty="0"/>
              <a:t>Dictionary</a:t>
            </a:r>
          </a:p>
          <a:p>
            <a:r>
              <a:rPr lang="en-GB" dirty="0"/>
              <a:t>For numbers: integer, float, complex</a:t>
            </a:r>
          </a:p>
          <a:p>
            <a:r>
              <a:rPr lang="en-GB" noProof="0" dirty="0"/>
              <a:t>For Booleans: </a:t>
            </a:r>
            <a:r>
              <a:rPr lang="en-GB" noProof="0" dirty="0">
                <a:latin typeface="Consolas" panose="020B0609020204030204" pitchFamily="49" charset="0"/>
              </a:rPr>
              <a:t>True, False</a:t>
            </a:r>
          </a:p>
          <a:p>
            <a:pPr lvl="1"/>
            <a:r>
              <a:rPr lang="en-GB" dirty="0"/>
              <a:t>Note: in Python 3.x, Booleans inherit from integers, i.e. </a:t>
            </a:r>
            <a:br>
              <a:rPr lang="en-GB" dirty="0"/>
            </a:br>
            <a:r>
              <a:rPr lang="en-GB" dirty="0">
                <a:latin typeface="Consolas" panose="020B0609020204030204" pitchFamily="49" charset="0"/>
              </a:rPr>
              <a:t>True == 1 </a:t>
            </a:r>
            <a:r>
              <a:rPr lang="en-GB" dirty="0"/>
              <a:t>and </a:t>
            </a:r>
            <a:r>
              <a:rPr lang="en-GB" dirty="0">
                <a:latin typeface="Consolas" panose="020B0609020204030204" pitchFamily="49" charset="0"/>
              </a:rPr>
              <a:t>False == 0 </a:t>
            </a:r>
            <a:r>
              <a:rPr lang="en-GB" dirty="0"/>
              <a:t>will both return </a:t>
            </a:r>
            <a:r>
              <a:rPr lang="en-GB" dirty="0">
                <a:latin typeface="Consolas" panose="020B0609020204030204" pitchFamily="49" charset="0"/>
              </a:rPr>
              <a:t>True</a:t>
            </a:r>
            <a:r>
              <a:rPr lang="en-GB" dirty="0"/>
              <a:t>.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2381192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CB0A0F-E160-4DB6-9626-AAA6FDDC1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Lists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EAF2F1-58C5-4DF9-A52A-E2A705C6297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79614" y="1693334"/>
            <a:ext cx="8232775" cy="2435322"/>
          </a:xfrm>
        </p:spPr>
        <p:txBody>
          <a:bodyPr>
            <a:normAutofit fontScale="92500" lnSpcReduction="10000"/>
          </a:bodyPr>
          <a:lstStyle/>
          <a:p>
            <a:r>
              <a:rPr lang="en-GB" noProof="0" dirty="0"/>
              <a:t>Items separated by commas and enclosed within square brackets ([])</a:t>
            </a:r>
          </a:p>
          <a:p>
            <a:pPr lvl="1"/>
            <a:r>
              <a:rPr lang="en-GB" noProof="0" dirty="0"/>
              <a:t>Similar to arrays in C.</a:t>
            </a:r>
          </a:p>
          <a:p>
            <a:r>
              <a:rPr lang="en-GB" b="1" noProof="0" dirty="0"/>
              <a:t>Indexing starts at 0</a:t>
            </a:r>
          </a:p>
          <a:p>
            <a:r>
              <a:rPr lang="en-GB" noProof="0" dirty="0"/>
              <a:t>Items can be of different data type</a:t>
            </a:r>
          </a:p>
          <a:p>
            <a:r>
              <a:rPr lang="en-GB" noProof="0" dirty="0"/>
              <a:t>Items can deleted: </a:t>
            </a:r>
            <a:r>
              <a:rPr lang="en-GB" i="1" noProof="0" dirty="0"/>
              <a:t>del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8CE05B7-C4C2-4120-AD04-B1B8E81335AB}"/>
              </a:ext>
            </a:extLst>
          </p:cNvPr>
          <p:cNvSpPr txBox="1"/>
          <p:nvPr/>
        </p:nvSpPr>
        <p:spPr>
          <a:xfrm>
            <a:off x="2883560" y="4287938"/>
            <a:ext cx="6424881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GB" sz="1400" dirty="0">
                <a:solidFill>
                  <a:srgbClr val="267F99"/>
                </a:solidFill>
                <a:latin typeface="Consolas" panose="020B0609020204030204" pitchFamily="49" charset="0"/>
              </a:rPr>
              <a:t>list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= [ </a:t>
            </a:r>
            <a:r>
              <a:rPr lang="en-GB" sz="1400" dirty="0">
                <a:solidFill>
                  <a:srgbClr val="A31515"/>
                </a:solidFill>
                <a:latin typeface="Consolas" panose="020B0609020204030204" pitchFamily="49" charset="0"/>
              </a:rPr>
              <a:t>'abcd'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400" dirty="0">
                <a:solidFill>
                  <a:srgbClr val="09885A"/>
                </a:solidFill>
                <a:latin typeface="Consolas" panose="020B0609020204030204" pitchFamily="49" charset="0"/>
              </a:rPr>
              <a:t>786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, </a:t>
            </a:r>
            <a:r>
              <a:rPr lang="en-GB" sz="1400" dirty="0">
                <a:solidFill>
                  <a:srgbClr val="09885A"/>
                </a:solidFill>
                <a:latin typeface="Consolas" panose="020B0609020204030204" pitchFamily="49" charset="0"/>
              </a:rPr>
              <a:t>2.23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400" dirty="0">
                <a:solidFill>
                  <a:srgbClr val="A31515"/>
                </a:solidFill>
                <a:latin typeface="Consolas" panose="020B0609020204030204" pitchFamily="49" charset="0"/>
              </a:rPr>
              <a:t>'john'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400" dirty="0">
                <a:solidFill>
                  <a:srgbClr val="09885A"/>
                </a:solidFill>
                <a:latin typeface="Consolas" panose="020B0609020204030204" pitchFamily="49" charset="0"/>
              </a:rPr>
              <a:t>70.2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]</a:t>
            </a: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tinylist = [</a:t>
            </a:r>
            <a:r>
              <a:rPr lang="en-GB" sz="1400" dirty="0">
                <a:solidFill>
                  <a:srgbClr val="09885A"/>
                </a:solidFill>
                <a:latin typeface="Consolas" panose="020B0609020204030204" pitchFamily="49" charset="0"/>
              </a:rPr>
              <a:t>123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400" dirty="0">
                <a:solidFill>
                  <a:srgbClr val="A31515"/>
                </a:solidFill>
                <a:latin typeface="Consolas" panose="020B0609020204030204" pitchFamily="49" charset="0"/>
              </a:rPr>
              <a:t>'john'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b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1400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400" dirty="0">
                <a:solidFill>
                  <a:srgbClr val="267F99"/>
                </a:solidFill>
                <a:latin typeface="Consolas" panose="020B0609020204030204" pitchFamily="49" charset="0"/>
              </a:rPr>
              <a:t>list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GB" sz="1400" dirty="0">
                <a:solidFill>
                  <a:srgbClr val="008000"/>
                </a:solidFill>
                <a:latin typeface="Consolas" panose="020B0609020204030204" pitchFamily="49" charset="0"/>
              </a:rPr>
              <a:t># Prints complete list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(list[</a:t>
            </a:r>
            <a:r>
              <a:rPr lang="en-GB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]) </a:t>
            </a:r>
            <a:r>
              <a:rPr lang="en-GB" sz="1400" dirty="0">
                <a:solidFill>
                  <a:srgbClr val="008000"/>
                </a:solidFill>
                <a:latin typeface="Consolas" panose="020B0609020204030204" pitchFamily="49" charset="0"/>
              </a:rPr>
              <a:t># Prints first element of the list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(list[</a:t>
            </a:r>
            <a:r>
              <a:rPr lang="en-GB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GB" sz="1400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]) </a:t>
            </a:r>
            <a:r>
              <a:rPr lang="en-GB" sz="1400" dirty="0">
                <a:solidFill>
                  <a:srgbClr val="008000"/>
                </a:solidFill>
                <a:latin typeface="Consolas" panose="020B0609020204030204" pitchFamily="49" charset="0"/>
              </a:rPr>
              <a:t># Prints elements starting from 2nd till 3rd 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(list[</a:t>
            </a:r>
            <a:r>
              <a:rPr lang="en-GB" sz="1400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:]) </a:t>
            </a:r>
            <a:r>
              <a:rPr lang="en-GB" sz="1400" dirty="0">
                <a:solidFill>
                  <a:srgbClr val="008000"/>
                </a:solidFill>
                <a:latin typeface="Consolas" panose="020B0609020204030204" pitchFamily="49" charset="0"/>
              </a:rPr>
              <a:t># Prints elements starting from 3rd element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(tinylist * </a:t>
            </a:r>
            <a:r>
              <a:rPr lang="en-GB" sz="1400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GB" sz="1400" dirty="0">
                <a:solidFill>
                  <a:srgbClr val="008000"/>
                </a:solidFill>
                <a:latin typeface="Consolas" panose="020B0609020204030204" pitchFamily="49" charset="0"/>
              </a:rPr>
              <a:t># Prints list two times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400" dirty="0">
                <a:solidFill>
                  <a:srgbClr val="267F99"/>
                </a:solidFill>
                <a:latin typeface="Consolas" panose="020B0609020204030204" pitchFamily="49" charset="0"/>
              </a:rPr>
              <a:t>list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+ tinylist) </a:t>
            </a:r>
            <a:r>
              <a:rPr lang="en-GB" sz="1400" dirty="0">
                <a:solidFill>
                  <a:srgbClr val="008000"/>
                </a:solidFill>
                <a:latin typeface="Consolas" panose="020B0609020204030204" pitchFamily="49" charset="0"/>
              </a:rPr>
              <a:t># Prints concatenated lists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4788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61976E-959C-4EAB-B959-FBB9C91CB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IF statement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61630B0-F725-4AB1-988E-E380950FEA0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89004" y="3136493"/>
            <a:ext cx="2821797" cy="190744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Form</a:t>
            </a:r>
          </a:p>
          <a:p>
            <a:pPr marL="393700" lvl="1" indent="0">
              <a:buNone/>
            </a:pPr>
            <a:r>
              <a:rPr lang="en-GB" dirty="0"/>
              <a:t>if </a:t>
            </a:r>
            <a:r>
              <a:rPr lang="en-GB" i="1" dirty="0"/>
              <a:t>condition</a:t>
            </a:r>
            <a:r>
              <a:rPr lang="en-GB" dirty="0"/>
              <a:t> :</a:t>
            </a:r>
          </a:p>
          <a:p>
            <a:pPr marL="776287" lvl="2" indent="0">
              <a:buNone/>
            </a:pPr>
            <a:r>
              <a:rPr lang="en-GB" i="1" dirty="0"/>
              <a:t>c</a:t>
            </a:r>
            <a:r>
              <a:rPr lang="en-GB" i="1" noProof="0" dirty="0"/>
              <a:t>ode block</a:t>
            </a:r>
          </a:p>
          <a:p>
            <a:r>
              <a:rPr lang="en-GB" noProof="0" dirty="0"/>
              <a:t>Elif/else are optional</a:t>
            </a:r>
          </a:p>
          <a:p>
            <a:endParaRPr lang="en-GB" noProof="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9FE2BC2-5E10-4CB2-B414-44D8C6742D83}"/>
              </a:ext>
            </a:extLst>
          </p:cNvPr>
          <p:cNvSpPr txBox="1"/>
          <p:nvPr/>
        </p:nvSpPr>
        <p:spPr>
          <a:xfrm>
            <a:off x="2161577" y="2915463"/>
            <a:ext cx="4518169" cy="23495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US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x &lt; </a:t>
            </a:r>
            <a:r>
              <a:rPr lang="en-US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	x = </a:t>
            </a:r>
            <a:r>
              <a:rPr lang="en-US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	print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'Negative changed to zero'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elif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x == </a:t>
            </a:r>
            <a:r>
              <a:rPr lang="en-US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	print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'Zero'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elif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x == </a:t>
            </a:r>
            <a:r>
              <a:rPr lang="en-US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	print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'Single'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	print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'More'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36971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3BD948-59F6-4005-AEA6-19E15C4FC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Loops - For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3FEC708B-B5F5-4B0F-88B6-B8DE63337F3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79614" y="1693334"/>
            <a:ext cx="8232775" cy="925176"/>
          </a:xfrm>
        </p:spPr>
        <p:txBody>
          <a:bodyPr>
            <a:normAutofit lnSpcReduction="10000"/>
          </a:bodyPr>
          <a:lstStyle/>
          <a:p>
            <a:r>
              <a:rPr lang="en-GB" noProof="0" dirty="0"/>
              <a:t>Iterates over the items of any sequence</a:t>
            </a:r>
          </a:p>
          <a:p>
            <a:r>
              <a:rPr lang="en-GB" noProof="0" dirty="0"/>
              <a:t>Iterate over a slice copy of the entire list with </a:t>
            </a:r>
            <a:r>
              <a:rPr lang="en-GB" i="1" noProof="0" dirty="0"/>
              <a:t>list[:]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E263FE1-96BD-444D-AD95-9F1FC4AD2736}"/>
              </a:ext>
            </a:extLst>
          </p:cNvPr>
          <p:cNvSpPr txBox="1"/>
          <p:nvPr/>
        </p:nvSpPr>
        <p:spPr>
          <a:xfrm>
            <a:off x="3075709" y="2736560"/>
            <a:ext cx="6040582" cy="1031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GB" dirty="0">
                <a:solidFill>
                  <a:srgbClr val="267F99"/>
                </a:solidFill>
                <a:latin typeface="Consolas" panose="020B0609020204030204" pitchFamily="49" charset="0"/>
              </a:rPr>
              <a:t>list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'element1'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'element2'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'element3'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GB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element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267F99"/>
                </a:solidFill>
                <a:latin typeface="Consolas" panose="020B0609020204030204" pitchFamily="49" charset="0"/>
              </a:rPr>
              <a:t>list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solidFill>
                  <a:srgbClr val="795E26"/>
                </a:solidFill>
                <a:latin typeface="Consolas" panose="020B0609020204030204" pitchFamily="49" charset="0"/>
              </a:rPr>
              <a:t>	print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(element)</a:t>
            </a:r>
          </a:p>
        </p:txBody>
      </p:sp>
      <p:sp>
        <p:nvSpPr>
          <p:cNvPr id="6" name="Inhaltsplatzhalter 6">
            <a:extLst>
              <a:ext uri="{FF2B5EF4-FFF2-40B4-BE49-F238E27FC236}">
                <a16:creationId xmlns:a16="http://schemas.microsoft.com/office/drawing/2014/main" id="{B7F4773E-04D2-464D-AA37-EAF0D7191AD4}"/>
              </a:ext>
            </a:extLst>
          </p:cNvPr>
          <p:cNvSpPr txBox="1">
            <a:spLocks/>
          </p:cNvSpPr>
          <p:nvPr/>
        </p:nvSpPr>
        <p:spPr>
          <a:xfrm>
            <a:off x="1978026" y="3893700"/>
            <a:ext cx="8232775" cy="560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4800" indent="-304800" algn="l" rtl="0" eaLnBrk="1" fontAlgn="base" hangingPunct="1">
              <a:spcBef>
                <a:spcPct val="50000"/>
              </a:spcBef>
              <a:spcAft>
                <a:spcPct val="0"/>
              </a:spcAft>
              <a:buChar char="•"/>
              <a:tabLst>
                <a:tab pos="1974850" algn="l"/>
                <a:tab pos="2873375" algn="l"/>
              </a:tabLst>
              <a:defRPr sz="2200">
                <a:solidFill>
                  <a:schemeClr val="tx1"/>
                </a:solidFill>
                <a:latin typeface="+mn-lt"/>
                <a:ea typeface="Myriad Pro"/>
                <a:cs typeface="+mn-cs"/>
              </a:defRPr>
            </a:lvl1pPr>
            <a:lvl2pPr marL="698500" indent="-322263" algn="l" rtl="0" eaLnBrk="1" fontAlgn="base" hangingPunct="1">
              <a:spcBef>
                <a:spcPct val="15000"/>
              </a:spcBef>
              <a:spcAft>
                <a:spcPct val="0"/>
              </a:spcAft>
              <a:buChar char="–"/>
              <a:tabLst>
                <a:tab pos="1974850" algn="l"/>
                <a:tab pos="2873375" algn="l"/>
              </a:tabLst>
              <a:defRPr>
                <a:solidFill>
                  <a:schemeClr val="tx1"/>
                </a:solidFill>
                <a:latin typeface="+mn-lt"/>
                <a:ea typeface="Myriad Pro"/>
              </a:defRPr>
            </a:lvl2pPr>
            <a:lvl3pPr marL="1098550" indent="-300038" algn="l" rtl="0" eaLnBrk="1" fontAlgn="base" hangingPunct="1">
              <a:spcBef>
                <a:spcPct val="10000"/>
              </a:spcBef>
              <a:spcAft>
                <a:spcPct val="0"/>
              </a:spcAft>
              <a:buFont typeface="Wingdings" charset="2"/>
              <a:buChar char="§"/>
              <a:tabLst>
                <a:tab pos="1974850" algn="l"/>
                <a:tab pos="2873375" algn="l"/>
              </a:tabLst>
              <a:defRPr sz="1600">
                <a:solidFill>
                  <a:schemeClr val="tx1"/>
                </a:solidFill>
                <a:latin typeface="+mn-lt"/>
                <a:ea typeface="Myriad Pro"/>
              </a:defRPr>
            </a:lvl3pPr>
            <a:lvl4pPr marL="1346200" indent="-176213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·"/>
              <a:tabLst>
                <a:tab pos="1974850" algn="l"/>
                <a:tab pos="2873375" algn="l"/>
              </a:tabLst>
              <a:defRPr sz="1400">
                <a:solidFill>
                  <a:schemeClr val="tx1"/>
                </a:solidFill>
                <a:latin typeface="+mn-lt"/>
                <a:ea typeface="Myriad Pro"/>
              </a:defRPr>
            </a:lvl4pPr>
            <a:lvl5pPr marL="1646238" indent="-174625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tabLst>
                <a:tab pos="1974850" algn="l"/>
                <a:tab pos="2873375" algn="l"/>
              </a:tabLst>
              <a:defRPr sz="1200">
                <a:solidFill>
                  <a:schemeClr val="tx1"/>
                </a:solidFill>
                <a:latin typeface="+mn-lt"/>
                <a:ea typeface="Myriad Pro"/>
              </a:defRPr>
            </a:lvl5pPr>
            <a:lvl6pPr marL="2103438" indent="-174625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tabLst>
                <a:tab pos="1974850" algn="l"/>
                <a:tab pos="2873375" algn="l"/>
              </a:tabLst>
              <a:defRPr sz="1200">
                <a:solidFill>
                  <a:schemeClr val="tx1"/>
                </a:solidFill>
                <a:latin typeface="+mn-lt"/>
              </a:defRPr>
            </a:lvl6pPr>
            <a:lvl7pPr marL="2560638" indent="-174625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tabLst>
                <a:tab pos="1974850" algn="l"/>
                <a:tab pos="2873375" algn="l"/>
              </a:tabLst>
              <a:defRPr sz="1200">
                <a:solidFill>
                  <a:schemeClr val="tx1"/>
                </a:solidFill>
                <a:latin typeface="+mn-lt"/>
              </a:defRPr>
            </a:lvl7pPr>
            <a:lvl8pPr marL="3017838" indent="-174625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tabLst>
                <a:tab pos="1974850" algn="l"/>
                <a:tab pos="2873375" algn="l"/>
              </a:tabLst>
              <a:defRPr sz="1200">
                <a:solidFill>
                  <a:schemeClr val="tx1"/>
                </a:solidFill>
                <a:latin typeface="+mn-lt"/>
              </a:defRPr>
            </a:lvl8pPr>
            <a:lvl9pPr marL="3475038" indent="-174625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tabLst>
                <a:tab pos="1974850" algn="l"/>
                <a:tab pos="2873375" algn="l"/>
              </a:tabLst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Iterate over a sequence of numbers: </a:t>
            </a:r>
            <a:r>
              <a:rPr lang="en-US" i="1" dirty="0"/>
              <a:t>range - </a:t>
            </a:r>
            <a:r>
              <a:rPr lang="en-US" dirty="0"/>
              <a:t>function</a:t>
            </a:r>
            <a:endParaRPr lang="en-GB" kern="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F45538C-797E-4C8E-8698-A56C09DEEB67}"/>
              </a:ext>
            </a:extLst>
          </p:cNvPr>
          <p:cNvSpPr txBox="1"/>
          <p:nvPr/>
        </p:nvSpPr>
        <p:spPr>
          <a:xfrm>
            <a:off x="3405042" y="4944139"/>
            <a:ext cx="2689370" cy="6248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GB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i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795E26"/>
                </a:solidFill>
                <a:latin typeface="Consolas" panose="020B0609020204030204" pitchFamily="49" charset="0"/>
              </a:rPr>
              <a:t>range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GB" dirty="0">
                <a:solidFill>
                  <a:srgbClr val="795E26"/>
                </a:solidFill>
                <a:latin typeface="Consolas" panose="020B0609020204030204" pitchFamily="49" charset="0"/>
              </a:rPr>
              <a:t>	print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(i)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89EF79A-0C11-462A-9669-D7497D248636}"/>
              </a:ext>
            </a:extLst>
          </p:cNvPr>
          <p:cNvSpPr txBox="1"/>
          <p:nvPr/>
        </p:nvSpPr>
        <p:spPr>
          <a:xfrm>
            <a:off x="7232072" y="4558114"/>
            <a:ext cx="484910" cy="15359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de-DE" dirty="0">
                <a:solidFill>
                  <a:srgbClr val="AF00DB"/>
                </a:solidFill>
                <a:latin typeface="Consolas" panose="020B0609020204030204" pitchFamily="49" charset="0"/>
              </a:rPr>
              <a:t>0</a:t>
            </a:r>
          </a:p>
          <a:p>
            <a:pPr algn="ctr"/>
            <a:r>
              <a:rPr lang="de-DE" dirty="0">
                <a:solidFill>
                  <a:srgbClr val="AF00DB"/>
                </a:solidFill>
                <a:latin typeface="Consolas" panose="020B0609020204030204" pitchFamily="49" charset="0"/>
              </a:rPr>
              <a:t>1</a:t>
            </a:r>
          </a:p>
          <a:p>
            <a:pPr algn="ctr"/>
            <a:r>
              <a:rPr lang="de-DE" dirty="0">
                <a:solidFill>
                  <a:srgbClr val="AF00DB"/>
                </a:solidFill>
                <a:latin typeface="Consolas" panose="020B0609020204030204" pitchFamily="49" charset="0"/>
              </a:rPr>
              <a:t>2</a:t>
            </a:r>
          </a:p>
          <a:p>
            <a:pPr algn="ctr"/>
            <a:r>
              <a:rPr lang="de-DE" dirty="0">
                <a:solidFill>
                  <a:srgbClr val="AF00DB"/>
                </a:solidFill>
                <a:latin typeface="Consolas" panose="020B0609020204030204" pitchFamily="49" charset="0"/>
              </a:rPr>
              <a:t>3</a:t>
            </a:r>
          </a:p>
          <a:p>
            <a:pPr algn="ctr"/>
            <a:r>
              <a:rPr lang="de-DE" dirty="0">
                <a:solidFill>
                  <a:srgbClr val="AF00DB"/>
                </a:solidFill>
                <a:latin typeface="Consolas" panose="020B0609020204030204" pitchFamily="49" charset="0"/>
              </a:rPr>
              <a:t>4</a:t>
            </a:r>
            <a:endParaRPr lang="de-DE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Pfeil: nach rechts 4">
            <a:extLst>
              <a:ext uri="{FF2B5EF4-FFF2-40B4-BE49-F238E27FC236}">
                <a16:creationId xmlns:a16="http://schemas.microsoft.com/office/drawing/2014/main" id="{231A0E19-6B57-4CD1-A569-06248916F7F0}"/>
              </a:ext>
            </a:extLst>
          </p:cNvPr>
          <p:cNvSpPr/>
          <p:nvPr/>
        </p:nvSpPr>
        <p:spPr>
          <a:xfrm>
            <a:off x="6261461" y="5062867"/>
            <a:ext cx="803563" cy="3873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262D6AC-1A3C-43C0-8BE0-97409183D4C2}"/>
              </a:ext>
            </a:extLst>
          </p:cNvPr>
          <p:cNvSpPr txBox="1"/>
          <p:nvPr/>
        </p:nvSpPr>
        <p:spPr>
          <a:xfrm>
            <a:off x="5770283" y="486788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*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1664CE2-969A-428B-A552-9FF0D72BEBD4}"/>
              </a:ext>
            </a:extLst>
          </p:cNvPr>
          <p:cNvSpPr txBox="1"/>
          <p:nvPr/>
        </p:nvSpPr>
        <p:spPr>
          <a:xfrm>
            <a:off x="4113164" y="6246256"/>
            <a:ext cx="378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* </a:t>
            </a:r>
            <a:r>
              <a:rPr lang="en-GB" i="1" dirty="0"/>
              <a:t>range() </a:t>
            </a:r>
            <a:r>
              <a:rPr lang="en-GB" dirty="0"/>
              <a:t>returns an iterator, not a list!</a:t>
            </a:r>
          </a:p>
        </p:txBody>
      </p:sp>
    </p:spTree>
    <p:extLst>
      <p:ext uri="{BB962C8B-B14F-4D97-AF65-F5344CB8AC3E}">
        <p14:creationId xmlns:p14="http://schemas.microsoft.com/office/powerpoint/2010/main" val="36732725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3BD948-59F6-4005-AEA6-19E15C4FC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Loops - While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3FEC708B-B5F5-4B0F-88B6-B8DE63337F3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79614" y="1693334"/>
            <a:ext cx="8232775" cy="1911986"/>
          </a:xfrm>
        </p:spPr>
        <p:txBody>
          <a:bodyPr>
            <a:normAutofit/>
          </a:bodyPr>
          <a:lstStyle/>
          <a:p>
            <a:r>
              <a:rPr lang="en-GB" noProof="0" dirty="0"/>
              <a:t>The while statement is used for repeated execution as long as an expression is true</a:t>
            </a:r>
          </a:p>
          <a:p>
            <a:r>
              <a:rPr lang="en-GB" noProof="0" dirty="0"/>
              <a:t>Optional else clause: will be executed the first time the expression is false and the loop terminates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E263FE1-96BD-444D-AD95-9F1FC4AD2736}"/>
              </a:ext>
            </a:extLst>
          </p:cNvPr>
          <p:cNvSpPr txBox="1"/>
          <p:nvPr/>
        </p:nvSpPr>
        <p:spPr>
          <a:xfrm>
            <a:off x="4410009" y="4011613"/>
            <a:ext cx="3371983" cy="1835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i = </a:t>
            </a:r>
            <a:r>
              <a:rPr lang="en-GB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AF00DB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i&lt;</a:t>
            </a:r>
            <a:r>
              <a:rPr lang="en-GB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solidFill>
                  <a:srgbClr val="795E26"/>
                </a:solidFill>
                <a:latin typeface="Consolas" panose="020B0609020204030204" pitchFamily="49" charset="0"/>
              </a:rPr>
              <a:t>	print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(i)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	i += </a:t>
            </a:r>
            <a:r>
              <a:rPr lang="en-GB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</a:p>
          <a:p>
            <a:r>
              <a:rPr lang="en-GB" dirty="0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solidFill>
                  <a:srgbClr val="795E26"/>
                </a:solidFill>
                <a:latin typeface="Consolas" panose="020B0609020204030204" pitchFamily="49" charset="0"/>
              </a:rPr>
              <a:t>	print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"Finished"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GB" dirty="0">
              <a:solidFill>
                <a:srgbClr val="09885A"/>
              </a:solidFill>
              <a:latin typeface="Consolas" panose="020B0609020204030204" pitchFamily="49" charset="0"/>
            </a:endParaRPr>
          </a:p>
          <a:p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Inhaltsplatzhalter 6">
            <a:extLst>
              <a:ext uri="{FF2B5EF4-FFF2-40B4-BE49-F238E27FC236}">
                <a16:creationId xmlns:a16="http://schemas.microsoft.com/office/drawing/2014/main" id="{1898E017-C6A3-43A4-B997-1760A75427D3}"/>
              </a:ext>
            </a:extLst>
          </p:cNvPr>
          <p:cNvSpPr txBox="1">
            <a:spLocks/>
          </p:cNvSpPr>
          <p:nvPr/>
        </p:nvSpPr>
        <p:spPr>
          <a:xfrm>
            <a:off x="1978026" y="6253346"/>
            <a:ext cx="7941830" cy="56038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04800" indent="-304800" algn="l" rtl="0" eaLnBrk="1" fontAlgn="base" hangingPunct="1">
              <a:spcBef>
                <a:spcPct val="50000"/>
              </a:spcBef>
              <a:spcAft>
                <a:spcPct val="0"/>
              </a:spcAft>
              <a:buChar char="•"/>
              <a:tabLst>
                <a:tab pos="1974850" algn="l"/>
                <a:tab pos="2873375" algn="l"/>
              </a:tabLst>
              <a:defRPr sz="2200">
                <a:solidFill>
                  <a:schemeClr val="tx1"/>
                </a:solidFill>
                <a:latin typeface="+mn-lt"/>
                <a:ea typeface="Myriad Pro"/>
                <a:cs typeface="+mn-cs"/>
              </a:defRPr>
            </a:lvl1pPr>
            <a:lvl2pPr marL="698500" indent="-322263" algn="l" rtl="0" eaLnBrk="1" fontAlgn="base" hangingPunct="1">
              <a:spcBef>
                <a:spcPct val="15000"/>
              </a:spcBef>
              <a:spcAft>
                <a:spcPct val="0"/>
              </a:spcAft>
              <a:buChar char="–"/>
              <a:tabLst>
                <a:tab pos="1974850" algn="l"/>
                <a:tab pos="2873375" algn="l"/>
              </a:tabLst>
              <a:defRPr>
                <a:solidFill>
                  <a:schemeClr val="tx1"/>
                </a:solidFill>
                <a:latin typeface="+mn-lt"/>
                <a:ea typeface="Myriad Pro"/>
              </a:defRPr>
            </a:lvl2pPr>
            <a:lvl3pPr marL="1098550" indent="-300038" algn="l" rtl="0" eaLnBrk="1" fontAlgn="base" hangingPunct="1">
              <a:spcBef>
                <a:spcPct val="10000"/>
              </a:spcBef>
              <a:spcAft>
                <a:spcPct val="0"/>
              </a:spcAft>
              <a:buFont typeface="Wingdings" charset="2"/>
              <a:buChar char="§"/>
              <a:tabLst>
                <a:tab pos="1974850" algn="l"/>
                <a:tab pos="2873375" algn="l"/>
              </a:tabLst>
              <a:defRPr sz="1600">
                <a:solidFill>
                  <a:schemeClr val="tx1"/>
                </a:solidFill>
                <a:latin typeface="+mn-lt"/>
                <a:ea typeface="Myriad Pro"/>
              </a:defRPr>
            </a:lvl3pPr>
            <a:lvl4pPr marL="1346200" indent="-176213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·"/>
              <a:tabLst>
                <a:tab pos="1974850" algn="l"/>
                <a:tab pos="2873375" algn="l"/>
              </a:tabLst>
              <a:defRPr sz="1400">
                <a:solidFill>
                  <a:schemeClr val="tx1"/>
                </a:solidFill>
                <a:latin typeface="+mn-lt"/>
                <a:ea typeface="Myriad Pro"/>
              </a:defRPr>
            </a:lvl4pPr>
            <a:lvl5pPr marL="1646238" indent="-174625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tabLst>
                <a:tab pos="1974850" algn="l"/>
                <a:tab pos="2873375" algn="l"/>
              </a:tabLst>
              <a:defRPr sz="1200">
                <a:solidFill>
                  <a:schemeClr val="tx1"/>
                </a:solidFill>
                <a:latin typeface="+mn-lt"/>
                <a:ea typeface="Myriad Pro"/>
              </a:defRPr>
            </a:lvl5pPr>
            <a:lvl6pPr marL="2103438" indent="-174625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tabLst>
                <a:tab pos="1974850" algn="l"/>
                <a:tab pos="2873375" algn="l"/>
              </a:tabLst>
              <a:defRPr sz="1200">
                <a:solidFill>
                  <a:schemeClr val="tx1"/>
                </a:solidFill>
                <a:latin typeface="+mn-lt"/>
              </a:defRPr>
            </a:lvl6pPr>
            <a:lvl7pPr marL="2560638" indent="-174625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tabLst>
                <a:tab pos="1974850" algn="l"/>
                <a:tab pos="2873375" algn="l"/>
              </a:tabLst>
              <a:defRPr sz="1200">
                <a:solidFill>
                  <a:schemeClr val="tx1"/>
                </a:solidFill>
                <a:latin typeface="+mn-lt"/>
              </a:defRPr>
            </a:lvl7pPr>
            <a:lvl8pPr marL="3017838" indent="-174625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tabLst>
                <a:tab pos="1974850" algn="l"/>
                <a:tab pos="2873375" algn="l"/>
              </a:tabLst>
              <a:defRPr sz="1200">
                <a:solidFill>
                  <a:schemeClr val="tx1"/>
                </a:solidFill>
                <a:latin typeface="+mn-lt"/>
              </a:defRPr>
            </a:lvl8pPr>
            <a:lvl9pPr marL="3475038" indent="-174625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tabLst>
                <a:tab pos="1974850" algn="l"/>
                <a:tab pos="2873375" algn="l"/>
              </a:tabLst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The </a:t>
            </a:r>
            <a:r>
              <a:rPr lang="en-US" i="1" kern="0" dirty="0"/>
              <a:t>break</a:t>
            </a:r>
            <a:r>
              <a:rPr lang="en-US" kern="0" dirty="0"/>
              <a:t> statement, like in C, breaks out of the innermost enclosing </a:t>
            </a:r>
            <a:r>
              <a:rPr lang="en-US" i="1" kern="0" dirty="0"/>
              <a:t>for </a:t>
            </a:r>
            <a:r>
              <a:rPr lang="en-US" kern="0" dirty="0"/>
              <a:t>or</a:t>
            </a:r>
            <a:r>
              <a:rPr lang="en-US" i="1" kern="0" dirty="0"/>
              <a:t> while</a:t>
            </a:r>
            <a:r>
              <a:rPr lang="en-US" kern="0" dirty="0"/>
              <a:t> loop.</a:t>
            </a:r>
            <a:endParaRPr lang="en-GB" kern="0" dirty="0"/>
          </a:p>
        </p:txBody>
      </p:sp>
    </p:spTree>
    <p:extLst>
      <p:ext uri="{BB962C8B-B14F-4D97-AF65-F5344CB8AC3E}">
        <p14:creationId xmlns:p14="http://schemas.microsoft.com/office/powerpoint/2010/main" val="10537730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089D4C-5D1A-440D-9D40-1D7EDACC3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Conclusion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5BE0D3-8B72-435E-8741-CCBBF5E6F5D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79614" y="1693334"/>
            <a:ext cx="8232775" cy="5164667"/>
          </a:xfrm>
        </p:spPr>
        <p:txBody>
          <a:bodyPr/>
          <a:lstStyle/>
          <a:p>
            <a:r>
              <a:rPr lang="en-GB" dirty="0"/>
              <a:t>Basic informal introduction to Python</a:t>
            </a:r>
          </a:p>
          <a:p>
            <a:r>
              <a:rPr lang="en-GB" dirty="0"/>
              <a:t>First basic Python exercises 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8C05552-A98D-4384-AD89-6395D0EA03F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5725" y="4076050"/>
            <a:ext cx="2712428" cy="180828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61016E0-9AB6-4576-A9C1-D55A61A48587}"/>
              </a:ext>
            </a:extLst>
          </p:cNvPr>
          <p:cNvGrpSpPr/>
          <p:nvPr/>
        </p:nvGrpSpPr>
        <p:grpSpPr>
          <a:xfrm>
            <a:off x="2803725" y="3943179"/>
            <a:ext cx="3377682" cy="2199791"/>
            <a:chOff x="872835" y="3539884"/>
            <a:chExt cx="4738255" cy="3140230"/>
          </a:xfrm>
        </p:grpSpPr>
        <p:sp>
          <p:nvSpPr>
            <p:cNvPr id="12" name="Rechteck 3">
              <a:extLst>
                <a:ext uri="{FF2B5EF4-FFF2-40B4-BE49-F238E27FC236}">
                  <a16:creationId xmlns:a16="http://schemas.microsoft.com/office/drawing/2014/main" id="{A07F702D-6EF3-4424-872E-352A3BF97D23}"/>
                </a:ext>
              </a:extLst>
            </p:cNvPr>
            <p:cNvSpPr/>
            <p:nvPr/>
          </p:nvSpPr>
          <p:spPr>
            <a:xfrm>
              <a:off x="872836" y="3539884"/>
              <a:ext cx="3463637" cy="60955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de-DE" sz="16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Block 1</a:t>
              </a:r>
            </a:p>
          </p:txBody>
        </p:sp>
        <p:sp>
          <p:nvSpPr>
            <p:cNvPr id="13" name="Rechteck 4">
              <a:extLst>
                <a:ext uri="{FF2B5EF4-FFF2-40B4-BE49-F238E27FC236}">
                  <a16:creationId xmlns:a16="http://schemas.microsoft.com/office/drawing/2014/main" id="{3B2B48ED-A8D5-4C09-90B8-58810E1AC07A}"/>
                </a:ext>
              </a:extLst>
            </p:cNvPr>
            <p:cNvSpPr/>
            <p:nvPr/>
          </p:nvSpPr>
          <p:spPr>
            <a:xfrm>
              <a:off x="872835" y="6070563"/>
              <a:ext cx="3463637" cy="60955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16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Block 1, continuation</a:t>
              </a:r>
            </a:p>
          </p:txBody>
        </p:sp>
        <p:sp>
          <p:nvSpPr>
            <p:cNvPr id="14" name="Rechteck 5">
              <a:extLst>
                <a:ext uri="{FF2B5EF4-FFF2-40B4-BE49-F238E27FC236}">
                  <a16:creationId xmlns:a16="http://schemas.microsoft.com/office/drawing/2014/main" id="{30985C4A-3A5B-4DD1-BEFC-7F5850FC6D17}"/>
                </a:ext>
              </a:extLst>
            </p:cNvPr>
            <p:cNvSpPr/>
            <p:nvPr/>
          </p:nvSpPr>
          <p:spPr>
            <a:xfrm>
              <a:off x="1537854" y="4170701"/>
              <a:ext cx="3463637" cy="609551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de-DE" sz="16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Block 2</a:t>
              </a:r>
            </a:p>
          </p:txBody>
        </p:sp>
        <p:sp>
          <p:nvSpPr>
            <p:cNvPr id="15" name="Rechteck 6">
              <a:extLst>
                <a:ext uri="{FF2B5EF4-FFF2-40B4-BE49-F238E27FC236}">
                  <a16:creationId xmlns:a16="http://schemas.microsoft.com/office/drawing/2014/main" id="{B20AF7D3-E2C4-4D78-BAFF-86523578202D}"/>
                </a:ext>
              </a:extLst>
            </p:cNvPr>
            <p:cNvSpPr/>
            <p:nvPr/>
          </p:nvSpPr>
          <p:spPr>
            <a:xfrm>
              <a:off x="1537854" y="5432335"/>
              <a:ext cx="3463637" cy="609551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16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Block 2, continuation</a:t>
              </a:r>
            </a:p>
          </p:txBody>
        </p:sp>
        <p:sp>
          <p:nvSpPr>
            <p:cNvPr id="16" name="Rechteck 7">
              <a:extLst>
                <a:ext uri="{FF2B5EF4-FFF2-40B4-BE49-F238E27FC236}">
                  <a16:creationId xmlns:a16="http://schemas.microsoft.com/office/drawing/2014/main" id="{B2716B81-A55B-47D4-9D39-895CF16B768A}"/>
                </a:ext>
              </a:extLst>
            </p:cNvPr>
            <p:cNvSpPr/>
            <p:nvPr/>
          </p:nvSpPr>
          <p:spPr>
            <a:xfrm>
              <a:off x="2147453" y="4801518"/>
              <a:ext cx="3463637" cy="60955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de-DE" sz="16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Block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2618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3235</Words>
  <Application>Microsoft Office PowerPoint</Application>
  <PresentationFormat>Widescreen</PresentationFormat>
  <Paragraphs>439</Paragraphs>
  <Slides>47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5" baseType="lpstr">
      <vt:lpstr>Arial</vt:lpstr>
      <vt:lpstr>Calibri</vt:lpstr>
      <vt:lpstr>Calibri Light</vt:lpstr>
      <vt:lpstr>Consolas</vt:lpstr>
      <vt:lpstr>Consolas</vt:lpstr>
      <vt:lpstr>Courier New</vt:lpstr>
      <vt:lpstr>Myriad Pro</vt:lpstr>
      <vt:lpstr>Office Theme</vt:lpstr>
      <vt:lpstr>What is Python?</vt:lpstr>
      <vt:lpstr>Why Python?</vt:lpstr>
      <vt:lpstr>Installation</vt:lpstr>
      <vt:lpstr>Installation IDE</vt:lpstr>
      <vt:lpstr>Setup VS Code</vt:lpstr>
      <vt:lpstr>VS Code (Python script)</vt:lpstr>
      <vt:lpstr>How to run Python code?</vt:lpstr>
      <vt:lpstr>Python Identifiers</vt:lpstr>
      <vt:lpstr>Python keywords</vt:lpstr>
      <vt:lpstr>Naming conventions</vt:lpstr>
      <vt:lpstr>Indentation</vt:lpstr>
      <vt:lpstr>Multi-Line Statements</vt:lpstr>
      <vt:lpstr>Quotation </vt:lpstr>
      <vt:lpstr>Comments</vt:lpstr>
      <vt:lpstr>Basic operations</vt:lpstr>
      <vt:lpstr>Assigning values to variables</vt:lpstr>
      <vt:lpstr>Standard data types</vt:lpstr>
      <vt:lpstr>Lists</vt:lpstr>
      <vt:lpstr>IF statement</vt:lpstr>
      <vt:lpstr>Loops - For</vt:lpstr>
      <vt:lpstr>Loops - While</vt:lpstr>
      <vt:lpstr>Conclusion</vt:lpstr>
      <vt:lpstr>Exercise 1</vt:lpstr>
      <vt:lpstr>Exercise 2</vt:lpstr>
      <vt:lpstr>Exercise 3</vt:lpstr>
      <vt:lpstr>What is Python?</vt:lpstr>
      <vt:lpstr>Why Python?</vt:lpstr>
      <vt:lpstr>Installation</vt:lpstr>
      <vt:lpstr>Installation IDE</vt:lpstr>
      <vt:lpstr>Setup VS Code</vt:lpstr>
      <vt:lpstr>VS Code (Python script)</vt:lpstr>
      <vt:lpstr>How to run Python code?</vt:lpstr>
      <vt:lpstr>Python Identifiers</vt:lpstr>
      <vt:lpstr>Python keywords</vt:lpstr>
      <vt:lpstr>Naming conventions</vt:lpstr>
      <vt:lpstr>Indentation</vt:lpstr>
      <vt:lpstr>Multi-Line Statements</vt:lpstr>
      <vt:lpstr>Quotation </vt:lpstr>
      <vt:lpstr>Comments</vt:lpstr>
      <vt:lpstr>Basic operations</vt:lpstr>
      <vt:lpstr>Assigning values to variables</vt:lpstr>
      <vt:lpstr>Standard data types</vt:lpstr>
      <vt:lpstr>Lists</vt:lpstr>
      <vt:lpstr>IF statement</vt:lpstr>
      <vt:lpstr>Loops - For</vt:lpstr>
      <vt:lpstr>Loops - While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dc:creator>Muhammad Adeel Nisar</dc:creator>
  <cp:lastModifiedBy>Administrator</cp:lastModifiedBy>
  <cp:revision>143</cp:revision>
  <dcterms:created xsi:type="dcterms:W3CDTF">2022-10-16T09:42:15Z</dcterms:created>
  <dcterms:modified xsi:type="dcterms:W3CDTF">2026-02-24T08:55:20Z</dcterms:modified>
</cp:coreProperties>
</file>